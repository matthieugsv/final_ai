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us Jakarta Sans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A45E7D-F794-4BE0-ACD7-71A461E64888}">
  <a:tblStyle styleId="{F1A45E7D-F794-4BE0-ACD7-71A461E648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78239" y="2476946"/>
            <a:ext cx="9235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InceptionNet   </a:t>
            </a:r>
            <a:r>
              <a:rPr lang="en-US" sz="3300" b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and  </a:t>
            </a:r>
            <a:r>
              <a:rPr lang="en-US" sz="33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ResNe</a:t>
            </a:r>
            <a:r>
              <a:rPr lang="en-US" sz="3300" b="1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99075" y="3873155"/>
            <a:ext cx="492779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/>
              <a:t>Goal</a:t>
            </a:r>
            <a:r>
              <a:rPr lang="fr-FR" sz="1600" dirty="0"/>
              <a:t>: </a:t>
            </a:r>
            <a:r>
              <a:rPr lang="fr-FR" sz="1600" dirty="0" err="1"/>
              <a:t>improve</a:t>
            </a:r>
            <a:r>
              <a:rPr lang="fr-FR" sz="1600" dirty="0"/>
              <a:t> image recognition </a:t>
            </a:r>
            <a:r>
              <a:rPr lang="fr-FR" sz="1600" dirty="0" err="1"/>
              <a:t>when</a:t>
            </a:r>
            <a:r>
              <a:rPr lang="fr-FR" sz="1600" dirty="0"/>
              <a:t> </a:t>
            </a:r>
            <a:r>
              <a:rPr lang="fr-FR" sz="1600" dirty="0" err="1"/>
              <a:t>deep</a:t>
            </a:r>
            <a:r>
              <a:rPr lang="fr-FR" sz="1600" dirty="0"/>
              <a:t> </a:t>
            </a:r>
            <a:r>
              <a:rPr lang="fr-FR" sz="1600" dirty="0" err="1"/>
              <a:t>CNNs</a:t>
            </a:r>
            <a:r>
              <a:rPr lang="fr-FR" sz="1600" dirty="0"/>
              <a:t> </a:t>
            </a:r>
            <a:r>
              <a:rPr lang="fr-FR" sz="1600" dirty="0" err="1"/>
              <a:t>become</a:t>
            </a:r>
            <a:r>
              <a:rPr lang="fr-FR" sz="1600" dirty="0"/>
              <a:t> </a:t>
            </a:r>
            <a:r>
              <a:rPr lang="fr-FR" sz="1600" dirty="0" err="1"/>
              <a:t>difficult</a:t>
            </a:r>
            <a:r>
              <a:rPr lang="fr-FR" sz="1600" dirty="0"/>
              <a:t> to train</a:t>
            </a:r>
          </a:p>
          <a:p>
            <a:pPr marL="285750" marR="0" lvl="0" indent="-285750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sz="1600" b="1" dirty="0" err="1"/>
              <a:t>InceptionNet</a:t>
            </a:r>
            <a:r>
              <a:rPr lang="fr-FR" sz="1600" dirty="0"/>
              <a:t>: </a:t>
            </a:r>
            <a:r>
              <a:rPr lang="fr-FR" sz="1600" dirty="0" err="1"/>
              <a:t>better</a:t>
            </a:r>
            <a:r>
              <a:rPr lang="fr-FR" sz="1600" dirty="0"/>
              <a:t> use of </a:t>
            </a:r>
            <a:r>
              <a:rPr lang="fr-FR" sz="1600" dirty="0" err="1"/>
              <a:t>filters</a:t>
            </a:r>
            <a:endParaRPr lang="fr-FR" sz="1600" dirty="0"/>
          </a:p>
          <a:p>
            <a:pPr marL="285750" marR="0" lvl="0" indent="-285750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sz="1600" b="1" dirty="0" err="1"/>
              <a:t>ResNet</a:t>
            </a:r>
            <a:r>
              <a:rPr lang="fr-FR" sz="1600" dirty="0"/>
              <a:t>: </a:t>
            </a:r>
            <a:r>
              <a:rPr lang="fr-FR" sz="1600" dirty="0" err="1"/>
              <a:t>easier</a:t>
            </a:r>
            <a:r>
              <a:rPr lang="fr-FR" sz="1600" dirty="0"/>
              <a:t> training of </a:t>
            </a:r>
            <a:r>
              <a:rPr lang="fr-FR" sz="1600" dirty="0" err="1"/>
              <a:t>deep</a:t>
            </a:r>
            <a:r>
              <a:rPr lang="fr-FR" sz="1600" dirty="0"/>
              <a:t> networks</a:t>
            </a:r>
            <a:endParaRPr sz="1600"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47593" y="894010"/>
            <a:ext cx="696664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4000" y="0"/>
            <a:ext cx="12446000" cy="6815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10925175" y="445889"/>
            <a:ext cx="19050" cy="251221"/>
          </a:xfrm>
          <a:prstGeom prst="rect">
            <a:avLst/>
          </a:prstGeom>
          <a:solidFill>
            <a:srgbClr val="E2A1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2294688"/>
            <a:ext cx="564728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1E293B"/>
                </a:solidFill>
                <a:latin typeface="+mn-lt"/>
                <a:ea typeface="Inter SemiBold"/>
                <a:cs typeface="Inter SemiBold"/>
                <a:sym typeface="Inter SemiBold"/>
              </a:rPr>
              <a:t>Limitations of traditional sequential architectures:</a:t>
            </a:r>
            <a:endParaRPr sz="2000" dirty="0">
              <a:latin typeface="+mn-lt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87533" y="3049586"/>
            <a:ext cx="6312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More layers </a:t>
            </a:r>
            <a:r>
              <a:rPr lang="en-US" i="0" u="none" strike="noStrike" cap="none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=</a:t>
            </a:r>
            <a:r>
              <a:rPr lang="en-US" b="1" i="0" u="none" strike="noStrike" cap="none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 </a:t>
            </a:r>
            <a:r>
              <a:rPr lang="en-US" i="0" u="none" strike="noStrike" cap="none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More learning capacity</a:t>
            </a:r>
            <a:endParaRPr sz="1800" dirty="0">
              <a:latin typeface="+mn-l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87533" y="3512333"/>
            <a:ext cx="6312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BUT: </a:t>
            </a:r>
          </a:p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4155"/>
                </a:solidFill>
                <a:latin typeface="+mn-lt"/>
                <a:ea typeface="Inter"/>
                <a:sym typeface="Inter"/>
              </a:rPr>
              <a:t>High computational cost</a:t>
            </a:r>
            <a:r>
              <a:rPr lang="en-US" dirty="0">
                <a:solidFill>
                  <a:srgbClr val="334155"/>
                </a:solidFill>
                <a:latin typeface="+mn-lt"/>
                <a:ea typeface="Inter"/>
                <a:sym typeface="Inter"/>
              </a:rPr>
              <a:t>: Many channels </a:t>
            </a:r>
            <a:r>
              <a:rPr lang="en-US" dirty="0">
                <a:solidFill>
                  <a:srgbClr val="334155"/>
                </a:solidFill>
                <a:latin typeface="+mn-lt"/>
                <a:ea typeface="Inter"/>
                <a:sym typeface="Wingdings" panose="05000000000000000000" pitchFamily="2" charset="2"/>
              </a:rPr>
              <a:t> many computation</a:t>
            </a:r>
            <a:endParaRPr dirty="0">
              <a:latin typeface="+mn-l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87533" y="4298246"/>
            <a:ext cx="63123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Vanishing Gradient: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 The error signal becomes too weak when it is propagated to the first layers (during backpropagation). Last layers are well corrected but not the early ones</a:t>
            </a:r>
          </a:p>
        </p:txBody>
      </p:sp>
      <p:sp>
        <p:nvSpPr>
          <p:cNvPr id="104" name="Google Shape;104;p14"/>
          <p:cNvSpPr txBox="1"/>
          <p:nvPr/>
        </p:nvSpPr>
        <p:spPr>
          <a:xfrm>
            <a:off x="421234" y="3073730"/>
            <a:ext cx="77671" cy="25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B31217"/>
                </a:solidFill>
                <a:latin typeface="+mn-lt"/>
                <a:ea typeface="Inter"/>
                <a:cs typeface="Inter"/>
                <a:sym typeface="Inter"/>
              </a:rPr>
              <a:t>■</a:t>
            </a:r>
            <a:endParaRPr sz="1800">
              <a:latin typeface="+mn-l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421234" y="3887033"/>
            <a:ext cx="77671" cy="25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B31217"/>
                </a:solidFill>
                <a:latin typeface="+mn-lt"/>
                <a:ea typeface="Inter"/>
                <a:cs typeface="Inter"/>
                <a:sym typeface="Inter"/>
              </a:rPr>
              <a:t>■</a:t>
            </a:r>
            <a:endParaRPr sz="1800" dirty="0">
              <a:latin typeface="+mn-l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21234" y="4322390"/>
            <a:ext cx="77671" cy="25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B31217"/>
                </a:solidFill>
                <a:latin typeface="+mn-lt"/>
                <a:ea typeface="Inter"/>
                <a:cs typeface="Inter"/>
                <a:sym typeface="Inter"/>
              </a:rPr>
              <a:t>■</a:t>
            </a:r>
            <a:endParaRPr sz="1800" dirty="0">
              <a:latin typeface="+mn-l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71525" y="581025"/>
            <a:ext cx="111813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+mn-lt"/>
                <a:ea typeface="Plus Jakarta Sans ExtraBold"/>
                <a:cs typeface="Plus Jakarta Sans ExtraBold"/>
                <a:sym typeface="Plus Jakarta Sans ExtraBold"/>
              </a:rPr>
              <a:t>The Challenge of Deep CNNs</a:t>
            </a:r>
            <a:endParaRPr>
              <a:latin typeface="+mn-lt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771525" y="10763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06967" y="342900"/>
            <a:ext cx="30390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Vanishing gradients in CNN. | Download Scientific Diagram">
            <a:extLst>
              <a:ext uri="{FF2B5EF4-FFF2-40B4-BE49-F238E27FC236}">
                <a16:creationId xmlns:a16="http://schemas.microsoft.com/office/drawing/2014/main" id="{912563D0-18D1-1DBA-A4EA-330970D2B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084" y="4158664"/>
            <a:ext cx="2955664" cy="210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DA4606-679B-9F7B-177D-F0297BAFB1EA}"/>
              </a:ext>
            </a:extLst>
          </p:cNvPr>
          <p:cNvCxnSpPr/>
          <p:nvPr/>
        </p:nvCxnSpPr>
        <p:spPr>
          <a:xfrm flipV="1">
            <a:off x="6096000" y="3073730"/>
            <a:ext cx="1363133" cy="914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Google Shape;102;p14">
            <a:extLst>
              <a:ext uri="{FF2B5EF4-FFF2-40B4-BE49-F238E27FC236}">
                <a16:creationId xmlns:a16="http://schemas.microsoft.com/office/drawing/2014/main" id="{45019FCE-6CB9-7859-646E-418ED59F3083}"/>
              </a:ext>
            </a:extLst>
          </p:cNvPr>
          <p:cNvSpPr txBox="1"/>
          <p:nvPr/>
        </p:nvSpPr>
        <p:spPr>
          <a:xfrm>
            <a:off x="7268670" y="2427399"/>
            <a:ext cx="63123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9955"/>
              </a:lnSpc>
            </a:pPr>
            <a:r>
              <a:rPr lang="en-US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For 32 filters of a 5x5 convolution, and 256 channels input:</a:t>
            </a:r>
          </a:p>
          <a:p>
            <a:pPr lvl="0">
              <a:lnSpc>
                <a:spcPct val="149955"/>
              </a:lnSpc>
            </a:pPr>
            <a:r>
              <a:rPr lang="en-US" dirty="0">
                <a:solidFill>
                  <a:srgbClr val="334155"/>
                </a:solidFill>
                <a:latin typeface="+mn-lt"/>
                <a:ea typeface="Inter"/>
                <a:cs typeface="Inter"/>
                <a:sym typeface="Inter"/>
              </a:rPr>
              <a:t>5 × 5 × 256 × 32 = 204 800 parameters</a:t>
            </a:r>
            <a:endParaRPr lang="en-US" i="0" u="none" strike="noStrike" cap="none" dirty="0">
              <a:solidFill>
                <a:srgbClr val="334155"/>
              </a:solidFill>
              <a:latin typeface="+mn-lt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10925175" y="445889"/>
            <a:ext cx="19050" cy="251221"/>
          </a:xfrm>
          <a:prstGeom prst="rect">
            <a:avLst/>
          </a:prstGeom>
          <a:solidFill>
            <a:srgbClr val="E2A1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5200" y="4622865"/>
            <a:ext cx="3608916" cy="25084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69498D-559D-0BC2-3317-148D34391553}"/>
              </a:ext>
            </a:extLst>
          </p:cNvPr>
          <p:cNvGrpSpPr/>
          <p:nvPr/>
        </p:nvGrpSpPr>
        <p:grpSpPr>
          <a:xfrm>
            <a:off x="152401" y="1851371"/>
            <a:ext cx="6393239" cy="2933077"/>
            <a:chOff x="771525" y="2494326"/>
            <a:chExt cx="5761583" cy="2292119"/>
          </a:xfrm>
        </p:grpSpPr>
        <p:sp>
          <p:nvSpPr>
            <p:cNvPr id="118" name="Google Shape;118;p15"/>
            <p:cNvSpPr txBox="1"/>
            <p:nvPr/>
          </p:nvSpPr>
          <p:spPr>
            <a:xfrm>
              <a:off x="885825" y="2494326"/>
              <a:ext cx="5647283" cy="541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1E293B"/>
                  </a:solidFill>
                  <a:latin typeface="+mn-lt"/>
                  <a:ea typeface="Inter SemiBold"/>
                  <a:cs typeface="Inter SemiBold"/>
                  <a:sym typeface="Inter SemiBold"/>
                </a:rPr>
                <a:t>The Inception Module design:</a:t>
              </a: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rgbClr val="1E293B"/>
                  </a:solidFill>
                  <a:latin typeface="+mn-lt"/>
                  <a:ea typeface="Inter SemiBold"/>
                  <a:sym typeface="Wingdings" panose="05000000000000000000" pitchFamily="2" charset="2"/>
                </a:rPr>
                <a:t> </a:t>
              </a:r>
              <a:r>
                <a:rPr lang="en-US" dirty="0">
                  <a:solidFill>
                    <a:srgbClr val="1E293B"/>
                  </a:solidFill>
                  <a:latin typeface="+mn-lt"/>
                  <a:ea typeface="Inter SemiBold"/>
                  <a:sym typeface="Inter SemiBold"/>
                </a:rPr>
                <a:t>First does a 1x1 convolution to reduce the number of parameters</a:t>
              </a:r>
              <a:endParaRPr sz="1600" dirty="0">
                <a:latin typeface="+mn-lt"/>
              </a:endParaRPr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000125" y="3119437"/>
              <a:ext cx="5418683" cy="505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Parallel Computations:</a:t>
              </a:r>
              <a:r>
                <a:rPr lang="en-US" b="0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Applies multiple kernel sizes simultaneously instead of picking just one.</a:t>
              </a:r>
              <a:endParaRPr sz="1800" dirty="0">
                <a:latin typeface="+mn-lt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1000125" y="3662362"/>
              <a:ext cx="5418683" cy="505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1x1, 3x3, &amp; 5x5 Kernels:</a:t>
              </a:r>
              <a:r>
                <a:rPr lang="en-US" b="0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Capture both local details and global structural elements in parallel.</a:t>
              </a:r>
              <a:endParaRPr sz="1800" dirty="0">
                <a:latin typeface="+mn-lt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1000125" y="4205287"/>
              <a:ext cx="5418683" cy="252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Max Pooling:</a:t>
              </a:r>
              <a:r>
                <a:rPr lang="en-US" b="0" i="0" u="none" strike="noStrike" cap="none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Extracts invariant spatial features to make translations robust.</a:t>
              </a:r>
              <a:endParaRPr sz="1800">
                <a:latin typeface="+mn-lt"/>
              </a:endParaRPr>
            </a:p>
          </p:txBody>
        </p:sp>
        <p:sp>
          <p:nvSpPr>
            <p:cNvPr id="123" name="Google Shape;123;p15"/>
            <p:cNvSpPr txBox="1"/>
            <p:nvPr/>
          </p:nvSpPr>
          <p:spPr>
            <a:xfrm>
              <a:off x="1000125" y="4533900"/>
              <a:ext cx="5418683" cy="252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Concatenation:</a:t>
              </a:r>
              <a:r>
                <a:rPr lang="en-US" b="0" i="0" u="none" strike="noStrike" cap="none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Gathers different scale outputs along the channel axis.</a:t>
              </a:r>
              <a:endParaRPr sz="1800">
                <a:latin typeface="+mn-lt"/>
              </a:endParaRPr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771525" y="3138487"/>
              <a:ext cx="66675" cy="180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E2A10F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771525" y="3681412"/>
              <a:ext cx="66675" cy="180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E2A10F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771525" y="4224337"/>
              <a:ext cx="66675" cy="180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E2A10F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771525" y="4552950"/>
              <a:ext cx="66675" cy="180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E2A10F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</p:grpSp>
      <p:sp>
        <p:nvSpPr>
          <p:cNvPr id="128" name="Google Shape;128;p15"/>
          <p:cNvSpPr txBox="1"/>
          <p:nvPr/>
        </p:nvSpPr>
        <p:spPr>
          <a:xfrm>
            <a:off x="771525" y="581025"/>
            <a:ext cx="111813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293B"/>
                </a:solidFill>
                <a:latin typeface="+mn-lt"/>
                <a:ea typeface="Plus Jakarta Sans ExtraBold"/>
                <a:cs typeface="Plus Jakarta Sans ExtraBold"/>
                <a:sym typeface="Plus Jakarta Sans ExtraBold"/>
              </a:rPr>
              <a:t>InceptionNet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+mn-lt"/>
                <a:ea typeface="Plus Jakarta Sans ExtraBold"/>
                <a:cs typeface="Plus Jakarta Sans ExtraBold"/>
                <a:sym typeface="Plus Jakarta Sans ExtraBold"/>
              </a:rPr>
              <a:t>: Multi-Scale image processing</a:t>
            </a:r>
            <a:endParaRPr dirty="0">
              <a:latin typeface="+mn-lt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71525" y="10763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06967" y="342900"/>
            <a:ext cx="303907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DF306D1-9DEF-F632-A741-7B0F047F3DB3}"/>
              </a:ext>
            </a:extLst>
          </p:cNvPr>
          <p:cNvCxnSpPr/>
          <p:nvPr/>
        </p:nvCxnSpPr>
        <p:spPr>
          <a:xfrm flipV="1">
            <a:off x="5562600" y="1851371"/>
            <a:ext cx="1066800" cy="344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2462435-D82E-72B9-8546-26CCABA7E9EC}"/>
              </a:ext>
            </a:extLst>
          </p:cNvPr>
          <p:cNvSpPr txBox="1"/>
          <p:nvPr/>
        </p:nvSpPr>
        <p:spPr>
          <a:xfrm>
            <a:off x="6629400" y="1402207"/>
            <a:ext cx="61637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Without</a:t>
            </a:r>
            <a:r>
              <a:rPr lang="fr-FR" dirty="0"/>
              <a:t> 1x1 </a:t>
            </a:r>
            <a:r>
              <a:rPr lang="fr-FR" dirty="0" err="1"/>
              <a:t>reduction</a:t>
            </a:r>
            <a:r>
              <a:rPr lang="fr-FR" dirty="0"/>
              <a:t>: 5 × 5 × 256 × 32 = 204 800 paramètres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With 1x1 </a:t>
            </a:r>
            <a:r>
              <a:rPr lang="fr-FR" dirty="0" err="1"/>
              <a:t>reduction</a:t>
            </a:r>
            <a:r>
              <a:rPr lang="fr-FR" dirty="0"/>
              <a:t>: </a:t>
            </a:r>
          </a:p>
          <a:p>
            <a:pPr lvl="8"/>
            <a:r>
              <a:rPr lang="fr-FR" dirty="0"/>
              <a:t>1×1 : 1 × 1 × 256 × 32 = 8 192 paramètres  and </a:t>
            </a:r>
            <a:r>
              <a:rPr lang="fr-FR" dirty="0" err="1"/>
              <a:t>then</a:t>
            </a:r>
            <a:endParaRPr lang="fr-FR" dirty="0"/>
          </a:p>
          <a:p>
            <a:pPr lvl="8"/>
            <a:r>
              <a:rPr lang="fr-FR" dirty="0"/>
              <a:t>5×5 : 5 × 5 × 32 × 32 = 25 600 paramètres</a:t>
            </a:r>
          </a:p>
          <a:p>
            <a:pPr lvl="8"/>
            <a:r>
              <a:rPr lang="fr-FR" dirty="0"/>
              <a:t>So a total of 33 792 </a:t>
            </a:r>
            <a:r>
              <a:rPr lang="fr-FR" dirty="0" err="1"/>
              <a:t>parameters</a:t>
            </a:r>
            <a:r>
              <a:rPr lang="fr-FR" dirty="0"/>
              <a:t> (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lower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)</a:t>
            </a:r>
          </a:p>
        </p:txBody>
      </p:sp>
      <p:pic>
        <p:nvPicPr>
          <p:cNvPr id="2050" name="Picture 2" descr="Convolution Operation on a 5x5 Matrix with a 3x3 Kernel Zero Padding:... |  Download Scientific Diagram">
            <a:extLst>
              <a:ext uri="{FF2B5EF4-FFF2-40B4-BE49-F238E27FC236}">
                <a16:creationId xmlns:a16="http://schemas.microsoft.com/office/drawing/2014/main" id="{BF494E30-DD7C-063F-513F-A015D82F8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438" y="2974450"/>
            <a:ext cx="2701419" cy="2069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Max Pooling and Why Do We Need Max Pooling? | by İlyurek Kılıç |  Medium">
            <a:extLst>
              <a:ext uri="{FF2B5EF4-FFF2-40B4-BE49-F238E27FC236}">
                <a16:creationId xmlns:a16="http://schemas.microsoft.com/office/drawing/2014/main" id="{ADCD8213-8D1B-6F62-435D-2B86E97ED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796" y="5455793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97133" y="4980250"/>
            <a:ext cx="3734065" cy="64633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10925175" y="445889"/>
            <a:ext cx="19050" cy="251221"/>
          </a:xfrm>
          <a:prstGeom prst="rect">
            <a:avLst/>
          </a:prstGeom>
          <a:solidFill>
            <a:srgbClr val="E2A1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5803" y="5253442"/>
            <a:ext cx="3382995" cy="2207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34C0AF6-03E0-9311-EAC6-5568BE9F19AF}"/>
              </a:ext>
            </a:extLst>
          </p:cNvPr>
          <p:cNvGrpSpPr/>
          <p:nvPr/>
        </p:nvGrpSpPr>
        <p:grpSpPr>
          <a:xfrm>
            <a:off x="6273799" y="2507349"/>
            <a:ext cx="5193839" cy="2251892"/>
            <a:chOff x="6799808" y="2820888"/>
            <a:chExt cx="4663011" cy="1906756"/>
          </a:xfrm>
        </p:grpSpPr>
        <p:sp>
          <p:nvSpPr>
            <p:cNvPr id="140" name="Google Shape;140;p16"/>
            <p:cNvSpPr txBox="1"/>
            <p:nvPr/>
          </p:nvSpPr>
          <p:spPr>
            <a:xfrm>
              <a:off x="6842153" y="2978470"/>
              <a:ext cx="462066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1E293B"/>
                  </a:solidFill>
                  <a:latin typeface="+mn-lt"/>
                  <a:ea typeface="Inter SemiBold"/>
                  <a:cs typeface="Inter SemiBold"/>
                  <a:sym typeface="Inter SemiBold"/>
                </a:rPr>
                <a:t>How do we manage computational cost?</a:t>
              </a:r>
              <a:endParaRPr sz="1800" dirty="0">
                <a:latin typeface="+mn-lt"/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7028408" y="2820888"/>
              <a:ext cx="4392066" cy="3518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+mn-lt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7028408" y="3363813"/>
              <a:ext cx="4392066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Dimensionality Reduction:</a:t>
              </a:r>
              <a:r>
                <a:rPr lang="en-US" b="0" i="0" u="none" strike="noStrike" cap="none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1x1 convolutions shrink the channel count before applying heavier spatial filters.</a:t>
              </a:r>
              <a:endParaRPr sz="1800">
                <a:latin typeface="+mn-lt"/>
              </a:endParaRPr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7028408" y="3906738"/>
              <a:ext cx="4392066" cy="820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Concatenation:</a:t>
              </a:r>
              <a:r>
                <a:rPr lang="en-US" b="0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Concatenate the result after doing the multiple convolution operations to get multi-scale information efficiently</a:t>
              </a:r>
              <a:endParaRPr sz="1800" dirty="0">
                <a:latin typeface="+mn-lt"/>
              </a:endParaRPr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6799808" y="2839938"/>
              <a:ext cx="66675" cy="3518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latin typeface="+mn-lt"/>
              </a:endParaRPr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6799808" y="3382863"/>
              <a:ext cx="666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B31217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6799808" y="3925788"/>
              <a:ext cx="666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B31217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</p:grpSp>
      <p:sp>
        <p:nvSpPr>
          <p:cNvPr id="148" name="Google Shape;148;p16"/>
          <p:cNvSpPr txBox="1"/>
          <p:nvPr/>
        </p:nvSpPr>
        <p:spPr>
          <a:xfrm>
            <a:off x="771525" y="581025"/>
            <a:ext cx="111813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+mn-lt"/>
                <a:ea typeface="Plus Jakarta Sans ExtraBold"/>
                <a:cs typeface="Plus Jakarta Sans ExtraBold"/>
                <a:sym typeface="Plus Jakarta Sans ExtraBold"/>
              </a:rPr>
              <a:t>Cost Control with 1x1 Convolutions</a:t>
            </a:r>
            <a:endParaRPr>
              <a:latin typeface="+mn-lt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71525" y="10763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06967" y="342900"/>
            <a:ext cx="30390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017 CNN Inception Network - Master Data Science">
            <a:extLst>
              <a:ext uri="{FF2B5EF4-FFF2-40B4-BE49-F238E27FC236}">
                <a16:creationId xmlns:a16="http://schemas.microsoft.com/office/drawing/2014/main" id="{4D24445A-3A2D-6C74-8FDA-F359C7EEA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068636"/>
            <a:ext cx="4858808" cy="283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10925175" y="445889"/>
            <a:ext cx="19050" cy="251221"/>
          </a:xfrm>
          <a:prstGeom prst="rect">
            <a:avLst/>
          </a:prstGeom>
          <a:solidFill>
            <a:srgbClr val="E2A1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4F8F70-B0BA-479B-6750-B7F226D249C2}"/>
              </a:ext>
            </a:extLst>
          </p:cNvPr>
          <p:cNvGrpSpPr/>
          <p:nvPr/>
        </p:nvGrpSpPr>
        <p:grpSpPr>
          <a:xfrm>
            <a:off x="771525" y="2616728"/>
            <a:ext cx="6289675" cy="2676465"/>
            <a:chOff x="771525" y="2486025"/>
            <a:chExt cx="5647283" cy="2285032"/>
          </a:xfrm>
        </p:grpSpPr>
        <p:sp>
          <p:nvSpPr>
            <p:cNvPr id="159" name="Google Shape;159;p17"/>
            <p:cNvSpPr txBox="1"/>
            <p:nvPr/>
          </p:nvSpPr>
          <p:spPr>
            <a:xfrm>
              <a:off x="771525" y="2486025"/>
              <a:ext cx="564728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 dirty="0">
                  <a:solidFill>
                    <a:srgbClr val="1E293B"/>
                  </a:solidFill>
                  <a:latin typeface="+mn-lt"/>
                  <a:ea typeface="Inter SemiBold"/>
                  <a:cs typeface="Inter SemiBold"/>
                  <a:sym typeface="Inter SemiBold"/>
                </a:rPr>
                <a:t>Skip Connection Mechanisms:</a:t>
              </a:r>
              <a:endParaRPr sz="1800" dirty="0">
                <a:latin typeface="+mn-lt"/>
              </a:endParaRPr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1000125" y="2857500"/>
              <a:ext cx="5418683" cy="551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Classic Architecture:</a:t>
              </a:r>
              <a:r>
                <a:rPr lang="en-US" b="0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Standard networks attempt to learn the target mapping F(x) directly.</a:t>
              </a:r>
              <a:endParaRPr sz="1800" dirty="0">
                <a:latin typeface="+mn-lt"/>
              </a:endParaRPr>
            </a:p>
          </p:txBody>
        </p:sp>
        <p:sp>
          <p:nvSpPr>
            <p:cNvPr id="162" name="Google Shape;162;p17"/>
            <p:cNvSpPr txBox="1"/>
            <p:nvPr/>
          </p:nvSpPr>
          <p:spPr>
            <a:xfrm>
              <a:off x="1000125" y="3400425"/>
              <a:ext cx="5418683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Residual Learning:</a:t>
              </a:r>
              <a:r>
                <a:rPr lang="en-US" b="0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Blocks learn a corrective residual function F(x), which is then added directly to input x.</a:t>
              </a:r>
              <a:endParaRPr sz="1800" dirty="0">
                <a:latin typeface="+mn-lt"/>
              </a:endParaRPr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1000125" y="3943350"/>
              <a:ext cx="5418683" cy="8277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Smooth Backpropagation:</a:t>
              </a:r>
              <a:r>
                <a:rPr lang="en-US" b="0" i="0" u="none" strike="noStrike" cap="none" dirty="0">
                  <a:solidFill>
                    <a:srgbClr val="334155"/>
                  </a:solidFill>
                  <a:latin typeface="+mn-lt"/>
                  <a:ea typeface="Inter"/>
                  <a:cs typeface="Inter"/>
                  <a:sym typeface="Inter"/>
                </a:rPr>
                <a:t> Gradients flow via the shortcut paths, preventing vanishing signals (that were caused by the n-multiplications of derivatives often &lt;1)</a:t>
              </a:r>
              <a:endParaRPr sz="1800" dirty="0">
                <a:latin typeface="+mn-lt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771525" y="2876550"/>
              <a:ext cx="666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B31217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771525" y="3419475"/>
              <a:ext cx="666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B31217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71525" y="3962400"/>
              <a:ext cx="66675" cy="2308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u="none" strike="noStrike" cap="none">
                  <a:solidFill>
                    <a:srgbClr val="B31217"/>
                  </a:solidFill>
                  <a:latin typeface="+mn-lt"/>
                  <a:ea typeface="Inter"/>
                  <a:cs typeface="Inter"/>
                  <a:sym typeface="Inter"/>
                </a:rPr>
                <a:t>■</a:t>
              </a:r>
              <a:endParaRPr sz="1800">
                <a:latin typeface="+mn-lt"/>
              </a:endParaRPr>
            </a:p>
          </p:txBody>
        </p:sp>
      </p:grpSp>
      <p:sp>
        <p:nvSpPr>
          <p:cNvPr id="168" name="Google Shape;168;p17"/>
          <p:cNvSpPr txBox="1"/>
          <p:nvPr/>
        </p:nvSpPr>
        <p:spPr>
          <a:xfrm>
            <a:off x="771525" y="581025"/>
            <a:ext cx="111813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293B"/>
                </a:solidFill>
                <a:latin typeface="+mn-lt"/>
                <a:ea typeface="Plus Jakarta Sans ExtraBold"/>
                <a:cs typeface="Plus Jakarta Sans ExtraBold"/>
                <a:sym typeface="Plus Jakarta Sans ExtraBold"/>
              </a:rPr>
              <a:t>ResNet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+mn-lt"/>
                <a:ea typeface="Plus Jakarta Sans ExtraBold"/>
                <a:cs typeface="Plus Jakarta Sans ExtraBold"/>
                <a:sym typeface="Plus Jakarta Sans ExtraBold"/>
              </a:rPr>
              <a:t>: Residual Connections</a:t>
            </a:r>
            <a:endParaRPr dirty="0">
              <a:latin typeface="+mn-lt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71525" y="1076325"/>
            <a:ext cx="106489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06967" y="342900"/>
            <a:ext cx="30390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ResNet – Wikipedia tiếng Việt">
            <a:extLst>
              <a:ext uri="{FF2B5EF4-FFF2-40B4-BE49-F238E27FC236}">
                <a16:creationId xmlns:a16="http://schemas.microsoft.com/office/drawing/2014/main" id="{11D74170-2229-7BAF-3D45-C81C773AD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833" y="2528332"/>
            <a:ext cx="4811167" cy="260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DA710D-5888-9F88-AC9C-B649D0D56B48}"/>
              </a:ext>
            </a:extLst>
          </p:cNvPr>
          <p:cNvSpPr txBox="1"/>
          <p:nvPr/>
        </p:nvSpPr>
        <p:spPr>
          <a:xfrm>
            <a:off x="1286933" y="5588000"/>
            <a:ext cx="6366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Overall, skip connections in </a:t>
            </a:r>
            <a:r>
              <a:rPr lang="fr-FR" dirty="0" err="1"/>
              <a:t>resnet</a:t>
            </a:r>
            <a:r>
              <a:rPr lang="fr-FR" dirty="0"/>
              <a:t> </a:t>
            </a:r>
            <a:r>
              <a:rPr lang="fr-FR" dirty="0" err="1"/>
              <a:t>allow</a:t>
            </a:r>
            <a:r>
              <a:rPr lang="fr-FR" dirty="0"/>
              <a:t> an </a:t>
            </a:r>
            <a:r>
              <a:rPr lang="fr-FR" dirty="0" err="1"/>
              <a:t>better</a:t>
            </a:r>
            <a:r>
              <a:rPr lang="fr-FR" dirty="0"/>
              <a:t> gradient flow and </a:t>
            </a:r>
            <a:r>
              <a:rPr lang="fr-FR" dirty="0" err="1"/>
              <a:t>we</a:t>
            </a:r>
            <a:r>
              <a:rPr lang="fr-FR" dirty="0"/>
              <a:t> can </a:t>
            </a:r>
            <a:r>
              <a:rPr lang="fr-FR" dirty="0" err="1"/>
              <a:t>build</a:t>
            </a:r>
            <a:r>
              <a:rPr lang="fr-FR" dirty="0"/>
              <a:t> </a:t>
            </a:r>
            <a:r>
              <a:rPr lang="fr-FR" dirty="0" err="1"/>
              <a:t>deeper</a:t>
            </a:r>
            <a:r>
              <a:rPr lang="fr-FR" dirty="0"/>
              <a:t>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</Words>
  <Application>Microsoft Office PowerPoint</Application>
  <PresentationFormat>Widescreen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Plus Jakarta Sans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Matthieu Giraud - Sauveur (Student at CentraleSupelec)</cp:lastModifiedBy>
  <cp:revision>3</cp:revision>
  <dcterms:modified xsi:type="dcterms:W3CDTF">2026-05-24T13:09:50Z</dcterms:modified>
</cp:coreProperties>
</file>