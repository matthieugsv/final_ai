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07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795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37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84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60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270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83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7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92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06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387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EAFF1FE-7509-4A5B-9372-1F9724597378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8FF5A5B-8C83-4220-8DCC-659A08242F60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40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24E1-AE8E-FF80-01D7-B53FDB4B4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noProof="0" dirty="0"/>
              <a:t>Some models of semantic Segmentation: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3C333-6F11-71F8-45C5-77F281ED4B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noProof="0" dirty="0"/>
              <a:t>Pixel-by-Pixel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F6436-2FBF-4507-B30A-68CE155FAA84}"/>
              </a:ext>
            </a:extLst>
          </p:cNvPr>
          <p:cNvSpPr txBox="1"/>
          <p:nvPr/>
        </p:nvSpPr>
        <p:spPr>
          <a:xfrm>
            <a:off x="1551262" y="5413954"/>
            <a:ext cx="9089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Semantic segmentation understands what is on the picture and locates it precisely (every pixel)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127E4B4D-8746-CB89-A415-01B925253A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5893" y="335618"/>
            <a:ext cx="8840214" cy="260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D3F2-4A8B-556B-4D88-D6F95AB8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FCN: Fully connected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BDEC7-6898-0D32-D088-D5033994A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880" y="2109894"/>
            <a:ext cx="4998720" cy="4023360"/>
          </a:xfrm>
        </p:spPr>
        <p:txBody>
          <a:bodyPr/>
          <a:lstStyle/>
          <a:p>
            <a:r>
              <a:rPr lang="en-US" noProof="0" dirty="0"/>
              <a:t>FCN = one of the first major CNN model for semantic segmentation – important foundation</a:t>
            </a:r>
          </a:p>
          <a:p>
            <a:endParaRPr lang="en-US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 Replaces classical classification layers with convolutional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 Produces a pixel by pixel prediction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 Input: Image -----</a:t>
            </a:r>
            <a:r>
              <a:rPr lang="en-US" noProof="0" dirty="0">
                <a:sym typeface="Wingdings" panose="05000000000000000000" pitchFamily="2" charset="2"/>
              </a:rPr>
              <a:t>---&gt;  Output: segmentation mask</a:t>
            </a:r>
            <a:endParaRPr lang="en-US" noProof="0" dirty="0"/>
          </a:p>
        </p:txBody>
      </p:sp>
      <p:pic>
        <p:nvPicPr>
          <p:cNvPr id="1026" name="Picture 2" descr="Overview: Fully Convolutional Network for Semantic Segmentation | by Mohit  Gaikwad | Medium">
            <a:extLst>
              <a:ext uri="{FF2B5EF4-FFF2-40B4-BE49-F238E27FC236}">
                <a16:creationId xmlns:a16="http://schemas.microsoft.com/office/drawing/2014/main" id="{A26B12B0-EE8E-6254-79AE-95D7A3892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980" y="2452053"/>
            <a:ext cx="5713620" cy="266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05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A360-4405-E8E5-3E80-76F2F9F1A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U-Net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975A-8B1B-D8DE-F19D-43942C5EA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80" y="2150534"/>
            <a:ext cx="5542280" cy="4023360"/>
          </a:xfrm>
        </p:spPr>
        <p:txBody>
          <a:bodyPr/>
          <a:lstStyle/>
          <a:p>
            <a:r>
              <a:rPr lang="en-US" noProof="0" dirty="0"/>
              <a:t>U-Net = encoder + decoder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Encoder: extracts important features (reduces image to extract context)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Decoder: reconstructs the segmentation mask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Skip connections: recover lost details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Very useful in medical imaging</a:t>
            </a:r>
          </a:p>
        </p:txBody>
      </p:sp>
      <p:pic>
        <p:nvPicPr>
          <p:cNvPr id="2052" name="Picture 4" descr="U-Net Ensemble for Enhanced Semantic Segmentation in Remote Sensing Imagery">
            <a:extLst>
              <a:ext uri="{FF2B5EF4-FFF2-40B4-BE49-F238E27FC236}">
                <a16:creationId xmlns:a16="http://schemas.microsoft.com/office/drawing/2014/main" id="{5B67877B-0873-FA10-22AB-3B5916919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960" y="2296160"/>
            <a:ext cx="5856525" cy="333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612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9593-C74F-19A9-9D87-A4CD7E858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DeepLab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3BBB-6510-9953-3A03-DB8805B77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867" y="1947334"/>
            <a:ext cx="6336454" cy="4199466"/>
          </a:xfrm>
        </p:spPr>
        <p:txBody>
          <a:bodyPr>
            <a:normAutofit fontScale="92500" lnSpcReduction="20000"/>
          </a:bodyPr>
          <a:lstStyle/>
          <a:p>
            <a:r>
              <a:rPr lang="en-US" noProof="0" dirty="0" err="1"/>
              <a:t>DeepLab</a:t>
            </a:r>
            <a:r>
              <a:rPr lang="en-US" noProof="0" dirty="0"/>
              <a:t>: better management of context and boundaries</a:t>
            </a:r>
          </a:p>
          <a:p>
            <a:endParaRPr lang="en-US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Uses dilated convolutions (</a:t>
            </a:r>
            <a:r>
              <a:rPr lang="en-US" noProof="0" dirty="0" err="1"/>
              <a:t>atrous</a:t>
            </a:r>
            <a:r>
              <a:rPr lang="en-US" noProof="0" dirty="0"/>
              <a:t> convolutions)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Allows the model to see a larger area without reducing the resolution too much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noProof="0" dirty="0"/>
              <a:t> Uses ASPP to analyze the image at different scales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The deeper is the network the smaller the feature map becomes. Dilated convolutions solve this.</a:t>
            </a:r>
          </a:p>
          <a:p>
            <a:pPr marL="0" indent="0">
              <a:buNone/>
            </a:pPr>
            <a:r>
              <a:rPr lang="en-US" noProof="0" dirty="0"/>
              <a:t>ASPP allows multi-scale analysis to deal with both small or big objects</a:t>
            </a:r>
          </a:p>
          <a:p>
            <a:pPr marL="0" indent="0">
              <a:buNone/>
            </a:pPr>
            <a:r>
              <a:rPr lang="en-US" u="sng" dirty="0"/>
              <a:t>Downside</a:t>
            </a:r>
            <a:r>
              <a:rPr lang="en-US" dirty="0"/>
              <a:t>: Require more data and calculus</a:t>
            </a:r>
            <a:endParaRPr lang="en-US" noProof="0" dirty="0"/>
          </a:p>
        </p:txBody>
      </p:sp>
      <p:pic>
        <p:nvPicPr>
          <p:cNvPr id="3076" name="Picture 4" descr="Semantic Image Segmentation with DeepLab in TensorFlow">
            <a:extLst>
              <a:ext uri="{FF2B5EF4-FFF2-40B4-BE49-F238E27FC236}">
                <a16:creationId xmlns:a16="http://schemas.microsoft.com/office/drawing/2014/main" id="{25F3E5DD-843C-A657-EBC6-39D8BAE64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321" y="2257619"/>
            <a:ext cx="5487458" cy="286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90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ACF6-62CD-0D73-77E6-4E0BBEA4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SegFormer</a:t>
            </a:r>
            <a:r>
              <a:rPr lang="fr-FR" dirty="0"/>
              <a:t>: a </a:t>
            </a:r>
            <a:r>
              <a:rPr lang="fr-FR" dirty="0" err="1"/>
              <a:t>recent</a:t>
            </a:r>
            <a:r>
              <a:rPr lang="fr-FR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CF895-CC25-EC2E-1134-0645F6EA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854200"/>
            <a:ext cx="5867400" cy="4414520"/>
          </a:xfrm>
        </p:spPr>
        <p:txBody>
          <a:bodyPr>
            <a:normAutofit/>
          </a:bodyPr>
          <a:lstStyle/>
          <a:p>
            <a:r>
              <a:rPr lang="fr-FR" dirty="0" err="1"/>
              <a:t>Segformer</a:t>
            </a:r>
            <a:r>
              <a:rPr lang="fr-FR" dirty="0"/>
              <a:t> = Transformer-</a:t>
            </a:r>
            <a:r>
              <a:rPr lang="fr-FR" dirty="0" err="1"/>
              <a:t>based</a:t>
            </a:r>
            <a:r>
              <a:rPr lang="fr-FR" dirty="0"/>
              <a:t> segmentation model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Uses a transformer encoder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Captures global </a:t>
            </a:r>
            <a:r>
              <a:rPr lang="fr-FR" dirty="0" err="1"/>
              <a:t>relationships</a:t>
            </a:r>
            <a:r>
              <a:rPr lang="fr-FR" dirty="0"/>
              <a:t> in the image more </a:t>
            </a:r>
            <a:r>
              <a:rPr lang="fr-FR" dirty="0" err="1"/>
              <a:t>effectively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Uses a simple MLP </a:t>
            </a:r>
            <a:r>
              <a:rPr lang="fr-FR" dirty="0" err="1"/>
              <a:t>decoder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</a:t>
            </a:r>
            <a:r>
              <a:rPr lang="fr-FR" dirty="0" err="1"/>
              <a:t>Represents</a:t>
            </a:r>
            <a:r>
              <a:rPr lang="fr-FR" dirty="0"/>
              <a:t> modern </a:t>
            </a:r>
            <a:r>
              <a:rPr lang="fr-FR" dirty="0" err="1"/>
              <a:t>evolution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CNN-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models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CNN-</a:t>
            </a:r>
            <a:r>
              <a:rPr lang="fr-FR" dirty="0" err="1"/>
              <a:t>based</a:t>
            </a:r>
            <a:r>
              <a:rPr lang="fr-FR" dirty="0"/>
              <a:t>. </a:t>
            </a:r>
            <a:r>
              <a:rPr lang="fr-FR" dirty="0" err="1"/>
              <a:t>Segformer</a:t>
            </a:r>
            <a:r>
              <a:rPr lang="fr-FR" dirty="0"/>
              <a:t> uses a transformer </a:t>
            </a:r>
            <a:r>
              <a:rPr lang="fr-FR" dirty="0" err="1"/>
              <a:t>which</a:t>
            </a:r>
            <a:r>
              <a:rPr lang="fr-FR" dirty="0"/>
              <a:t> can </a:t>
            </a:r>
            <a:r>
              <a:rPr lang="fr-FR" dirty="0" err="1"/>
              <a:t>link</a:t>
            </a:r>
            <a:r>
              <a:rPr lang="fr-FR" dirty="0"/>
              <a:t> pixels at </a:t>
            </a:r>
            <a:r>
              <a:rPr lang="fr-FR" dirty="0" err="1"/>
              <a:t>bigger</a:t>
            </a:r>
            <a:r>
              <a:rPr lang="fr-FR" dirty="0"/>
              <a:t> distances </a:t>
            </a:r>
            <a:r>
              <a:rPr lang="fr-FR" dirty="0" err="1"/>
              <a:t>than</a:t>
            </a:r>
            <a:r>
              <a:rPr lang="fr-FR" dirty="0"/>
              <a:t> a </a:t>
            </a:r>
            <a:r>
              <a:rPr lang="fr-FR" dirty="0" err="1"/>
              <a:t>classical</a:t>
            </a:r>
            <a:r>
              <a:rPr lang="fr-FR" dirty="0"/>
              <a:t> CNN.</a:t>
            </a:r>
          </a:p>
        </p:txBody>
      </p:sp>
      <p:pic>
        <p:nvPicPr>
          <p:cNvPr id="4100" name="Picture 4" descr="Semantic segmentation with Vision Transformers, Hugging Face and TensorFlow  — Deep learning with TensorFlow">
            <a:extLst>
              <a:ext uri="{FF2B5EF4-FFF2-40B4-BE49-F238E27FC236}">
                <a16:creationId xmlns:a16="http://schemas.microsoft.com/office/drawing/2014/main" id="{A33BC5A3-A050-54FC-90A0-89E8B7E32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643" y="2042934"/>
            <a:ext cx="6022877" cy="325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99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300C-1CD6-7153-12A2-F7E050D4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How to </a:t>
            </a:r>
            <a:r>
              <a:rPr lang="fr-FR" dirty="0" err="1"/>
              <a:t>evaluate</a:t>
            </a:r>
            <a:r>
              <a:rPr lang="fr-FR" dirty="0"/>
              <a:t> a segmentation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89411-2442-E087-5AEE-96AC1819C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886374"/>
            <a:ext cx="6085840" cy="4023360"/>
          </a:xfrm>
        </p:spPr>
        <p:txBody>
          <a:bodyPr/>
          <a:lstStyle/>
          <a:p>
            <a:r>
              <a:rPr lang="fr-FR" dirty="0" err="1"/>
              <a:t>Metrics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Pixel </a:t>
            </a:r>
            <a:r>
              <a:rPr lang="fr-FR" dirty="0" err="1"/>
              <a:t>accuracy</a:t>
            </a:r>
            <a:r>
              <a:rPr lang="fr-FR" dirty="0"/>
              <a:t>: percentage of </a:t>
            </a:r>
            <a:r>
              <a:rPr lang="fr-FR" dirty="0" err="1"/>
              <a:t>correctly</a:t>
            </a:r>
            <a:r>
              <a:rPr lang="fr-FR" dirty="0"/>
              <a:t> </a:t>
            </a:r>
            <a:r>
              <a:rPr lang="fr-FR" dirty="0" err="1"/>
              <a:t>classified</a:t>
            </a:r>
            <a:r>
              <a:rPr lang="fr-FR" dirty="0"/>
              <a:t> pixels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IoU</a:t>
            </a:r>
            <a:r>
              <a:rPr lang="fr-FR" dirty="0"/>
              <a:t> (Intersection over Union): </a:t>
            </a: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predicted</a:t>
            </a:r>
            <a:r>
              <a:rPr lang="fr-FR" dirty="0"/>
              <a:t> and real area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mIoU</a:t>
            </a:r>
            <a:r>
              <a:rPr lang="fr-FR" dirty="0"/>
              <a:t>: </a:t>
            </a: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IoU</a:t>
            </a:r>
            <a:r>
              <a:rPr lang="fr-FR" dirty="0"/>
              <a:t> </a:t>
            </a:r>
            <a:r>
              <a:rPr lang="fr-FR" dirty="0" err="1"/>
              <a:t>across</a:t>
            </a:r>
            <a:r>
              <a:rPr lang="fr-FR" dirty="0"/>
              <a:t> all classes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 marL="0" indent="0">
              <a:buNone/>
            </a:pPr>
            <a:r>
              <a:rPr lang="fr-FR" dirty="0"/>
              <a:t>Pixel 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simpled</a:t>
            </a:r>
            <a:r>
              <a:rPr lang="fr-FR" dirty="0"/>
              <a:t> but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misleading</a:t>
            </a:r>
            <a:r>
              <a:rPr lang="fr-FR" dirty="0"/>
              <a:t>: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big sky can have a good </a:t>
            </a:r>
            <a:r>
              <a:rPr lang="fr-FR" dirty="0" err="1"/>
              <a:t>accuracy</a:t>
            </a:r>
            <a:r>
              <a:rPr lang="fr-FR" dirty="0"/>
              <a:t> but segment </a:t>
            </a:r>
            <a:r>
              <a:rPr lang="fr-FR" dirty="0" err="1"/>
              <a:t>small</a:t>
            </a:r>
            <a:r>
              <a:rPr lang="fr-FR" dirty="0"/>
              <a:t> </a:t>
            </a:r>
            <a:r>
              <a:rPr lang="fr-FR" dirty="0" err="1"/>
              <a:t>objects</a:t>
            </a:r>
            <a:r>
              <a:rPr lang="fr-FR" dirty="0"/>
              <a:t> </a:t>
            </a:r>
            <a:r>
              <a:rPr lang="fr-FR" dirty="0" err="1"/>
              <a:t>badly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F66E80-EAFC-59EA-8B9F-BC7132CD0F61}"/>
              </a:ext>
            </a:extLst>
          </p:cNvPr>
          <p:cNvSpPr/>
          <p:nvPr/>
        </p:nvSpPr>
        <p:spPr>
          <a:xfrm>
            <a:off x="7345680" y="2113280"/>
            <a:ext cx="3810000" cy="10058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9500 pixels of sky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8E1D8C-E6BF-5278-59AD-A173EC67290A}"/>
              </a:ext>
            </a:extLst>
          </p:cNvPr>
          <p:cNvSpPr/>
          <p:nvPr/>
        </p:nvSpPr>
        <p:spPr>
          <a:xfrm>
            <a:off x="8365067" y="2895600"/>
            <a:ext cx="1464733" cy="223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500 pixels car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0F4259-55BC-516B-39E1-851B4EEB2D22}"/>
                  </a:ext>
                </a:extLst>
              </p:cNvPr>
              <p:cNvSpPr txBox="1"/>
              <p:nvPr/>
            </p:nvSpPr>
            <p:spPr>
              <a:xfrm>
                <a:off x="7421880" y="3649901"/>
                <a:ext cx="3810000" cy="2151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If </a:t>
                </a:r>
                <a:r>
                  <a:rPr lang="fr-FR" dirty="0" err="1"/>
                  <a:t>everything</a:t>
                </a:r>
                <a:r>
                  <a:rPr lang="fr-FR" dirty="0"/>
                  <a:t> </a:t>
                </a:r>
                <a:r>
                  <a:rPr lang="fr-FR" dirty="0" err="1"/>
                  <a:t>is</a:t>
                </a:r>
                <a:r>
                  <a:rPr lang="fr-FR" dirty="0"/>
                  <a:t> </a:t>
                </a:r>
                <a:r>
                  <a:rPr lang="fr-FR" dirty="0" err="1"/>
                  <a:t>predicted</a:t>
                </a:r>
                <a:r>
                  <a:rPr lang="fr-FR" dirty="0"/>
                  <a:t> as sky:</a:t>
                </a:r>
              </a:p>
              <a:p>
                <a:endParaRPr lang="fr-F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b="1" dirty="0"/>
                  <a:t>Pixel </a:t>
                </a:r>
                <a:r>
                  <a:rPr lang="fr-FR" b="1" dirty="0" err="1"/>
                  <a:t>accuracy</a:t>
                </a:r>
                <a:r>
                  <a:rPr lang="fr-FR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9500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10 000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=95%</m:t>
                    </m:r>
                  </m:oMath>
                </a14:m>
                <a:endParaRPr lang="fr-FR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 err="1"/>
                  <a:t>IoU</a:t>
                </a:r>
                <a:r>
                  <a:rPr lang="fr-FR" dirty="0"/>
                  <a:t> car: 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fr-FR" dirty="0"/>
                  <a:t>Intersection: 0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fr-FR" dirty="0"/>
                  <a:t>Union: 500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fr-FR" b="1" dirty="0" err="1"/>
                  <a:t>IoU</a:t>
                </a:r>
                <a:r>
                  <a:rPr lang="fr-FR" dirty="0"/>
                  <a:t> = 0%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60F4259-55BC-516B-39E1-851B4EEB2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880" y="3649901"/>
                <a:ext cx="3810000" cy="2151679"/>
              </a:xfrm>
              <a:prstGeom prst="rect">
                <a:avLst/>
              </a:prstGeom>
              <a:blipFill>
                <a:blip r:embed="rId2"/>
                <a:stretch>
                  <a:fillRect l="-1440" t="-1700" b="-368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8419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338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Courier New</vt:lpstr>
      <vt:lpstr>Wingdings</vt:lpstr>
      <vt:lpstr>Retrospect</vt:lpstr>
      <vt:lpstr>Some models of semantic Segmentation:</vt:lpstr>
      <vt:lpstr>FCN: Fully connected network</vt:lpstr>
      <vt:lpstr>U-Net</vt:lpstr>
      <vt:lpstr>DeepLab</vt:lpstr>
      <vt:lpstr>SegFormer: a recent model</vt:lpstr>
      <vt:lpstr>How to evaluate a segmentation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Matthieu Giraud - Sauveur (Student at CentraleSupelec)</dc:creator>
  <cp:lastModifiedBy>Matthieu Giraud - Sauveur (Student at CentraleSupelec)</cp:lastModifiedBy>
  <cp:revision>13</cp:revision>
  <dcterms:created xsi:type="dcterms:W3CDTF">2026-06-12T09:13:08Z</dcterms:created>
  <dcterms:modified xsi:type="dcterms:W3CDTF">2026-06-14T13:08:04Z</dcterms:modified>
</cp:coreProperties>
</file>