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BF262-6498-07C2-8D1C-64127C4B33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3F14BA-EE18-821A-8C50-3B9D041488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B89DD-5672-32AB-3A78-885C47FED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413D-5D4B-4837-AC5C-0064DBB055BA}" type="datetimeFigureOut">
              <a:rPr lang="fr-FR" smtClean="0"/>
              <a:t>12/05/2026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526ED-B7E4-1E42-4FE2-BAE4C6D41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E35D9-925B-09C7-C242-E3230A87F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C1723-192E-42CB-89FB-472DB7D3631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968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60841-CD92-6F42-A2E9-031CA6075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B6C2F-EEE4-5AA4-1F7F-C5A571490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B8319-D394-5BB8-7030-91C79DD65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413D-5D4B-4837-AC5C-0064DBB055BA}" type="datetimeFigureOut">
              <a:rPr lang="fr-FR" smtClean="0"/>
              <a:t>12/05/2026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F5576-2C38-22F4-DFED-667A9FC45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DC7B2-C978-6341-78EA-4ADE272F7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C1723-192E-42CB-89FB-472DB7D3631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3715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AEE52-7C76-EA98-7A37-A9084272A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7A98F-A3F3-A51D-06DD-4DDB728A43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7BA8F-4F4B-BD3B-DC68-69BB95DDF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413D-5D4B-4837-AC5C-0064DBB055BA}" type="datetimeFigureOut">
              <a:rPr lang="fr-FR" smtClean="0"/>
              <a:t>12/05/2026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E69F4-CDBF-4731-050D-08577E59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96CD8-0A5B-AAE0-EA06-06EC23195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C1723-192E-42CB-89FB-472DB7D3631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7709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B916C-8E0F-27B1-ACCD-DB336FBA4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89BC4-282E-2CFC-9573-076F2D3CA0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04BE73-0DAB-B9CD-CB26-00B472311C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1090DC-D6C9-B937-1A17-1B4860C6A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413D-5D4B-4837-AC5C-0064DBB055BA}" type="datetimeFigureOut">
              <a:rPr lang="fr-FR" smtClean="0"/>
              <a:t>12/05/2026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9734F-A5AD-E022-7021-AF135E3AE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892552-6BCE-CBA0-3BE2-80DFF8D37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C1723-192E-42CB-89FB-472DB7D3631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9338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8E9A8-80C2-5677-58FA-4DF313CC7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46EC22-BC6E-A1AA-18B4-0E1E6C2C3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CFB1CD-8F88-BEE4-60FC-4EF9447D2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B68D1F-2E14-91AB-55C0-177F7DED4D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8EAF93-B457-6634-E13C-E3282CD5DE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231842-6330-E453-65EE-06E8B0403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413D-5D4B-4837-AC5C-0064DBB055BA}" type="datetimeFigureOut">
              <a:rPr lang="fr-FR" smtClean="0"/>
              <a:t>12/05/2026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2F29FD-8B0D-5B7D-E252-4FBA3E0A4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9B7412-BB31-ED93-852F-5D3D1C76E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C1723-192E-42CB-89FB-472DB7D3631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3686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BE9CC-C34E-5B9D-79EF-A2D578F06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EF3980-79BC-CCDC-E7D3-86E32F7A1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413D-5D4B-4837-AC5C-0064DBB055BA}" type="datetimeFigureOut">
              <a:rPr lang="fr-FR" smtClean="0"/>
              <a:t>12/05/2026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76D191-6885-4028-4B18-FAF02B3AB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AA0A3C-9E13-0D54-93A3-7CDED5A6D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C1723-192E-42CB-89FB-472DB7D3631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7639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F5A49B-5505-3DD4-6739-06668B31C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413D-5D4B-4837-AC5C-0064DBB055BA}" type="datetimeFigureOut">
              <a:rPr lang="fr-FR" smtClean="0"/>
              <a:t>12/05/2026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0CCCC6-4821-CC94-C638-9DEDC6069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D02BC-C52C-2D7A-D5AD-5CEBFD211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C1723-192E-42CB-89FB-472DB7D3631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6928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47CC3-8E0F-2F94-F242-C94A056D3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0399A-2780-CB27-4060-862EE92ED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945079-D7CA-9048-B960-D7B7BE8E6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DC356A-7E52-C739-3970-B46CCCA64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413D-5D4B-4837-AC5C-0064DBB055BA}" type="datetimeFigureOut">
              <a:rPr lang="fr-FR" smtClean="0"/>
              <a:t>12/05/2026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6B1B7B-4B4D-7DC3-276D-04C5DBAB6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BCFB44-DFB8-6569-CFB6-3240C016B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C1723-192E-42CB-89FB-472DB7D3631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90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80D20-C285-F2FD-0523-4EF58C750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7FC869-2320-3203-2355-C12F45D49B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9ED722-A98D-E7F9-212C-2D38000602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8B6226-6AE7-9B62-938E-B9717188F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413D-5D4B-4837-AC5C-0064DBB055BA}" type="datetimeFigureOut">
              <a:rPr lang="fr-FR" smtClean="0"/>
              <a:t>12/05/2026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1928AC-58DE-B9C1-F5F0-9FC42E801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11F08-F824-1FF6-AC4C-233B264E2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C1723-192E-42CB-89FB-472DB7D3631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773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B5A0C-8431-70B9-1D71-D9507078B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445C41-294B-2D5A-26D3-8F790B1E48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EF1B8-DD93-2CA8-71A3-36443F1AB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413D-5D4B-4837-AC5C-0064DBB055BA}" type="datetimeFigureOut">
              <a:rPr lang="fr-FR" smtClean="0"/>
              <a:t>12/05/2026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39AA2-41EB-9649-58E4-0B0EAC097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3E469-2416-6AEE-4006-2381CED87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C1723-192E-42CB-89FB-472DB7D3631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3060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428FBA-D603-960C-D7F8-2A413917E9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DB310C-E6A7-2901-44A8-DD3DC92504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D0692-A283-6C6E-1B58-4860CD710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413D-5D4B-4837-AC5C-0064DBB055BA}" type="datetimeFigureOut">
              <a:rPr lang="fr-FR" smtClean="0"/>
              <a:t>12/05/2026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1E7E7-FC57-1B8F-4B57-C12782FFD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2B94E-9827-577D-0195-AE6905D07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C1723-192E-42CB-89FB-472DB7D3631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286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D8989A-1739-10B3-39E3-8C2ABB12D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C6B424-1885-6BD3-E127-62AF299AED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3C884-0851-E58F-3B0A-E477925A6C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63413D-5D4B-4837-AC5C-0064DBB055BA}" type="datetimeFigureOut">
              <a:rPr lang="fr-FR" smtClean="0"/>
              <a:t>12/05/2026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852AE-A80F-623C-70E6-7AD7E22DEB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D8BC0C-1B9A-AC5F-F82A-2A601EBB1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FC1723-192E-42CB-89FB-472DB7D3631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7043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FB301-EBD0-F1E2-C10E-208777B150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One stage image detection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75BB32-5C93-3BD8-5E31-BFCA84846C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YOLOv3 and YOLOv4</a:t>
            </a:r>
          </a:p>
        </p:txBody>
      </p:sp>
      <p:pic>
        <p:nvPicPr>
          <p:cNvPr id="4" name="Picture 2" descr="Tải logo HUST - Đại học Bách khoa Hà Nội vector, PNG">
            <a:extLst>
              <a:ext uri="{FF2B5EF4-FFF2-40B4-BE49-F238E27FC236}">
                <a16:creationId xmlns:a16="http://schemas.microsoft.com/office/drawing/2014/main" id="{F96DB552-1059-1026-FB66-21BD5D5613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293"/>
          <a:stretch>
            <a:fillRect/>
          </a:stretch>
        </p:blipFill>
        <p:spPr bwMode="auto">
          <a:xfrm>
            <a:off x="9786394" y="681037"/>
            <a:ext cx="1865856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1277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BEF7A-2C22-027C-B4E5-74C121644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65B398B-FD41-CB4F-2C54-3EAAD2A5C7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8266" y="457199"/>
            <a:ext cx="4842934" cy="995364"/>
          </a:xfrm>
        </p:spPr>
        <p:txBody>
          <a:bodyPr>
            <a:normAutofit/>
          </a:bodyPr>
          <a:lstStyle/>
          <a:p>
            <a:r>
              <a:rPr lang="en-US" sz="3200" b="1" i="1" noProof="0" dirty="0"/>
              <a:t>What is object detection ?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A3A4F592-B0F4-DF31-C155-1B6F2785C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9467" y="2429192"/>
            <a:ext cx="6153573" cy="2854643"/>
          </a:xfrm>
        </p:spPr>
        <p:txBody>
          <a:bodyPr>
            <a:normAutofit/>
          </a:bodyPr>
          <a:lstStyle/>
          <a:p>
            <a:pPr algn="l"/>
            <a:r>
              <a:rPr lang="en-US" noProof="0" dirty="0"/>
              <a:t>Aims to identify:</a:t>
            </a:r>
          </a:p>
          <a:p>
            <a:pPr algn="l"/>
            <a:endParaRPr lang="en-US" noProof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noProof="0" dirty="0"/>
              <a:t>The class of an object (pedestrian, car, …)</a:t>
            </a:r>
          </a:p>
          <a:p>
            <a:pPr algn="l"/>
            <a:endParaRPr lang="en-US" noProof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noProof="0" dirty="0"/>
              <a:t>Its position in the image with a bounding box</a:t>
            </a:r>
          </a:p>
        </p:txBody>
      </p:sp>
      <p:pic>
        <p:nvPicPr>
          <p:cNvPr id="8" name="Picture 2" descr="Tải logo HUST - Đại học Bách khoa Hà Nội vector, PNG">
            <a:extLst>
              <a:ext uri="{FF2B5EF4-FFF2-40B4-BE49-F238E27FC236}">
                <a16:creationId xmlns:a16="http://schemas.microsoft.com/office/drawing/2014/main" id="{95B070CB-F1CD-5095-949F-679D1EB3C4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293"/>
          <a:stretch>
            <a:fillRect/>
          </a:stretch>
        </p:blipFill>
        <p:spPr bwMode="auto">
          <a:xfrm>
            <a:off x="9786394" y="681037"/>
            <a:ext cx="1865856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B16E57A6-CD82-1794-5FD6-2AB9FE8F8C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76"/>
          <a:stretch>
            <a:fillRect/>
          </a:stretch>
        </p:blipFill>
        <p:spPr bwMode="auto">
          <a:xfrm>
            <a:off x="6626582" y="2031682"/>
            <a:ext cx="5175951" cy="3647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3218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65430-00D6-CB17-6850-71B3D3795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F6F7E9F-5EB0-108E-DEF3-7B84E98C28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8266" y="457199"/>
            <a:ext cx="5056294" cy="995364"/>
          </a:xfrm>
        </p:spPr>
        <p:txBody>
          <a:bodyPr>
            <a:normAutofit/>
          </a:bodyPr>
          <a:lstStyle/>
          <a:p>
            <a:r>
              <a:rPr lang="en-US" sz="3200" b="1" i="1" noProof="0" dirty="0"/>
              <a:t>Two stages vs one stage detection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C972876B-8093-E7DB-E53D-5753BB182D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4867" y="1743392"/>
            <a:ext cx="5848773" cy="2854643"/>
          </a:xfrm>
        </p:spPr>
        <p:txBody>
          <a:bodyPr>
            <a:normAutofit/>
          </a:bodyPr>
          <a:lstStyle/>
          <a:p>
            <a:pPr algn="l"/>
            <a:r>
              <a:rPr lang="en-US" b="1" noProof="0" dirty="0"/>
              <a:t>Two stages</a:t>
            </a:r>
            <a:r>
              <a:rPr lang="en-US" noProof="0" dirty="0"/>
              <a:t>: (ex R-CNN)</a:t>
            </a:r>
          </a:p>
          <a:p>
            <a:pPr marL="457200" indent="-457200" algn="l">
              <a:buAutoNum type="arabicPeriod"/>
            </a:pPr>
            <a:r>
              <a:rPr lang="en-US" noProof="0" dirty="0"/>
              <a:t>Generate region proposals</a:t>
            </a:r>
          </a:p>
          <a:p>
            <a:pPr marL="457200" indent="-457200" algn="l">
              <a:buAutoNum type="arabicPeriod"/>
            </a:pPr>
            <a:r>
              <a:rPr lang="en-US" noProof="0" dirty="0"/>
              <a:t>Then, classify and refine these regions</a:t>
            </a:r>
          </a:p>
        </p:txBody>
      </p:sp>
      <p:pic>
        <p:nvPicPr>
          <p:cNvPr id="8" name="Picture 2" descr="Tải logo HUST - Đại học Bách khoa Hà Nội vector, PNG">
            <a:extLst>
              <a:ext uri="{FF2B5EF4-FFF2-40B4-BE49-F238E27FC236}">
                <a16:creationId xmlns:a16="http://schemas.microsoft.com/office/drawing/2014/main" id="{FCF621B5-C687-C367-BB62-2A896F13EB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293"/>
          <a:stretch>
            <a:fillRect/>
          </a:stretch>
        </p:blipFill>
        <p:spPr bwMode="auto">
          <a:xfrm>
            <a:off x="9786394" y="681037"/>
            <a:ext cx="1865856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Bedanya one-stage dan two-stage object detector">
            <a:extLst>
              <a:ext uri="{FF2B5EF4-FFF2-40B4-BE49-F238E27FC236}">
                <a16:creationId xmlns:a16="http://schemas.microsoft.com/office/drawing/2014/main" id="{1B7E2D48-0A75-34CD-F0F5-F1EF3DF3F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5581" y="3520169"/>
            <a:ext cx="6057371" cy="3408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AB53B7-BF9D-1DB2-9645-C8DC679A4730}"/>
              </a:ext>
            </a:extLst>
          </p:cNvPr>
          <p:cNvSpPr txBox="1"/>
          <p:nvPr/>
        </p:nvSpPr>
        <p:spPr>
          <a:xfrm>
            <a:off x="6417734" y="1599453"/>
            <a:ext cx="577426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noProof="0" dirty="0"/>
              <a:t>One stage </a:t>
            </a:r>
            <a:r>
              <a:rPr lang="en-US" sz="2400" noProof="0" dirty="0"/>
              <a:t>does it all directly: it predicts bounding boxes and classes in one step (ex YOLO)</a:t>
            </a:r>
          </a:p>
          <a:p>
            <a:pPr algn="l"/>
            <a:r>
              <a:rPr lang="en-US" sz="2400" noProof="0" dirty="0">
                <a:sym typeface="Wingdings" panose="05000000000000000000" pitchFamily="2" charset="2"/>
              </a:rPr>
              <a:t> Makes them much faster so more adapted to real time applications</a:t>
            </a:r>
            <a:endParaRPr lang="en-US" sz="2400" noProof="0" dirty="0"/>
          </a:p>
        </p:txBody>
      </p:sp>
    </p:spTree>
    <p:extLst>
      <p:ext uri="{BB962C8B-B14F-4D97-AF65-F5344CB8AC3E}">
        <p14:creationId xmlns:p14="http://schemas.microsoft.com/office/powerpoint/2010/main" val="3611022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D5F4F-3112-02CA-11AD-924D4A85C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E35B1DC-2F33-6375-5D15-E3CEB7B5DF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8266" y="457199"/>
            <a:ext cx="4842934" cy="995364"/>
          </a:xfrm>
        </p:spPr>
        <p:txBody>
          <a:bodyPr>
            <a:normAutofit/>
          </a:bodyPr>
          <a:lstStyle/>
          <a:p>
            <a:r>
              <a:rPr lang="en-US" sz="3200" b="1" i="1" noProof="0" dirty="0"/>
              <a:t>General principle of YOLO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A8B07082-E4C4-B32F-8F0A-4C4FE83511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9468" y="1929658"/>
            <a:ext cx="5737775" cy="4694661"/>
          </a:xfrm>
        </p:spPr>
        <p:txBody>
          <a:bodyPr>
            <a:normAutofit lnSpcReduction="10000"/>
          </a:bodyPr>
          <a:lstStyle/>
          <a:p>
            <a:pPr algn="l"/>
            <a:r>
              <a:rPr lang="en-US" noProof="0" dirty="0"/>
              <a:t>YOLO = You Only Look Once</a:t>
            </a:r>
          </a:p>
          <a:p>
            <a:pPr marL="342900" indent="-342900" algn="l">
              <a:buFont typeface="Wingdings" panose="05000000000000000000" pitchFamily="2" charset="2"/>
              <a:buChar char="à"/>
            </a:pPr>
            <a:r>
              <a:rPr lang="en-US" noProof="0" dirty="0">
                <a:sym typeface="Wingdings" panose="05000000000000000000" pitchFamily="2" charset="2"/>
              </a:rPr>
              <a:t>YOLO processes the whole image in a single forward pass</a:t>
            </a:r>
          </a:p>
          <a:p>
            <a:pPr marL="342900" indent="-342900" algn="l">
              <a:buFont typeface="Wingdings" panose="05000000000000000000" pitchFamily="2" charset="2"/>
              <a:buChar char="à"/>
            </a:pPr>
            <a:endParaRPr lang="en-US" noProof="0" dirty="0">
              <a:sym typeface="Wingdings" panose="05000000000000000000" pitchFamily="2" charset="2"/>
            </a:endParaRPr>
          </a:p>
          <a:p>
            <a:pPr marL="457200" indent="-457200" algn="l">
              <a:buAutoNum type="arabicPeriod"/>
            </a:pPr>
            <a:r>
              <a:rPr lang="en-US" noProof="0" dirty="0">
                <a:sym typeface="Wingdings" panose="05000000000000000000" pitchFamily="2" charset="2"/>
              </a:rPr>
              <a:t>The image is cut into a grid</a:t>
            </a:r>
          </a:p>
          <a:p>
            <a:pPr marL="457200" indent="-457200" algn="l">
              <a:buAutoNum type="arabicPeriod"/>
            </a:pPr>
            <a:r>
              <a:rPr lang="en-US" noProof="0" dirty="0">
                <a:sym typeface="Wingdings" panose="05000000000000000000" pitchFamily="2" charset="2"/>
              </a:rPr>
              <a:t>Each part of the grid is responsible for an item if the item is centered in his part</a:t>
            </a:r>
          </a:p>
          <a:p>
            <a:pPr marL="457200" indent="-457200" algn="l">
              <a:buAutoNum type="arabicPeriod"/>
            </a:pPr>
            <a:r>
              <a:rPr lang="en-US" noProof="0" dirty="0">
                <a:sym typeface="Wingdings" panose="05000000000000000000" pitchFamily="2" charset="2"/>
              </a:rPr>
              <a:t>Then, the bounding box, the confidence score (is there really an object here) and the class probability (car?, dog?, person?, …) are determined</a:t>
            </a:r>
            <a:endParaRPr lang="en-US" noProof="0" dirty="0"/>
          </a:p>
        </p:txBody>
      </p:sp>
      <p:pic>
        <p:nvPicPr>
          <p:cNvPr id="8" name="Picture 2" descr="Tải logo HUST - Đại học Bách khoa Hà Nội vector, PNG">
            <a:extLst>
              <a:ext uri="{FF2B5EF4-FFF2-40B4-BE49-F238E27FC236}">
                <a16:creationId xmlns:a16="http://schemas.microsoft.com/office/drawing/2014/main" id="{B27B4C34-9E88-D254-73FB-2EC3BE0D45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293"/>
          <a:stretch>
            <a:fillRect/>
          </a:stretch>
        </p:blipFill>
        <p:spPr bwMode="auto">
          <a:xfrm>
            <a:off x="9786394" y="681037"/>
            <a:ext cx="1865856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The overflow of YOLO. It starts by dividing the input into grid,... |  Download Scientific Diagram">
            <a:extLst>
              <a:ext uri="{FF2B5EF4-FFF2-40B4-BE49-F238E27FC236}">
                <a16:creationId xmlns:a16="http://schemas.microsoft.com/office/drawing/2014/main" id="{DC6915EB-FB3B-CFEB-D7CD-F16D5A7226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243" y="1697037"/>
            <a:ext cx="6064757" cy="4102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3955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37C92-DFD3-092F-9888-6777CF071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06E65F5-0E77-78B0-310F-DBD06D07D6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8266" y="457199"/>
            <a:ext cx="4842934" cy="995364"/>
          </a:xfrm>
        </p:spPr>
        <p:txBody>
          <a:bodyPr>
            <a:normAutofit/>
          </a:bodyPr>
          <a:lstStyle/>
          <a:p>
            <a:r>
              <a:rPr lang="en-US" sz="3200" b="1" i="1" noProof="0" dirty="0"/>
              <a:t>Anchor boxes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479E543-D166-82E4-7019-BF10094418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1" y="1861925"/>
            <a:ext cx="6153573" cy="2854643"/>
          </a:xfrm>
        </p:spPr>
        <p:txBody>
          <a:bodyPr>
            <a:normAutofit/>
          </a:bodyPr>
          <a:lstStyle/>
          <a:p>
            <a:pPr algn="l"/>
            <a:r>
              <a:rPr lang="en-US" noProof="0" dirty="0"/>
              <a:t>Anchor boxes are predefined reference boxes used to help predict objects with different shapes</a:t>
            </a:r>
          </a:p>
          <a:p>
            <a:pPr algn="l"/>
            <a:r>
              <a:rPr lang="en-US" noProof="0" dirty="0"/>
              <a:t>Ex: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noProof="0" dirty="0"/>
              <a:t>Person </a:t>
            </a:r>
            <a:r>
              <a:rPr lang="en-US" noProof="0" dirty="0">
                <a:sym typeface="Wingdings" panose="05000000000000000000" pitchFamily="2" charset="2"/>
              </a:rPr>
              <a:t> usually tall and narrow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noProof="0" dirty="0">
                <a:sym typeface="Wingdings" panose="05000000000000000000" pitchFamily="2" charset="2"/>
              </a:rPr>
              <a:t>Car  usually wide</a:t>
            </a:r>
          </a:p>
        </p:txBody>
      </p:sp>
      <p:pic>
        <p:nvPicPr>
          <p:cNvPr id="8" name="Picture 2" descr="Tải logo HUST - Đại học Bách khoa Hà Nội vector, PNG">
            <a:extLst>
              <a:ext uri="{FF2B5EF4-FFF2-40B4-BE49-F238E27FC236}">
                <a16:creationId xmlns:a16="http://schemas.microsoft.com/office/drawing/2014/main" id="{A404B53F-55A7-6645-6CB8-756DA1D404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293"/>
          <a:stretch>
            <a:fillRect/>
          </a:stretch>
        </p:blipFill>
        <p:spPr bwMode="auto">
          <a:xfrm>
            <a:off x="9786394" y="681037"/>
            <a:ext cx="1865856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ubtitle 6">
            <a:extLst>
              <a:ext uri="{FF2B5EF4-FFF2-40B4-BE49-F238E27FC236}">
                <a16:creationId xmlns:a16="http://schemas.microsoft.com/office/drawing/2014/main" id="{FE772DEC-345B-9885-2DBC-B4A146D0DD1C}"/>
              </a:ext>
            </a:extLst>
          </p:cNvPr>
          <p:cNvSpPr txBox="1">
            <a:spLocks/>
          </p:cNvSpPr>
          <p:nvPr/>
        </p:nvSpPr>
        <p:spPr>
          <a:xfrm>
            <a:off x="228600" y="4904051"/>
            <a:ext cx="6153573" cy="15507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noProof="0" dirty="0"/>
              <a:t>Instead of predicting a bounding box from zero, the model “cheats” starting with these anchor boxes, adjusting width and height</a:t>
            </a:r>
          </a:p>
        </p:txBody>
      </p:sp>
      <p:pic>
        <p:nvPicPr>
          <p:cNvPr id="6146" name="Picture 2" descr="011 TF YOLO V3 Object Detection in TensorFlow 2.0">
            <a:extLst>
              <a:ext uri="{FF2B5EF4-FFF2-40B4-BE49-F238E27FC236}">
                <a16:creationId xmlns:a16="http://schemas.microsoft.com/office/drawing/2014/main" id="{821AB6EF-B9D6-85E6-58AE-BB86B53D58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243"/>
          <a:stretch>
            <a:fillRect/>
          </a:stretch>
        </p:blipFill>
        <p:spPr bwMode="auto">
          <a:xfrm>
            <a:off x="6382173" y="2089838"/>
            <a:ext cx="5361045" cy="358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4550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91974-1483-9C45-3F8C-1E66E582D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1179008-762C-B213-5E9A-479E1A3CBF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8266" y="457199"/>
            <a:ext cx="4842934" cy="995364"/>
          </a:xfrm>
        </p:spPr>
        <p:txBody>
          <a:bodyPr>
            <a:normAutofit/>
          </a:bodyPr>
          <a:lstStyle/>
          <a:p>
            <a:r>
              <a:rPr lang="en-US" sz="3200" b="1" i="1" noProof="0" dirty="0"/>
              <a:t>YOLOv3 – General architecture</a:t>
            </a:r>
          </a:p>
        </p:txBody>
      </p:sp>
      <p:pic>
        <p:nvPicPr>
          <p:cNvPr id="8" name="Picture 2" descr="Tải logo HUST - Đại học Bách khoa Hà Nội vector, PNG">
            <a:extLst>
              <a:ext uri="{FF2B5EF4-FFF2-40B4-BE49-F238E27FC236}">
                <a16:creationId xmlns:a16="http://schemas.microsoft.com/office/drawing/2014/main" id="{6FE56A99-E9D8-E52E-093C-58A35A759B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293"/>
          <a:stretch>
            <a:fillRect/>
          </a:stretch>
        </p:blipFill>
        <p:spPr bwMode="auto">
          <a:xfrm>
            <a:off x="9786394" y="681037"/>
            <a:ext cx="1865856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ubtitle 1">
            <a:extLst>
              <a:ext uri="{FF2B5EF4-FFF2-40B4-BE49-F238E27FC236}">
                <a16:creationId xmlns:a16="http://schemas.microsoft.com/office/drawing/2014/main" id="{DF0F5A88-968B-B0E7-F28C-1DEE10F237B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72006" y="5200472"/>
            <a:ext cx="499643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800" noProof="0" dirty="0"/>
              <a:t>For </a:t>
            </a:r>
            <a:r>
              <a:rPr lang="en-US" sz="1800" b="1" i="1" noProof="0" dirty="0"/>
              <a:t>YOLOv3</a:t>
            </a:r>
            <a:r>
              <a:rPr lang="en-US" sz="1800" noProof="0" dirty="0"/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800" noProof="0" dirty="0"/>
              <a:t>Backbone: Darknet-53 (53 convolutional layers)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800" noProof="0" dirty="0"/>
              <a:t>Neck: Feature Pyramid Network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800" noProof="0" dirty="0"/>
              <a:t>Head: predictions at three different scales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2C82AB-DF1E-CA97-63AE-E4FD69A8CB77}"/>
              </a:ext>
            </a:extLst>
          </p:cNvPr>
          <p:cNvSpPr txBox="1"/>
          <p:nvPr/>
        </p:nvSpPr>
        <p:spPr>
          <a:xfrm>
            <a:off x="242717" y="1963391"/>
            <a:ext cx="631048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noProof="0" dirty="0"/>
              <a:t>Backbone</a:t>
            </a:r>
            <a:r>
              <a:rPr lang="en-US" noProof="0" dirty="0"/>
              <a:t>: extracts the useful visual information from the image (edges, shapes, </a:t>
            </a:r>
            <a:r>
              <a:rPr lang="en-US" noProof="0" dirty="0" err="1"/>
              <a:t>colours</a:t>
            </a:r>
            <a:r>
              <a:rPr lang="en-US" noProof="0" dirty="0"/>
              <a:t>…).</a:t>
            </a:r>
          </a:p>
          <a:p>
            <a:endParaRPr lang="en-US" noProof="0" dirty="0"/>
          </a:p>
          <a:p>
            <a:r>
              <a:rPr lang="en-US" b="1" i="1" noProof="0" dirty="0"/>
              <a:t>Neck</a:t>
            </a:r>
            <a:r>
              <a:rPr lang="en-US" noProof="0" dirty="0"/>
              <a:t>: reorganize information extracted by the backbone. Essential to detect small and large objects at the same type, by combining detailed information of early layers, and global information from deep layers.</a:t>
            </a:r>
          </a:p>
          <a:p>
            <a:endParaRPr lang="en-US" noProof="0" dirty="0"/>
          </a:p>
          <a:p>
            <a:r>
              <a:rPr lang="en-US" b="1" i="1" noProof="0" dirty="0"/>
              <a:t>Head</a:t>
            </a:r>
            <a:r>
              <a:rPr lang="en-US" noProof="0" dirty="0"/>
              <a:t>: finalizes detection by predicting bounding boxes, confidence scores and classes</a:t>
            </a:r>
          </a:p>
          <a:p>
            <a:endParaRPr lang="en-US" noProof="0" dirty="0"/>
          </a:p>
        </p:txBody>
      </p:sp>
      <p:pic>
        <p:nvPicPr>
          <p:cNvPr id="5123" name="Picture 3" descr="Know your Neural Network architecture more by understanding these terms |  by Megha Shroff | Medium">
            <a:extLst>
              <a:ext uri="{FF2B5EF4-FFF2-40B4-BE49-F238E27FC236}">
                <a16:creationId xmlns:a16="http://schemas.microsoft.com/office/drawing/2014/main" id="{39247DED-C10F-7511-413C-DAA345D54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5403" y="2540118"/>
            <a:ext cx="5716597" cy="2851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3522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C6207-3F61-8E17-7600-791EE90C6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78E89EF-85C5-900C-F595-422293794E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0353" y="166440"/>
            <a:ext cx="5858934" cy="995364"/>
          </a:xfrm>
        </p:spPr>
        <p:txBody>
          <a:bodyPr>
            <a:normAutofit/>
          </a:bodyPr>
          <a:lstStyle/>
          <a:p>
            <a:r>
              <a:rPr lang="en-US" sz="3200" b="1" i="1" noProof="0" dirty="0"/>
              <a:t>YOLOv3: main improvements</a:t>
            </a:r>
          </a:p>
        </p:txBody>
      </p:sp>
      <p:pic>
        <p:nvPicPr>
          <p:cNvPr id="8" name="Picture 2" descr="Tải logo HUST - Đại học Bách khoa Hà Nội vector, PNG">
            <a:extLst>
              <a:ext uri="{FF2B5EF4-FFF2-40B4-BE49-F238E27FC236}">
                <a16:creationId xmlns:a16="http://schemas.microsoft.com/office/drawing/2014/main" id="{AB0F4155-E1BD-4432-0666-1D6D5DF078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293"/>
          <a:stretch>
            <a:fillRect/>
          </a:stretch>
        </p:blipFill>
        <p:spPr bwMode="auto">
          <a:xfrm>
            <a:off x="9786394" y="681037"/>
            <a:ext cx="1865856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315E120-20F6-56EE-7084-0239A23D892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85738" y="2609458"/>
            <a:ext cx="5842882" cy="1985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100" noProof="0" dirty="0"/>
              <a:t>Darknet-53 backbone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100" noProof="0" dirty="0"/>
              <a:t>skip connections inspired by </a:t>
            </a:r>
            <a:r>
              <a:rPr lang="en-US" sz="2100" noProof="0" dirty="0" err="1"/>
              <a:t>ResNet</a:t>
            </a:r>
            <a:endParaRPr lang="en-US" sz="2100" noProof="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100" noProof="0" dirty="0"/>
              <a:t>detection at three scales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100" noProof="0" dirty="0"/>
              <a:t>9 anchor boxes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100" noProof="0" dirty="0"/>
              <a:t>sigmoid instead of </a:t>
            </a:r>
            <a:r>
              <a:rPr lang="en-US" sz="2100" noProof="0" dirty="0" err="1"/>
              <a:t>softmax</a:t>
            </a:r>
            <a:r>
              <a:rPr lang="en-US" sz="2100" noProof="0" dirty="0"/>
              <a:t> for class prediction.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955E6D5-C8AC-37E4-AE7B-9BB4BA5C712B}"/>
              </a:ext>
            </a:extLst>
          </p:cNvPr>
          <p:cNvCxnSpPr>
            <a:cxnSpLocks/>
          </p:cNvCxnSpPr>
          <p:nvPr/>
        </p:nvCxnSpPr>
        <p:spPr>
          <a:xfrm flipH="1">
            <a:off x="4631267" y="2319867"/>
            <a:ext cx="287866" cy="956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3844579-3092-12D3-831B-49BA85C2034A}"/>
              </a:ext>
            </a:extLst>
          </p:cNvPr>
          <p:cNvSpPr txBox="1"/>
          <p:nvPr/>
        </p:nvSpPr>
        <p:spPr>
          <a:xfrm>
            <a:off x="2963333" y="1852641"/>
            <a:ext cx="3911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/>
              <a:t>helps information flow through the network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5A3936C-24E1-7725-1226-A62294FF29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9188174"/>
              </p:ext>
            </p:extLst>
          </p:nvPr>
        </p:nvGraphicFramePr>
        <p:xfrm>
          <a:off x="3774724" y="4793583"/>
          <a:ext cx="1516943" cy="1771714"/>
        </p:xfrm>
        <a:graphic>
          <a:graphicData uri="http://schemas.openxmlformats.org/drawingml/2006/table">
            <a:tbl>
              <a:tblPr/>
              <a:tblGrid>
                <a:gridCol w="763763">
                  <a:extLst>
                    <a:ext uri="{9D8B030D-6E8A-4147-A177-3AD203B41FA5}">
                      <a16:colId xmlns:a16="http://schemas.microsoft.com/office/drawing/2014/main" val="1011328125"/>
                    </a:ext>
                  </a:extLst>
                </a:gridCol>
                <a:gridCol w="753180">
                  <a:extLst>
                    <a:ext uri="{9D8B030D-6E8A-4147-A177-3AD203B41FA5}">
                      <a16:colId xmlns:a16="http://schemas.microsoft.com/office/drawing/2014/main" val="163124255"/>
                    </a:ext>
                  </a:extLst>
                </a:gridCol>
              </a:tblGrid>
              <a:tr h="4883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noProof="0" dirty="0"/>
                        <a:t>Proba-</a:t>
                      </a:r>
                      <a:r>
                        <a:rPr lang="en-US" sz="1400" noProof="0" dirty="0" err="1"/>
                        <a:t>bility</a:t>
                      </a:r>
                      <a:endParaRPr lang="en-US" sz="1400" noProof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8637447"/>
                  </a:ext>
                </a:extLst>
              </a:tr>
              <a:tr h="321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person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noProof="0" dirty="0"/>
                        <a:t>0.80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4159869"/>
                  </a:ext>
                </a:extLst>
              </a:tr>
              <a:tr h="321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woman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noProof="0" dirty="0"/>
                        <a:t>0.15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3477594"/>
                  </a:ext>
                </a:extLst>
              </a:tr>
              <a:tr h="287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dog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noProof="0" dirty="0"/>
                        <a:t>0.03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2809419"/>
                  </a:ext>
                </a:extLst>
              </a:tr>
              <a:tr h="287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car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noProof="0" dirty="0"/>
                        <a:t>0.02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7397308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44084EF-78B0-CB56-9C98-A397172E657D}"/>
              </a:ext>
            </a:extLst>
          </p:cNvPr>
          <p:cNvCxnSpPr>
            <a:cxnSpLocks/>
          </p:cNvCxnSpPr>
          <p:nvPr/>
        </p:nvCxnSpPr>
        <p:spPr>
          <a:xfrm>
            <a:off x="3293533" y="4612485"/>
            <a:ext cx="481191" cy="2558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0101F15-0321-24F0-ABD3-11B04908DC8B}"/>
              </a:ext>
            </a:extLst>
          </p:cNvPr>
          <p:cNvSpPr txBox="1"/>
          <p:nvPr/>
        </p:nvSpPr>
        <p:spPr>
          <a:xfrm>
            <a:off x="4064002" y="6556403"/>
            <a:ext cx="13038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1" noProof="0" dirty="0"/>
              <a:t>Sum = 1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C723D75-4A76-BFBF-33BF-F952ACC16FD0}"/>
              </a:ext>
            </a:extLst>
          </p:cNvPr>
          <p:cNvCxnSpPr>
            <a:cxnSpLocks/>
          </p:cNvCxnSpPr>
          <p:nvPr/>
        </p:nvCxnSpPr>
        <p:spPr>
          <a:xfrm>
            <a:off x="948266" y="4566176"/>
            <a:ext cx="481191" cy="2558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0F21A145-15FA-B5C8-DB39-6B381C5333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956547"/>
              </p:ext>
            </p:extLst>
          </p:nvPr>
        </p:nvGraphicFramePr>
        <p:xfrm>
          <a:off x="600353" y="4740409"/>
          <a:ext cx="1547098" cy="1737360"/>
        </p:xfrm>
        <a:graphic>
          <a:graphicData uri="http://schemas.openxmlformats.org/drawingml/2006/table">
            <a:tbl>
              <a:tblPr/>
              <a:tblGrid>
                <a:gridCol w="773549">
                  <a:extLst>
                    <a:ext uri="{9D8B030D-6E8A-4147-A177-3AD203B41FA5}">
                      <a16:colId xmlns:a16="http://schemas.microsoft.com/office/drawing/2014/main" val="15225741"/>
                    </a:ext>
                  </a:extLst>
                </a:gridCol>
                <a:gridCol w="773549">
                  <a:extLst>
                    <a:ext uri="{9D8B030D-6E8A-4147-A177-3AD203B41FA5}">
                      <a16:colId xmlns:a16="http://schemas.microsoft.com/office/drawing/2014/main" val="589572721"/>
                    </a:ext>
                  </a:extLst>
                </a:gridCol>
              </a:tblGrid>
              <a:tr h="396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noProof="0" dirty="0"/>
                        <a:t>probability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306424"/>
                  </a:ext>
                </a:extLst>
              </a:tr>
              <a:tr h="233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person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noProof="0" dirty="0"/>
                        <a:t>0.92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923405"/>
                  </a:ext>
                </a:extLst>
              </a:tr>
              <a:tr h="233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woman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noProof="0" dirty="0"/>
                        <a:t>0.87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2066242"/>
                  </a:ext>
                </a:extLst>
              </a:tr>
              <a:tr h="233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dog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noProof="0" dirty="0"/>
                        <a:t>0.04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1505877"/>
                  </a:ext>
                </a:extLst>
              </a:tr>
              <a:tr h="233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car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noProof="0" dirty="0"/>
                        <a:t>0.02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868427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D3140957-7D6F-626A-677F-C9B5685D9C3E}"/>
              </a:ext>
            </a:extLst>
          </p:cNvPr>
          <p:cNvSpPr txBox="1"/>
          <p:nvPr/>
        </p:nvSpPr>
        <p:spPr>
          <a:xfrm>
            <a:off x="843584" y="6477769"/>
            <a:ext cx="13038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1" noProof="0" dirty="0"/>
              <a:t>Sum &gt; 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F64D80-3A6E-C800-90F4-17AE3BFE7809}"/>
              </a:ext>
            </a:extLst>
          </p:cNvPr>
          <p:cNvSpPr txBox="1"/>
          <p:nvPr/>
        </p:nvSpPr>
        <p:spPr>
          <a:xfrm>
            <a:off x="7208218" y="5910072"/>
            <a:ext cx="42655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noProof="0" dirty="0"/>
              <a:t>Sigmoid enables multi-label feature : </a:t>
            </a:r>
            <a:r>
              <a:rPr lang="en-US" sz="1800" b="1" noProof="0" dirty="0"/>
              <a:t>Person + Woman</a:t>
            </a:r>
            <a:endParaRPr lang="en-US" b="1" noProof="0" dirty="0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67561E94-D11D-5844-2DE7-35EFA73C2BA4}"/>
              </a:ext>
            </a:extLst>
          </p:cNvPr>
          <p:cNvSpPr/>
          <p:nvPr/>
        </p:nvSpPr>
        <p:spPr>
          <a:xfrm flipV="1">
            <a:off x="6028620" y="6184207"/>
            <a:ext cx="456847" cy="4903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68E8AA-E22D-9D14-FC9B-CF56C0684971}"/>
              </a:ext>
            </a:extLst>
          </p:cNvPr>
          <p:cNvSpPr txBox="1"/>
          <p:nvPr/>
        </p:nvSpPr>
        <p:spPr>
          <a:xfrm>
            <a:off x="4710292" y="132811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/>
              <a:t>Layer 1 → Layer 2 → Layer 3 → Layer 4</a:t>
            </a:r>
          </a:p>
          <a:p>
            <a:r>
              <a:rPr lang="en-US" noProof="0" dirty="0"/>
              <a:t>   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6E30807-0198-F226-C4A9-44F9D9DA59FA}"/>
              </a:ext>
            </a:extLst>
          </p:cNvPr>
          <p:cNvCxnSpPr/>
          <p:nvPr/>
        </p:nvCxnSpPr>
        <p:spPr>
          <a:xfrm>
            <a:off x="5147733" y="1718733"/>
            <a:ext cx="0" cy="1339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290BFEF-FD46-C651-B8CE-B97D6856FF34}"/>
              </a:ext>
            </a:extLst>
          </p:cNvPr>
          <p:cNvCxnSpPr/>
          <p:nvPr/>
        </p:nvCxnSpPr>
        <p:spPr>
          <a:xfrm>
            <a:off x="5156200" y="1852641"/>
            <a:ext cx="287866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EE9FD3E-FD4F-BBBF-2FF1-3C8883274DED}"/>
              </a:ext>
            </a:extLst>
          </p:cNvPr>
          <p:cNvCxnSpPr/>
          <p:nvPr/>
        </p:nvCxnSpPr>
        <p:spPr>
          <a:xfrm flipV="1">
            <a:off x="8034867" y="1651282"/>
            <a:ext cx="0" cy="2013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568F60AF-58A5-9BB5-B5CC-0BA728EBAF17}"/>
              </a:ext>
            </a:extLst>
          </p:cNvPr>
          <p:cNvSpPr txBox="1"/>
          <p:nvPr/>
        </p:nvSpPr>
        <p:spPr>
          <a:xfrm>
            <a:off x="7054935" y="2120109"/>
            <a:ext cx="42655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noProof="0" dirty="0"/>
              <a:t>This means we reinject not only the result of the last layer, but we can reuse older information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91696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85FF2-53D9-6DCF-E19C-9CEF0CA29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41EADB-89A5-E9DE-A190-6012DEF32C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8266" y="457199"/>
            <a:ext cx="4842934" cy="995364"/>
          </a:xfrm>
        </p:spPr>
        <p:txBody>
          <a:bodyPr>
            <a:normAutofit/>
          </a:bodyPr>
          <a:lstStyle/>
          <a:p>
            <a:r>
              <a:rPr lang="en-US" sz="3200" b="1" i="1" noProof="0" dirty="0"/>
              <a:t>Limitations of YOLOv3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FCA3B6F-5B91-C51C-6253-4B13E42EAE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145454"/>
            <a:ext cx="5791200" cy="4001346"/>
          </a:xfrm>
        </p:spPr>
        <p:txBody>
          <a:bodyPr>
            <a:normAutofit/>
          </a:bodyPr>
          <a:lstStyle/>
          <a:p>
            <a:pPr algn="l"/>
            <a:r>
              <a:rPr lang="en-US" i="1" u="sng" noProof="0" dirty="0"/>
              <a:t>Limitations</a:t>
            </a:r>
            <a:r>
              <a:rPr lang="en-US" noProof="0" dirty="0"/>
              <a:t>:</a:t>
            </a:r>
          </a:p>
          <a:p>
            <a:pPr algn="l"/>
            <a:endParaRPr lang="en-US" noProof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noProof="0" dirty="0"/>
              <a:t>Still struggles with small objects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Difficulty in crowded areas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noProof="0" dirty="0" err="1"/>
              <a:t>Im</a:t>
            </a:r>
            <a:r>
              <a:rPr lang="en-US" dirty="0" err="1"/>
              <a:t>provements</a:t>
            </a:r>
            <a:r>
              <a:rPr lang="en-US" dirty="0"/>
              <a:t> still possible on bounding boxes, training and optimization</a:t>
            </a:r>
            <a:endParaRPr lang="en-US" noProof="0" dirty="0"/>
          </a:p>
        </p:txBody>
      </p:sp>
      <p:pic>
        <p:nvPicPr>
          <p:cNvPr id="8" name="Picture 2" descr="Tải logo HUST - Đại học Bách khoa Hà Nội vector, PNG">
            <a:extLst>
              <a:ext uri="{FF2B5EF4-FFF2-40B4-BE49-F238E27FC236}">
                <a16:creationId xmlns:a16="http://schemas.microsoft.com/office/drawing/2014/main" id="{C6E28D58-7AB3-731B-A785-530512AB47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293"/>
          <a:stretch>
            <a:fillRect/>
          </a:stretch>
        </p:blipFill>
        <p:spPr bwMode="auto">
          <a:xfrm>
            <a:off x="9786394" y="681037"/>
            <a:ext cx="1865856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Detection of Crowd concentrations with YOLOv3">
            <a:extLst>
              <a:ext uri="{FF2B5EF4-FFF2-40B4-BE49-F238E27FC236}">
                <a16:creationId xmlns:a16="http://schemas.microsoft.com/office/drawing/2014/main" id="{F8091245-DB5A-491A-E883-560C443470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240" y="2145454"/>
            <a:ext cx="6539650" cy="3269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5216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D13C4-3D0E-8C0A-9831-580F9C960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21B16C5-E0C1-B935-01C5-5C64E2A8AA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8266" y="457199"/>
            <a:ext cx="5594774" cy="995364"/>
          </a:xfrm>
        </p:spPr>
        <p:txBody>
          <a:bodyPr>
            <a:normAutofit/>
          </a:bodyPr>
          <a:lstStyle/>
          <a:p>
            <a:r>
              <a:rPr lang="fr-FR" sz="3200" b="1" dirty="0"/>
              <a:t>YOLOv4: </a:t>
            </a:r>
            <a:r>
              <a:rPr lang="fr-FR" sz="3200" b="1" dirty="0" err="1"/>
              <a:t>differences</a:t>
            </a:r>
            <a:r>
              <a:rPr lang="fr-FR" sz="3200" b="1" dirty="0"/>
              <a:t> </a:t>
            </a:r>
            <a:r>
              <a:rPr lang="fr-FR" sz="3200" b="1" dirty="0" err="1"/>
              <a:t>with</a:t>
            </a:r>
            <a:r>
              <a:rPr lang="fr-FR" sz="3200" b="1" dirty="0"/>
              <a:t> </a:t>
            </a:r>
            <a:r>
              <a:rPr lang="fr-FR" sz="3200" b="1" dirty="0" err="1"/>
              <a:t>its</a:t>
            </a:r>
            <a:r>
              <a:rPr lang="fr-FR" sz="3200" b="1" dirty="0"/>
              <a:t> </a:t>
            </a:r>
            <a:r>
              <a:rPr lang="fr-FR" sz="3200" b="1" dirty="0" err="1"/>
              <a:t>previous</a:t>
            </a:r>
            <a:r>
              <a:rPr lang="fr-FR" sz="3200" b="1" dirty="0"/>
              <a:t> version</a:t>
            </a:r>
            <a:endParaRPr lang="en-US" sz="3200" b="1" i="1" noProof="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D66B903-EEC7-03E2-C185-F6114922A6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" y="2141325"/>
            <a:ext cx="6153573" cy="1287675"/>
          </a:xfrm>
        </p:spPr>
        <p:txBody>
          <a:bodyPr>
            <a:normAutofit/>
          </a:bodyPr>
          <a:lstStyle/>
          <a:p>
            <a:pPr algn="l"/>
            <a:r>
              <a:rPr lang="en-US" noProof="0" dirty="0"/>
              <a:t>Aims to surpass YOLOv3 with </a:t>
            </a:r>
            <a:r>
              <a:rPr lang="en-US" b="1" noProof="0" dirty="0"/>
              <a:t>better accuracy </a:t>
            </a:r>
            <a:r>
              <a:rPr lang="en-US" noProof="0" dirty="0"/>
              <a:t>through enhancing </a:t>
            </a:r>
            <a:r>
              <a:rPr lang="en-US" i="1" noProof="0" dirty="0"/>
              <a:t>architecture</a:t>
            </a:r>
            <a:r>
              <a:rPr lang="en-US" noProof="0" dirty="0"/>
              <a:t> and </a:t>
            </a:r>
            <a:r>
              <a:rPr lang="en-US" i="1" noProof="0" dirty="0"/>
              <a:t>training techniques</a:t>
            </a:r>
          </a:p>
        </p:txBody>
      </p:sp>
      <p:pic>
        <p:nvPicPr>
          <p:cNvPr id="8" name="Picture 2" descr="Tải logo HUST - Đại học Bách khoa Hà Nội vector, PNG">
            <a:extLst>
              <a:ext uri="{FF2B5EF4-FFF2-40B4-BE49-F238E27FC236}">
                <a16:creationId xmlns:a16="http://schemas.microsoft.com/office/drawing/2014/main" id="{08D0462E-8791-9669-29F1-F243CE7BA8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293"/>
          <a:stretch>
            <a:fillRect/>
          </a:stretch>
        </p:blipFill>
        <p:spPr bwMode="auto">
          <a:xfrm>
            <a:off x="9786394" y="681037"/>
            <a:ext cx="1865856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5">
            <a:extLst>
              <a:ext uri="{FF2B5EF4-FFF2-40B4-BE49-F238E27FC236}">
                <a16:creationId xmlns:a16="http://schemas.microsoft.com/office/drawing/2014/main" id="{39DCDBEF-5E25-D941-C680-A95F2B56F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199" y="4579715"/>
            <a:ext cx="395393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2400" dirty="0"/>
              <a:t>Backbone: CSPDarkNet53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2400" dirty="0"/>
              <a:t>Neck: SPP + PAN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2400" dirty="0"/>
              <a:t>Head: </a:t>
            </a:r>
            <a:r>
              <a:rPr lang="fr-FR" altLang="fr-FR" sz="2400" dirty="0" err="1"/>
              <a:t>similar</a:t>
            </a:r>
            <a:r>
              <a:rPr lang="fr-FR" altLang="fr-FR" sz="2400" dirty="0"/>
              <a:t> to YOLOv3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47666BD-2E04-8C08-4563-E5D03E01BA56}"/>
              </a:ext>
            </a:extLst>
          </p:cNvPr>
          <p:cNvCxnSpPr/>
          <p:nvPr/>
        </p:nvCxnSpPr>
        <p:spPr>
          <a:xfrm flipV="1">
            <a:off x="4326467" y="4072467"/>
            <a:ext cx="1363133" cy="6773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7AF2B74-80BD-C1FB-64BE-D6A78E05AABA}"/>
              </a:ext>
            </a:extLst>
          </p:cNvPr>
          <p:cNvSpPr txBox="1"/>
          <p:nvPr/>
        </p:nvSpPr>
        <p:spPr>
          <a:xfrm>
            <a:off x="5053330" y="3081027"/>
            <a:ext cx="69862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improves feature extraction and reduces unnecessary computation: information flow is divided in 2 branch, one going through layers and the other keeps its information to be merged later</a:t>
            </a:r>
            <a:endParaRPr lang="fr-FR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BE0532F-7C74-F106-E41E-9E8E078BBDAC}"/>
              </a:ext>
            </a:extLst>
          </p:cNvPr>
          <p:cNvCxnSpPr>
            <a:cxnSpLocks/>
          </p:cNvCxnSpPr>
          <p:nvPr/>
        </p:nvCxnSpPr>
        <p:spPr>
          <a:xfrm flipV="1">
            <a:off x="2184400" y="4900503"/>
            <a:ext cx="2971800" cy="1456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E0C852D-CCAF-10F0-324A-9F9FB0A2E02A}"/>
              </a:ext>
            </a:extLst>
          </p:cNvPr>
          <p:cNvSpPr txBox="1"/>
          <p:nvPr/>
        </p:nvSpPr>
        <p:spPr>
          <a:xfrm>
            <a:off x="5460576" y="4224987"/>
            <a:ext cx="67314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helps the model capture context at different spatial scales: the bigger scale sees it’s a car and smaller ones will catch the details. It allows the model to look at both local details and larger surrounding regions.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F4D4FB5-ED73-A2D1-8157-D0FF60F56DA3}"/>
              </a:ext>
            </a:extLst>
          </p:cNvPr>
          <p:cNvCxnSpPr>
            <a:cxnSpLocks/>
          </p:cNvCxnSpPr>
          <p:nvPr/>
        </p:nvCxnSpPr>
        <p:spPr>
          <a:xfrm>
            <a:off x="3126315" y="5200693"/>
            <a:ext cx="2969685" cy="5454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17F818A-56F4-8B88-33AD-9F74F3856776}"/>
              </a:ext>
            </a:extLst>
          </p:cNvPr>
          <p:cNvSpPr txBox="1"/>
          <p:nvPr/>
        </p:nvSpPr>
        <p:spPr>
          <a:xfrm>
            <a:off x="6096000" y="5530632"/>
            <a:ext cx="4191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improves information flow between shallow and deep feature layers: better than YOLOv3 because the flow is </a:t>
            </a:r>
            <a:r>
              <a:rPr lang="en-US" dirty="0" err="1"/>
              <a:t>bidirectionnal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190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686D2-79E6-BFE1-1F7C-94EFD507B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C3A1330-96F8-043F-A749-9A840FE2C6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8266" y="457199"/>
            <a:ext cx="4842934" cy="995364"/>
          </a:xfrm>
        </p:spPr>
        <p:txBody>
          <a:bodyPr>
            <a:normAutofit/>
          </a:bodyPr>
          <a:lstStyle/>
          <a:p>
            <a:r>
              <a:rPr lang="en-US" sz="3200" b="1" i="1" dirty="0"/>
              <a:t>Other improvements of YOLOv4</a:t>
            </a:r>
            <a:endParaRPr lang="en-US" sz="3200" b="1" i="1" noProof="0" dirty="0"/>
          </a:p>
        </p:txBody>
      </p:sp>
      <p:pic>
        <p:nvPicPr>
          <p:cNvPr id="8" name="Picture 2" descr="Tải logo HUST - Đại học Bách khoa Hà Nội vector, PNG">
            <a:extLst>
              <a:ext uri="{FF2B5EF4-FFF2-40B4-BE49-F238E27FC236}">
                <a16:creationId xmlns:a16="http://schemas.microsoft.com/office/drawing/2014/main" id="{08DD1C02-1BA6-93C0-C130-7168E53411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293"/>
          <a:stretch>
            <a:fillRect/>
          </a:stretch>
        </p:blipFill>
        <p:spPr bwMode="auto">
          <a:xfrm>
            <a:off x="9786394" y="681037"/>
            <a:ext cx="1865856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84C091E-AF88-FBC4-2CC8-216BA727D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899" y="2497169"/>
            <a:ext cx="5251027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2000" dirty="0"/>
              <a:t>Many </a:t>
            </a:r>
            <a:r>
              <a:rPr lang="fr-FR" altLang="fr-FR" sz="2000" dirty="0" err="1"/>
              <a:t>other</a:t>
            </a:r>
            <a:r>
              <a:rPr lang="fr-FR" altLang="fr-FR" sz="2000" dirty="0"/>
              <a:t> techniques </a:t>
            </a:r>
            <a:r>
              <a:rPr lang="fr-FR" altLang="fr-FR" sz="2000" dirty="0" err="1"/>
              <a:t>implemented</a:t>
            </a:r>
            <a:r>
              <a:rPr lang="fr-FR" altLang="fr-FR" sz="2000" dirty="0"/>
              <a:t> </a:t>
            </a:r>
            <a:r>
              <a:rPr lang="fr-FR" altLang="fr-FR" sz="2000" dirty="0" err="1"/>
              <a:t>such</a:t>
            </a:r>
            <a:r>
              <a:rPr lang="fr-FR" altLang="fr-FR" sz="2000" dirty="0"/>
              <a:t> as: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altLang="fr-FR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2000" dirty="0"/>
              <a:t>Mosaic Augmentation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2000" dirty="0" err="1"/>
              <a:t>DropBlock</a:t>
            </a:r>
            <a:endParaRPr lang="fr-FR" altLang="fr-FR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2000" dirty="0"/>
              <a:t>Label </a:t>
            </a:r>
            <a:r>
              <a:rPr lang="fr-FR" altLang="fr-FR" sz="2000" dirty="0" err="1"/>
              <a:t>Smoothing</a:t>
            </a:r>
            <a:endParaRPr lang="fr-FR" altLang="fr-FR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2000" dirty="0"/>
              <a:t>Self-</a:t>
            </a:r>
            <a:r>
              <a:rPr lang="fr-FR" altLang="fr-FR" sz="2000" dirty="0" err="1"/>
              <a:t>Adversarial</a:t>
            </a:r>
            <a:r>
              <a:rPr lang="fr-FR" altLang="fr-FR" sz="2000" dirty="0"/>
              <a:t> Training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2000" dirty="0"/>
              <a:t>CIoU Loss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2000" dirty="0" err="1"/>
              <a:t>better</a:t>
            </a:r>
            <a:r>
              <a:rPr lang="fr-FR" altLang="fr-FR" sz="2000" dirty="0"/>
              <a:t> </a:t>
            </a:r>
            <a:r>
              <a:rPr lang="fr-FR" altLang="fr-FR" sz="2000" dirty="0" err="1"/>
              <a:t>hyperparameter</a:t>
            </a:r>
            <a:r>
              <a:rPr lang="fr-FR" altLang="fr-FR" sz="2000" dirty="0"/>
              <a:t> </a:t>
            </a:r>
            <a:r>
              <a:rPr lang="fr-FR" altLang="fr-FR" sz="2000" dirty="0" err="1"/>
              <a:t>optimization</a:t>
            </a:r>
            <a:r>
              <a:rPr lang="fr-FR" altLang="fr-FR" sz="2000" dirty="0"/>
              <a:t>. </a:t>
            </a:r>
          </a:p>
        </p:txBody>
      </p:sp>
      <p:pic>
        <p:nvPicPr>
          <p:cNvPr id="9219" name="Picture 3" descr="YOLO v4 or YOLO v5 or PP-YOLO? | Towards Data Science">
            <a:extLst>
              <a:ext uri="{FF2B5EF4-FFF2-40B4-BE49-F238E27FC236}">
                <a16:creationId xmlns:a16="http://schemas.microsoft.com/office/drawing/2014/main" id="{C20547A4-A393-DFDA-F2F8-EDEAA8E772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4926" y="1737310"/>
            <a:ext cx="6448190" cy="4405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1289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578</Words>
  <Application>Microsoft Office PowerPoint</Application>
  <PresentationFormat>Widescreen</PresentationFormat>
  <Paragraphs>96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Wingdings</vt:lpstr>
      <vt:lpstr>Office Theme</vt:lpstr>
      <vt:lpstr>One stage image detection</vt:lpstr>
      <vt:lpstr>What is object detection ?</vt:lpstr>
      <vt:lpstr>Two stages vs one stage detection</vt:lpstr>
      <vt:lpstr>General principle of YOLO</vt:lpstr>
      <vt:lpstr>Anchor boxes</vt:lpstr>
      <vt:lpstr>YOLOv3 – General architecture</vt:lpstr>
      <vt:lpstr>YOLOv3: main improvements</vt:lpstr>
      <vt:lpstr>Limitations of YOLOv3</vt:lpstr>
      <vt:lpstr>YOLOv4: differences with its previous version</vt:lpstr>
      <vt:lpstr>Other improvements of YOLOv4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Matthieu Giraud - Sauveur (Student at CentraleSupelec)</dc:creator>
  <cp:lastModifiedBy>Matthieu Giraud - Sauveur (Student at CentraleSupelec)</cp:lastModifiedBy>
  <cp:revision>5</cp:revision>
  <dcterms:created xsi:type="dcterms:W3CDTF">2026-05-12T04:15:13Z</dcterms:created>
  <dcterms:modified xsi:type="dcterms:W3CDTF">2026-05-12T07:35:56Z</dcterms:modified>
</cp:coreProperties>
</file>