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92" y="29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7677" y="98552"/>
            <a:ext cx="9979660" cy="452120"/>
          </a:xfrm>
          <a:prstGeom prst="rect">
            <a:avLst/>
          </a:prstGeom>
        </p:spPr>
        <p:txBody>
          <a:bodyPr wrap="square" lIns="0" tIns="0" rIns="0" bIns="0">
            <a:spAutoFit/>
          </a:bodyPr>
          <a:lstStyle>
            <a:lvl1pPr>
              <a:defRPr sz="2800" b="1" i="0">
                <a:solidFill>
                  <a:schemeClr val="bg1"/>
                </a:solidFill>
                <a:latin typeface="Tahoma"/>
                <a:cs typeface="Tahom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6" name="Holder 6"/>
          <p:cNvSpPr>
            <a:spLocks noGrp="1"/>
          </p:cNvSpPr>
          <p:nvPr>
            <p:ph type="sldNum" sz="quarter" idx="7"/>
          </p:nvPr>
        </p:nvSpPr>
        <p:spPr/>
        <p:txBody>
          <a:bodyPr lIns="0" tIns="0" rIns="0" bIns="0"/>
          <a:lstStyle>
            <a:lvl1pPr>
              <a:defRPr sz="1200" b="1" i="0">
                <a:solidFill>
                  <a:srgbClr val="C00000"/>
                </a:solidFill>
                <a:latin typeface="Tahoma"/>
                <a:cs typeface="Tahoma"/>
              </a:defRPr>
            </a:lvl1pPr>
          </a:lstStyle>
          <a:p>
            <a:pPr marL="12700">
              <a:lnSpc>
                <a:spcPct val="100000"/>
              </a:lnSpc>
              <a:spcBef>
                <a:spcPts val="85"/>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bg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6" name="Holder 6"/>
          <p:cNvSpPr>
            <a:spLocks noGrp="1"/>
          </p:cNvSpPr>
          <p:nvPr>
            <p:ph type="sldNum" sz="quarter" idx="7"/>
          </p:nvPr>
        </p:nvSpPr>
        <p:spPr/>
        <p:txBody>
          <a:bodyPr lIns="0" tIns="0" rIns="0" bIns="0"/>
          <a:lstStyle>
            <a:lvl1pPr>
              <a:defRPr sz="1200" b="1" i="0">
                <a:solidFill>
                  <a:srgbClr val="C00000"/>
                </a:solidFill>
                <a:latin typeface="Tahoma"/>
                <a:cs typeface="Tahoma"/>
              </a:defRPr>
            </a:lvl1pPr>
          </a:lstStyle>
          <a:p>
            <a:pPr marL="12700">
              <a:lnSpc>
                <a:spcPct val="100000"/>
              </a:lnSpc>
              <a:spcBef>
                <a:spcPts val="85"/>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bg1"/>
                </a:solidFill>
                <a:latin typeface="Tahoma"/>
                <a:cs typeface="Tahom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7" name="Holder 7"/>
          <p:cNvSpPr>
            <a:spLocks noGrp="1"/>
          </p:cNvSpPr>
          <p:nvPr>
            <p:ph type="sldNum" sz="quarter" idx="7"/>
          </p:nvPr>
        </p:nvSpPr>
        <p:spPr/>
        <p:txBody>
          <a:bodyPr lIns="0" tIns="0" rIns="0" bIns="0"/>
          <a:lstStyle>
            <a:lvl1pPr>
              <a:defRPr sz="1200" b="1" i="0">
                <a:solidFill>
                  <a:srgbClr val="C00000"/>
                </a:solidFill>
                <a:latin typeface="Tahoma"/>
                <a:cs typeface="Tahoma"/>
              </a:defRPr>
            </a:lvl1pPr>
          </a:lstStyle>
          <a:p>
            <a:pPr marL="12700">
              <a:lnSpc>
                <a:spcPct val="100000"/>
              </a:lnSpc>
              <a:spcBef>
                <a:spcPts val="85"/>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bg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5" name="Holder 5"/>
          <p:cNvSpPr>
            <a:spLocks noGrp="1"/>
          </p:cNvSpPr>
          <p:nvPr>
            <p:ph type="sldNum" sz="quarter" idx="7"/>
          </p:nvPr>
        </p:nvSpPr>
        <p:spPr/>
        <p:txBody>
          <a:bodyPr lIns="0" tIns="0" rIns="0" bIns="0"/>
          <a:lstStyle>
            <a:lvl1pPr>
              <a:defRPr sz="1200" b="1" i="0">
                <a:solidFill>
                  <a:srgbClr val="C00000"/>
                </a:solidFill>
                <a:latin typeface="Tahoma"/>
                <a:cs typeface="Tahoma"/>
              </a:defRPr>
            </a:lvl1pPr>
          </a:lstStyle>
          <a:p>
            <a:pPr marL="12700">
              <a:lnSpc>
                <a:spcPct val="100000"/>
              </a:lnSpc>
              <a:spcBef>
                <a:spcPts val="85"/>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4" name="Holder 4"/>
          <p:cNvSpPr>
            <a:spLocks noGrp="1"/>
          </p:cNvSpPr>
          <p:nvPr>
            <p:ph type="sldNum" sz="quarter" idx="7"/>
          </p:nvPr>
        </p:nvSpPr>
        <p:spPr/>
        <p:txBody>
          <a:bodyPr lIns="0" tIns="0" rIns="0" bIns="0"/>
          <a:lstStyle>
            <a:lvl1pPr>
              <a:defRPr sz="1200" b="1" i="0">
                <a:solidFill>
                  <a:srgbClr val="C00000"/>
                </a:solidFill>
                <a:latin typeface="Tahoma"/>
                <a:cs typeface="Tahoma"/>
              </a:defRPr>
            </a:lvl1pPr>
          </a:lstStyle>
          <a:p>
            <a:pPr marL="12700">
              <a:lnSpc>
                <a:spcPct val="100000"/>
              </a:lnSpc>
              <a:spcBef>
                <a:spcPts val="85"/>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651742"/>
          </a:xfrm>
          <a:prstGeom prst="rect">
            <a:avLst/>
          </a:prstGeom>
        </p:spPr>
      </p:pic>
      <p:sp>
        <p:nvSpPr>
          <p:cNvPr id="2" name="Holder 2"/>
          <p:cNvSpPr>
            <a:spLocks noGrp="1"/>
          </p:cNvSpPr>
          <p:nvPr>
            <p:ph type="title"/>
          </p:nvPr>
        </p:nvSpPr>
        <p:spPr>
          <a:xfrm>
            <a:off x="417677" y="98552"/>
            <a:ext cx="11290300" cy="452120"/>
          </a:xfrm>
          <a:prstGeom prst="rect">
            <a:avLst/>
          </a:prstGeom>
        </p:spPr>
        <p:txBody>
          <a:bodyPr wrap="square" lIns="0" tIns="0" rIns="0" bIns="0">
            <a:spAutoFit/>
          </a:bodyPr>
          <a:lstStyle>
            <a:lvl1pPr>
              <a:defRPr sz="2800" b="1" i="0">
                <a:solidFill>
                  <a:schemeClr val="bg1"/>
                </a:solidFill>
                <a:latin typeface="Tahoma"/>
                <a:cs typeface="Tahoma"/>
              </a:defRPr>
            </a:lvl1pPr>
          </a:lstStyle>
          <a:p>
            <a:endParaRPr/>
          </a:p>
        </p:txBody>
      </p:sp>
      <p:sp>
        <p:nvSpPr>
          <p:cNvPr id="3" name="Holder 3"/>
          <p:cNvSpPr>
            <a:spLocks noGrp="1"/>
          </p:cNvSpPr>
          <p:nvPr>
            <p:ph type="body" idx="1"/>
          </p:nvPr>
        </p:nvSpPr>
        <p:spPr>
          <a:xfrm>
            <a:off x="371043" y="2816504"/>
            <a:ext cx="6967855" cy="2583179"/>
          </a:xfrm>
          <a:prstGeom prst="rect">
            <a:avLst/>
          </a:prstGeom>
        </p:spPr>
        <p:txBody>
          <a:bodyPr wrap="square" lIns="0" tIns="0" rIns="0" bIns="0">
            <a:spAutoFit/>
          </a:bodyPr>
          <a:lstStyle>
            <a:lvl1pPr>
              <a:defRPr sz="28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6/5/2026</a:t>
            </a:fld>
            <a:endParaRPr lang="en-US"/>
          </a:p>
        </p:txBody>
      </p:sp>
      <p:sp>
        <p:nvSpPr>
          <p:cNvPr id="6" name="Holder 6"/>
          <p:cNvSpPr>
            <a:spLocks noGrp="1"/>
          </p:cNvSpPr>
          <p:nvPr>
            <p:ph type="sldNum" sz="quarter" idx="7"/>
          </p:nvPr>
        </p:nvSpPr>
        <p:spPr>
          <a:xfrm>
            <a:off x="11618721" y="6527244"/>
            <a:ext cx="240665" cy="208915"/>
          </a:xfrm>
          <a:prstGeom prst="rect">
            <a:avLst/>
          </a:prstGeom>
        </p:spPr>
        <p:txBody>
          <a:bodyPr wrap="square" lIns="0" tIns="0" rIns="0" bIns="0">
            <a:spAutoFit/>
          </a:bodyPr>
          <a:lstStyle>
            <a:lvl1pPr>
              <a:defRPr sz="1200" b="1" i="0">
                <a:solidFill>
                  <a:srgbClr val="C00000"/>
                </a:solidFill>
                <a:latin typeface="Tahoma"/>
                <a:cs typeface="Tahoma"/>
              </a:defRPr>
            </a:lvl1pPr>
          </a:lstStyle>
          <a:p>
            <a:pPr marL="12700">
              <a:lnSpc>
                <a:spcPct val="100000"/>
              </a:lnSpc>
              <a:spcBef>
                <a:spcPts val="85"/>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2.xml"/><Relationship Id="rId4" Type="http://schemas.openxmlformats.org/officeDocument/2006/relationships/image" Target="../media/image33.jpg"/></Relationships>
</file>

<file path=ppt/slides/_rels/slide35.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jp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79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7095" y="0"/>
            <a:ext cx="11805285" cy="6858000"/>
            <a:chOff x="387095" y="0"/>
            <a:chExt cx="11805285" cy="6858000"/>
          </a:xfrm>
        </p:grpSpPr>
        <p:pic>
          <p:nvPicPr>
            <p:cNvPr id="3" name="object 3"/>
            <p:cNvPicPr/>
            <p:nvPr/>
          </p:nvPicPr>
          <p:blipFill>
            <a:blip r:embed="rId2" cstate="print"/>
            <a:stretch>
              <a:fillRect/>
            </a:stretch>
          </p:blipFill>
          <p:spPr>
            <a:xfrm>
              <a:off x="522514" y="0"/>
              <a:ext cx="11669485" cy="6857998"/>
            </a:xfrm>
            <a:prstGeom prst="rect">
              <a:avLst/>
            </a:prstGeom>
          </p:spPr>
        </p:pic>
        <p:pic>
          <p:nvPicPr>
            <p:cNvPr id="4" name="object 4"/>
            <p:cNvPicPr/>
            <p:nvPr/>
          </p:nvPicPr>
          <p:blipFill>
            <a:blip r:embed="rId3" cstate="print"/>
            <a:stretch>
              <a:fillRect/>
            </a:stretch>
          </p:blipFill>
          <p:spPr>
            <a:xfrm>
              <a:off x="387095" y="284988"/>
              <a:ext cx="3174492" cy="1152143"/>
            </a:xfrm>
            <a:prstGeom prst="rect">
              <a:avLst/>
            </a:prstGeom>
          </p:spPr>
        </p:pic>
      </p:grpSp>
      <p:sp>
        <p:nvSpPr>
          <p:cNvPr id="5" name="object 5"/>
          <p:cNvSpPr txBox="1">
            <a:spLocks noGrp="1"/>
          </p:cNvSpPr>
          <p:nvPr>
            <p:ph type="title"/>
          </p:nvPr>
        </p:nvSpPr>
        <p:spPr>
          <a:xfrm>
            <a:off x="465530" y="2161108"/>
            <a:ext cx="8983269" cy="843821"/>
          </a:xfrm>
          <a:prstGeom prst="rect">
            <a:avLst/>
          </a:prstGeom>
        </p:spPr>
        <p:txBody>
          <a:bodyPr vert="horz" wrap="square" lIns="0" tIns="12700" rIns="0" bIns="0" rtlCol="0">
            <a:spAutoFit/>
          </a:bodyPr>
          <a:lstStyle/>
          <a:p>
            <a:pPr marL="12700">
              <a:lnSpc>
                <a:spcPct val="100000"/>
              </a:lnSpc>
              <a:spcBef>
                <a:spcPts val="100"/>
              </a:spcBef>
            </a:pPr>
            <a:r>
              <a:rPr lang="en-US" sz="5400" spc="-10" dirty="0">
                <a:solidFill>
                  <a:srgbClr val="C00000"/>
                </a:solidFill>
              </a:rPr>
              <a:t>IMAGE SEGMENTATION</a:t>
            </a:r>
            <a:endParaRPr sz="5400" dirty="0"/>
          </a:p>
        </p:txBody>
      </p:sp>
      <p:sp>
        <p:nvSpPr>
          <p:cNvPr id="7" name="object 7"/>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2</a:t>
            </a:fld>
            <a:endParaRPr spc="-25" dirty="0"/>
          </a:p>
        </p:txBody>
      </p:sp>
      <p:sp>
        <p:nvSpPr>
          <p:cNvPr id="6" name="object 6"/>
          <p:cNvSpPr txBox="1"/>
          <p:nvPr/>
        </p:nvSpPr>
        <p:spPr>
          <a:xfrm>
            <a:off x="465531" y="3352038"/>
            <a:ext cx="6005195" cy="835660"/>
          </a:xfrm>
          <a:prstGeom prst="rect">
            <a:avLst/>
          </a:prstGeom>
        </p:spPr>
        <p:txBody>
          <a:bodyPr vert="horz" wrap="square" lIns="0" tIns="12065" rIns="0" bIns="0" rtlCol="0">
            <a:spAutoFit/>
          </a:bodyPr>
          <a:lstStyle/>
          <a:p>
            <a:pPr marL="12700">
              <a:lnSpc>
                <a:spcPts val="3190"/>
              </a:lnSpc>
              <a:spcBef>
                <a:spcPts val="95"/>
              </a:spcBef>
            </a:pPr>
            <a:r>
              <a:rPr sz="2800" spc="95" dirty="0">
                <a:solidFill>
                  <a:srgbClr val="C00000"/>
                </a:solidFill>
                <a:latin typeface="Tahoma"/>
                <a:cs typeface="Tahoma"/>
              </a:rPr>
              <a:t>NHD:</a:t>
            </a:r>
            <a:r>
              <a:rPr sz="2800" spc="-105" dirty="0">
                <a:solidFill>
                  <a:srgbClr val="C00000"/>
                </a:solidFill>
                <a:latin typeface="Tahoma"/>
                <a:cs typeface="Tahoma"/>
              </a:rPr>
              <a:t> </a:t>
            </a:r>
            <a:r>
              <a:rPr sz="2800" spc="-85" dirty="0">
                <a:solidFill>
                  <a:srgbClr val="C00000"/>
                </a:solidFill>
                <a:latin typeface="Tahoma"/>
                <a:cs typeface="Tahoma"/>
              </a:rPr>
              <a:t>TS.</a:t>
            </a:r>
            <a:r>
              <a:rPr sz="2800" spc="-100" dirty="0">
                <a:solidFill>
                  <a:srgbClr val="C00000"/>
                </a:solidFill>
                <a:latin typeface="Tahoma"/>
                <a:cs typeface="Tahoma"/>
              </a:rPr>
              <a:t> </a:t>
            </a:r>
            <a:r>
              <a:rPr sz="2800" dirty="0">
                <a:solidFill>
                  <a:srgbClr val="C00000"/>
                </a:solidFill>
                <a:latin typeface="Tahoma"/>
                <a:cs typeface="Tahoma"/>
              </a:rPr>
              <a:t>Nguyễn</a:t>
            </a:r>
            <a:r>
              <a:rPr sz="2800" spc="-100" dirty="0">
                <a:solidFill>
                  <a:srgbClr val="C00000"/>
                </a:solidFill>
                <a:latin typeface="Tahoma"/>
                <a:cs typeface="Tahoma"/>
              </a:rPr>
              <a:t> </a:t>
            </a:r>
            <a:r>
              <a:rPr sz="2800" spc="80" dirty="0">
                <a:solidFill>
                  <a:srgbClr val="C00000"/>
                </a:solidFill>
                <a:latin typeface="Tahoma"/>
                <a:cs typeface="Tahoma"/>
              </a:rPr>
              <a:t>Huy</a:t>
            </a:r>
            <a:r>
              <a:rPr sz="2800" spc="-114" dirty="0">
                <a:solidFill>
                  <a:srgbClr val="C00000"/>
                </a:solidFill>
                <a:latin typeface="Tahoma"/>
                <a:cs typeface="Tahoma"/>
              </a:rPr>
              <a:t> </a:t>
            </a:r>
            <a:r>
              <a:rPr sz="2800" spc="-10" dirty="0">
                <a:solidFill>
                  <a:srgbClr val="C00000"/>
                </a:solidFill>
                <a:latin typeface="Tahoma"/>
                <a:cs typeface="Tahoma"/>
              </a:rPr>
              <a:t>Hoàng</a:t>
            </a:r>
            <a:endParaRPr sz="2800">
              <a:latin typeface="Tahoma"/>
              <a:cs typeface="Tahoma"/>
            </a:endParaRPr>
          </a:p>
          <a:p>
            <a:pPr marL="12700">
              <a:lnSpc>
                <a:spcPts val="3190"/>
              </a:lnSpc>
            </a:pPr>
            <a:r>
              <a:rPr sz="2800" dirty="0">
                <a:solidFill>
                  <a:srgbClr val="C00000"/>
                </a:solidFill>
                <a:latin typeface="Tahoma"/>
                <a:cs typeface="Tahoma"/>
              </a:rPr>
              <a:t>Khoa</a:t>
            </a:r>
            <a:r>
              <a:rPr sz="2800" spc="-130" dirty="0">
                <a:solidFill>
                  <a:srgbClr val="C00000"/>
                </a:solidFill>
                <a:latin typeface="Tahoma"/>
                <a:cs typeface="Tahoma"/>
              </a:rPr>
              <a:t> </a:t>
            </a:r>
            <a:r>
              <a:rPr sz="2800" spc="55" dirty="0">
                <a:solidFill>
                  <a:srgbClr val="C00000"/>
                </a:solidFill>
                <a:latin typeface="Tahoma"/>
                <a:cs typeface="Tahoma"/>
              </a:rPr>
              <a:t>Điện</a:t>
            </a:r>
            <a:r>
              <a:rPr sz="2800" spc="-125" dirty="0">
                <a:solidFill>
                  <a:srgbClr val="C00000"/>
                </a:solidFill>
                <a:latin typeface="Tahoma"/>
                <a:cs typeface="Tahoma"/>
              </a:rPr>
              <a:t> </a:t>
            </a:r>
            <a:r>
              <a:rPr sz="2800" spc="65" dirty="0">
                <a:solidFill>
                  <a:srgbClr val="C00000"/>
                </a:solidFill>
                <a:latin typeface="Tahoma"/>
                <a:cs typeface="Tahoma"/>
              </a:rPr>
              <a:t>tử</a:t>
            </a:r>
            <a:r>
              <a:rPr sz="2800" spc="-145" dirty="0">
                <a:solidFill>
                  <a:srgbClr val="C00000"/>
                </a:solidFill>
                <a:latin typeface="Tahoma"/>
                <a:cs typeface="Tahoma"/>
              </a:rPr>
              <a:t> </a:t>
            </a:r>
            <a:r>
              <a:rPr sz="2800" dirty="0">
                <a:solidFill>
                  <a:srgbClr val="C00000"/>
                </a:solidFill>
                <a:latin typeface="Tahoma"/>
                <a:cs typeface="Tahoma"/>
              </a:rPr>
              <a:t>-</a:t>
            </a:r>
            <a:r>
              <a:rPr sz="2800" spc="-135" dirty="0">
                <a:solidFill>
                  <a:srgbClr val="C00000"/>
                </a:solidFill>
                <a:latin typeface="Tahoma"/>
                <a:cs typeface="Tahoma"/>
              </a:rPr>
              <a:t> </a:t>
            </a:r>
            <a:r>
              <a:rPr sz="2800" dirty="0">
                <a:solidFill>
                  <a:srgbClr val="C00000"/>
                </a:solidFill>
                <a:latin typeface="Tahoma"/>
                <a:cs typeface="Tahoma"/>
              </a:rPr>
              <a:t>Trường</a:t>
            </a:r>
            <a:r>
              <a:rPr sz="2800" spc="-130" dirty="0">
                <a:solidFill>
                  <a:srgbClr val="C00000"/>
                </a:solidFill>
                <a:latin typeface="Tahoma"/>
                <a:cs typeface="Tahoma"/>
              </a:rPr>
              <a:t> </a:t>
            </a:r>
            <a:r>
              <a:rPr sz="2800" spc="55" dirty="0">
                <a:solidFill>
                  <a:srgbClr val="C00000"/>
                </a:solidFill>
                <a:latin typeface="Tahoma"/>
                <a:cs typeface="Tahoma"/>
              </a:rPr>
              <a:t>Điện</a:t>
            </a:r>
            <a:r>
              <a:rPr sz="2800" spc="-125" dirty="0">
                <a:solidFill>
                  <a:srgbClr val="C00000"/>
                </a:solidFill>
                <a:latin typeface="Tahoma"/>
                <a:cs typeface="Tahoma"/>
              </a:rPr>
              <a:t> </a:t>
            </a:r>
            <a:r>
              <a:rPr sz="2800" spc="90" dirty="0">
                <a:solidFill>
                  <a:srgbClr val="C00000"/>
                </a:solidFill>
                <a:latin typeface="Tahoma"/>
                <a:cs typeface="Tahoma"/>
              </a:rPr>
              <a:t>–</a:t>
            </a:r>
            <a:r>
              <a:rPr sz="2800" spc="-125" dirty="0">
                <a:solidFill>
                  <a:srgbClr val="C00000"/>
                </a:solidFill>
                <a:latin typeface="Tahoma"/>
                <a:cs typeface="Tahoma"/>
              </a:rPr>
              <a:t> </a:t>
            </a:r>
            <a:r>
              <a:rPr sz="2800" spc="55" dirty="0">
                <a:solidFill>
                  <a:srgbClr val="C00000"/>
                </a:solidFill>
                <a:latin typeface="Tahoma"/>
                <a:cs typeface="Tahoma"/>
              </a:rPr>
              <a:t>Điện</a:t>
            </a:r>
            <a:r>
              <a:rPr sz="2800" spc="-130" dirty="0">
                <a:solidFill>
                  <a:srgbClr val="C00000"/>
                </a:solidFill>
                <a:latin typeface="Tahoma"/>
                <a:cs typeface="Tahoma"/>
              </a:rPr>
              <a:t> </a:t>
            </a:r>
            <a:r>
              <a:rPr sz="2800" spc="45" dirty="0">
                <a:solidFill>
                  <a:srgbClr val="C00000"/>
                </a:solidFill>
                <a:latin typeface="Tahoma"/>
                <a:cs typeface="Tahoma"/>
              </a:rPr>
              <a:t>tử</a:t>
            </a:r>
            <a:endParaRPr sz="2800">
              <a:latin typeface="Tahoma"/>
              <a:cs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651742"/>
          </a:xfrm>
          <a:prstGeom prst="rect">
            <a:avLst/>
          </a:prstGeom>
        </p:spPr>
      </p:pic>
      <p:sp>
        <p:nvSpPr>
          <p:cNvPr id="3" name="object 3"/>
          <p:cNvSpPr txBox="1"/>
          <p:nvPr/>
        </p:nvSpPr>
        <p:spPr>
          <a:xfrm>
            <a:off x="417677" y="98552"/>
            <a:ext cx="8345323" cy="3118161"/>
          </a:xfrm>
          <a:prstGeom prst="rect">
            <a:avLst/>
          </a:prstGeom>
        </p:spPr>
        <p:txBody>
          <a:bodyPr vert="horz" wrap="square" lIns="0" tIns="12065" rIns="0" bIns="0" rtlCol="0">
            <a:spAutoFit/>
          </a:bodyPr>
          <a:lstStyle/>
          <a:p>
            <a:pPr marL="12700">
              <a:lnSpc>
                <a:spcPct val="100000"/>
              </a:lnSpc>
              <a:spcBef>
                <a:spcPts val="95"/>
              </a:spcBef>
            </a:pPr>
            <a:r>
              <a:rPr lang="en-US" sz="2800" b="1" spc="-100" dirty="0">
                <a:solidFill>
                  <a:srgbClr val="FFFFFF"/>
                </a:solidFill>
                <a:latin typeface="Tahoma"/>
                <a:cs typeface="Tahoma"/>
              </a:rPr>
              <a:t>Content</a:t>
            </a:r>
            <a:endParaRPr sz="2800" dirty="0">
              <a:latin typeface="Tahoma"/>
              <a:cs typeface="Tahoma"/>
            </a:endParaRPr>
          </a:p>
          <a:p>
            <a:pPr>
              <a:lnSpc>
                <a:spcPct val="100000"/>
              </a:lnSpc>
              <a:spcBef>
                <a:spcPts val="710"/>
              </a:spcBef>
            </a:pPr>
            <a:endParaRPr sz="2800" dirty="0">
              <a:latin typeface="Tahoma"/>
              <a:cs typeface="Tahoma"/>
            </a:endParaRPr>
          </a:p>
          <a:p>
            <a:pPr marL="240029" indent="-227329">
              <a:lnSpc>
                <a:spcPct val="100000"/>
              </a:lnSpc>
              <a:buFont typeface="Arial"/>
              <a:buChar char="•"/>
              <a:tabLst>
                <a:tab pos="240029" algn="l"/>
              </a:tabLst>
            </a:pPr>
            <a:r>
              <a:rPr lang="en-US" sz="2800" dirty="0">
                <a:latin typeface="Tahoma"/>
                <a:cs typeface="Tahoma"/>
              </a:rPr>
              <a:t>History of Development</a:t>
            </a:r>
          </a:p>
          <a:p>
            <a:pPr marL="240029" indent="-227329">
              <a:lnSpc>
                <a:spcPct val="100000"/>
              </a:lnSpc>
              <a:buFont typeface="Arial"/>
              <a:buChar char="•"/>
              <a:tabLst>
                <a:tab pos="240029" algn="l"/>
              </a:tabLst>
            </a:pPr>
            <a:r>
              <a:rPr lang="en-US" sz="2800" dirty="0">
                <a:latin typeface="Tahoma"/>
                <a:cs typeface="Tahoma"/>
              </a:rPr>
              <a:t>Classification of Solutions</a:t>
            </a:r>
          </a:p>
          <a:p>
            <a:pPr marL="240029" indent="-227329">
              <a:lnSpc>
                <a:spcPct val="100000"/>
              </a:lnSpc>
              <a:buFont typeface="Arial"/>
              <a:buChar char="•"/>
              <a:tabLst>
                <a:tab pos="240029" algn="l"/>
              </a:tabLst>
            </a:pPr>
            <a:r>
              <a:rPr lang="en-US" sz="2800" dirty="0">
                <a:latin typeface="Tahoma"/>
                <a:cs typeface="Tahoma"/>
              </a:rPr>
              <a:t>Some Popular Solutions Today</a:t>
            </a:r>
          </a:p>
          <a:p>
            <a:pPr marL="240029" indent="-227329">
              <a:lnSpc>
                <a:spcPct val="100000"/>
              </a:lnSpc>
              <a:buFont typeface="Arial"/>
              <a:buChar char="•"/>
              <a:tabLst>
                <a:tab pos="240029" algn="l"/>
              </a:tabLst>
            </a:pPr>
            <a:r>
              <a:rPr lang="en-US" sz="2800" dirty="0">
                <a:latin typeface="Tahoma"/>
                <a:cs typeface="Tahoma"/>
              </a:rPr>
              <a:t>Implementation Trends</a:t>
            </a:r>
          </a:p>
          <a:p>
            <a:pPr marL="240029" indent="-227329">
              <a:lnSpc>
                <a:spcPct val="100000"/>
              </a:lnSpc>
              <a:buFont typeface="Arial"/>
              <a:buChar char="•"/>
              <a:tabLst>
                <a:tab pos="240029" algn="l"/>
              </a:tabLst>
            </a:pPr>
            <a:r>
              <a:rPr lang="en-US" sz="2800" dirty="0">
                <a:latin typeface="Tahoma"/>
                <a:cs typeface="Tahoma"/>
              </a:rPr>
              <a:t>Practical Applications</a:t>
            </a:r>
            <a:endParaRPr sz="2800" dirty="0">
              <a:latin typeface="Tahoma"/>
              <a:cs typeface="Tahoma"/>
            </a:endParaRPr>
          </a:p>
        </p:txBody>
      </p:sp>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3</a:t>
            </a:fld>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676" y="98552"/>
            <a:ext cx="5373523" cy="443070"/>
          </a:xfrm>
          <a:prstGeom prst="rect">
            <a:avLst/>
          </a:prstGeom>
        </p:spPr>
        <p:txBody>
          <a:bodyPr vert="horz" wrap="square" lIns="0" tIns="12065" rIns="0" bIns="0" rtlCol="0">
            <a:spAutoFit/>
          </a:bodyPr>
          <a:lstStyle/>
          <a:p>
            <a:pPr marL="12700">
              <a:lnSpc>
                <a:spcPct val="100000"/>
              </a:lnSpc>
              <a:spcBef>
                <a:spcPts val="95"/>
              </a:spcBef>
            </a:pPr>
            <a:r>
              <a:rPr lang="en-US" spc="-165" dirty="0"/>
              <a:t>History of Development</a:t>
            </a:r>
          </a:p>
        </p:txBody>
      </p:sp>
      <p:sp>
        <p:nvSpPr>
          <p:cNvPr id="3" name="object 3"/>
          <p:cNvSpPr txBox="1"/>
          <p:nvPr/>
        </p:nvSpPr>
        <p:spPr>
          <a:xfrm>
            <a:off x="416458" y="857453"/>
            <a:ext cx="11206480" cy="2656818"/>
          </a:xfrm>
          <a:prstGeom prst="rect">
            <a:avLst/>
          </a:prstGeom>
        </p:spPr>
        <p:txBody>
          <a:bodyPr vert="horz" wrap="square" lIns="0" tIns="60325" rIns="0" bIns="0" rtlCol="0">
            <a:spAutoFit/>
          </a:bodyPr>
          <a:lstStyle/>
          <a:p>
            <a:pPr marL="240029" marR="5080" indent="-227329">
              <a:lnSpc>
                <a:spcPts val="3030"/>
              </a:lnSpc>
              <a:spcBef>
                <a:spcPts val="475"/>
              </a:spcBef>
              <a:buFont typeface="Arial"/>
              <a:buChar char="•"/>
              <a:tabLst>
                <a:tab pos="241300" algn="l"/>
              </a:tabLst>
            </a:pPr>
            <a:r>
              <a:rPr lang="en-US" sz="2400" dirty="0">
                <a:latin typeface="Tahoma"/>
                <a:cs typeface="Tahoma"/>
              </a:rPr>
              <a:t>Before 2000, some commonly used methods in digital image processing were:</a:t>
            </a:r>
          </a:p>
          <a:p>
            <a:pPr marL="12700" marR="5080">
              <a:lnSpc>
                <a:spcPts val="3030"/>
              </a:lnSpc>
              <a:spcBef>
                <a:spcPts val="475"/>
              </a:spcBef>
              <a:tabLst>
                <a:tab pos="241300" algn="l"/>
              </a:tabLst>
            </a:pPr>
            <a:r>
              <a:rPr lang="en-US" sz="2400" dirty="0">
                <a:latin typeface="Tahoma"/>
                <a:cs typeface="Tahoma"/>
              </a:rPr>
              <a:t>        threshold segmentation</a:t>
            </a:r>
          </a:p>
          <a:p>
            <a:pPr marL="12700" marR="5080">
              <a:lnSpc>
                <a:spcPts val="3030"/>
              </a:lnSpc>
              <a:spcBef>
                <a:spcPts val="475"/>
              </a:spcBef>
              <a:tabLst>
                <a:tab pos="241300" algn="l"/>
              </a:tabLst>
            </a:pPr>
            <a:r>
              <a:rPr lang="en-US" sz="2400" dirty="0">
                <a:latin typeface="Tahoma"/>
                <a:cs typeface="Tahoma"/>
              </a:rPr>
              <a:t>        region segmentation</a:t>
            </a:r>
          </a:p>
          <a:p>
            <a:pPr marL="12700" marR="5080">
              <a:lnSpc>
                <a:spcPts val="3030"/>
              </a:lnSpc>
              <a:spcBef>
                <a:spcPts val="475"/>
              </a:spcBef>
              <a:tabLst>
                <a:tab pos="241300" algn="l"/>
              </a:tabLst>
            </a:pPr>
            <a:r>
              <a:rPr lang="en-US" sz="2400" dirty="0">
                <a:latin typeface="Tahoma"/>
                <a:cs typeface="Tahoma"/>
              </a:rPr>
              <a:t>        edge segmentation</a:t>
            </a:r>
          </a:p>
          <a:p>
            <a:pPr marL="12700" marR="5080">
              <a:lnSpc>
                <a:spcPts val="3030"/>
              </a:lnSpc>
              <a:spcBef>
                <a:spcPts val="475"/>
              </a:spcBef>
              <a:tabLst>
                <a:tab pos="241300" algn="l"/>
              </a:tabLst>
            </a:pPr>
            <a:r>
              <a:rPr lang="en-US" sz="2400" dirty="0">
                <a:latin typeface="Tahoma"/>
                <a:cs typeface="Tahoma"/>
              </a:rPr>
              <a:t>        Clustering</a:t>
            </a:r>
          </a:p>
          <a:p>
            <a:pPr marL="240029" marR="5080" indent="-227329">
              <a:lnSpc>
                <a:spcPts val="3030"/>
              </a:lnSpc>
              <a:spcBef>
                <a:spcPts val="475"/>
              </a:spcBef>
              <a:buFont typeface="Arial"/>
              <a:buChar char="•"/>
              <a:tabLst>
                <a:tab pos="241300" algn="l"/>
              </a:tabLst>
            </a:pPr>
            <a:r>
              <a:rPr lang="en-US" sz="2400" dirty="0">
                <a:latin typeface="Tahoma"/>
                <a:cs typeface="Tahoma"/>
              </a:rPr>
              <a:t>Since 2010, the application of neural networks and deep learning has increased.</a:t>
            </a:r>
            <a:endParaRPr sz="2400" dirty="0">
              <a:latin typeface="Tahoma"/>
              <a:cs typeface="Tahoma"/>
            </a:endParaRPr>
          </a:p>
        </p:txBody>
      </p:sp>
      <p:pic>
        <p:nvPicPr>
          <p:cNvPr id="4" name="object 4"/>
          <p:cNvPicPr/>
          <p:nvPr/>
        </p:nvPicPr>
        <p:blipFill>
          <a:blip r:embed="rId2" cstate="print"/>
          <a:stretch>
            <a:fillRect/>
          </a:stretch>
        </p:blipFill>
        <p:spPr>
          <a:xfrm>
            <a:off x="2670048" y="3902964"/>
            <a:ext cx="6656832" cy="2485644"/>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4</a:t>
            </a:fld>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215" dirty="0"/>
              <a:t>Threshold</a:t>
            </a:r>
            <a:r>
              <a:rPr spc="-90" dirty="0"/>
              <a:t> </a:t>
            </a:r>
            <a:r>
              <a:rPr spc="-200" dirty="0"/>
              <a:t>Based</a:t>
            </a:r>
            <a:r>
              <a:rPr spc="-85" dirty="0"/>
              <a:t> </a:t>
            </a:r>
            <a:r>
              <a:rPr spc="-210" dirty="0"/>
              <a:t>Segmentation</a:t>
            </a:r>
          </a:p>
        </p:txBody>
      </p:sp>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5</a:t>
            </a:fld>
            <a:endParaRPr spc="-25" dirty="0"/>
          </a:p>
        </p:txBody>
      </p:sp>
      <p:sp>
        <p:nvSpPr>
          <p:cNvPr id="3" name="object 3"/>
          <p:cNvSpPr txBox="1"/>
          <p:nvPr/>
        </p:nvSpPr>
        <p:spPr>
          <a:xfrm>
            <a:off x="462787" y="1046734"/>
            <a:ext cx="10934065" cy="2626360"/>
          </a:xfrm>
          <a:prstGeom prst="rect">
            <a:avLst/>
          </a:prstGeom>
        </p:spPr>
        <p:txBody>
          <a:bodyPr vert="horz" wrap="square" lIns="0" tIns="60960" rIns="0" bIns="0" rtlCol="0">
            <a:spAutoFit/>
          </a:bodyPr>
          <a:lstStyle/>
          <a:p>
            <a:pPr marL="240029" marR="5080" indent="-227329">
              <a:lnSpc>
                <a:spcPts val="3020"/>
              </a:lnSpc>
              <a:spcBef>
                <a:spcPts val="480"/>
              </a:spcBef>
              <a:buFont typeface="Arial"/>
              <a:buChar char="•"/>
              <a:tabLst>
                <a:tab pos="241300" algn="l"/>
              </a:tabLst>
            </a:pPr>
            <a:r>
              <a:rPr lang="en-US" sz="2800" dirty="0">
                <a:latin typeface="Tahoma"/>
                <a:cs typeface="Tahoma"/>
              </a:rPr>
              <a:t>This method helps create a binary or multi-color image by setting threshold values ​​based on the pixel intensity of the original image.</a:t>
            </a:r>
          </a:p>
          <a:p>
            <a:pPr marL="240029" marR="5080" indent="-227329">
              <a:lnSpc>
                <a:spcPts val="3020"/>
              </a:lnSpc>
              <a:spcBef>
                <a:spcPts val="480"/>
              </a:spcBef>
              <a:buFont typeface="Arial"/>
              <a:buChar char="•"/>
              <a:tabLst>
                <a:tab pos="241300" algn="l"/>
              </a:tabLst>
            </a:pPr>
            <a:r>
              <a:rPr lang="en-US" sz="2800" dirty="0">
                <a:latin typeface="Tahoma"/>
                <a:cs typeface="Tahoma"/>
              </a:rPr>
              <a:t>Thresholding includes techniques such as:</a:t>
            </a:r>
          </a:p>
          <a:p>
            <a:pPr marL="12700" marR="5080">
              <a:lnSpc>
                <a:spcPts val="3020"/>
              </a:lnSpc>
              <a:spcBef>
                <a:spcPts val="480"/>
              </a:spcBef>
              <a:tabLst>
                <a:tab pos="241300" algn="l"/>
              </a:tabLst>
            </a:pPr>
            <a:r>
              <a:rPr lang="en-US" sz="2800" dirty="0">
                <a:latin typeface="Tahoma"/>
                <a:cs typeface="Tahoma"/>
              </a:rPr>
              <a:t>      Global thresholding;</a:t>
            </a:r>
          </a:p>
          <a:p>
            <a:pPr marL="12700" marR="5080">
              <a:lnSpc>
                <a:spcPts val="3020"/>
              </a:lnSpc>
              <a:spcBef>
                <a:spcPts val="480"/>
              </a:spcBef>
              <a:tabLst>
                <a:tab pos="241300" algn="l"/>
              </a:tabLst>
            </a:pPr>
            <a:r>
              <a:rPr lang="en-US" sz="2800" dirty="0">
                <a:latin typeface="Tahoma"/>
                <a:cs typeface="Tahoma"/>
              </a:rPr>
              <a:t>      Manual thresholding;</a:t>
            </a:r>
          </a:p>
          <a:p>
            <a:pPr marL="12700" marR="5080">
              <a:lnSpc>
                <a:spcPts val="3020"/>
              </a:lnSpc>
              <a:spcBef>
                <a:spcPts val="480"/>
              </a:spcBef>
              <a:tabLst>
                <a:tab pos="241300" algn="l"/>
              </a:tabLst>
            </a:pPr>
            <a:r>
              <a:rPr lang="en-US" sz="2800" dirty="0">
                <a:latin typeface="Tahoma"/>
                <a:cs typeface="Tahoma"/>
              </a:rPr>
              <a:t>      Local Adaptive Thresholding.</a:t>
            </a:r>
            <a:endParaRPr sz="2400" dirty="0">
              <a:latin typeface="Tahoma"/>
              <a:cs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215" dirty="0"/>
              <a:t>Threshold</a:t>
            </a:r>
            <a:r>
              <a:rPr spc="-90" dirty="0"/>
              <a:t> </a:t>
            </a:r>
            <a:r>
              <a:rPr spc="-200" dirty="0"/>
              <a:t>Based</a:t>
            </a:r>
            <a:r>
              <a:rPr spc="-85" dirty="0"/>
              <a:t> </a:t>
            </a:r>
            <a:r>
              <a:rPr spc="-210" dirty="0"/>
              <a:t>Segmentation</a:t>
            </a:r>
          </a:p>
        </p:txBody>
      </p:sp>
      <p:sp>
        <p:nvSpPr>
          <p:cNvPr id="3" name="object 3"/>
          <p:cNvSpPr txBox="1"/>
          <p:nvPr/>
        </p:nvSpPr>
        <p:spPr>
          <a:xfrm>
            <a:off x="320751" y="1288745"/>
            <a:ext cx="6555740" cy="2097369"/>
          </a:xfrm>
          <a:prstGeom prst="rect">
            <a:avLst/>
          </a:prstGeom>
        </p:spPr>
        <p:txBody>
          <a:bodyPr vert="horz" wrap="square" lIns="0" tIns="12065" rIns="0" bIns="0" rtlCol="0">
            <a:spAutoFit/>
          </a:bodyPr>
          <a:lstStyle/>
          <a:p>
            <a:pPr marL="240029" indent="-227329">
              <a:lnSpc>
                <a:spcPct val="100000"/>
              </a:lnSpc>
              <a:spcBef>
                <a:spcPts val="95"/>
              </a:spcBef>
              <a:buFont typeface="Arial"/>
              <a:buChar char="•"/>
              <a:tabLst>
                <a:tab pos="240029" algn="l"/>
              </a:tabLst>
            </a:pPr>
            <a:r>
              <a:rPr sz="2800" dirty="0">
                <a:latin typeface="Tahoma"/>
                <a:cs typeface="Tahoma"/>
              </a:rPr>
              <a:t>Phân</a:t>
            </a:r>
            <a:r>
              <a:rPr sz="2800" spc="-160" dirty="0">
                <a:latin typeface="Tahoma"/>
                <a:cs typeface="Tahoma"/>
              </a:rPr>
              <a:t> </a:t>
            </a:r>
            <a:r>
              <a:rPr sz="2800" dirty="0">
                <a:latin typeface="Tahoma"/>
                <a:cs typeface="Tahoma"/>
              </a:rPr>
              <a:t>ngưỡng</a:t>
            </a:r>
            <a:r>
              <a:rPr sz="2800" spc="-175" dirty="0">
                <a:latin typeface="Tahoma"/>
                <a:cs typeface="Tahoma"/>
              </a:rPr>
              <a:t> </a:t>
            </a:r>
            <a:r>
              <a:rPr sz="2800" dirty="0">
                <a:latin typeface="Tahoma"/>
                <a:cs typeface="Tahoma"/>
              </a:rPr>
              <a:t>bao</a:t>
            </a:r>
            <a:r>
              <a:rPr sz="2800" spc="-170" dirty="0">
                <a:latin typeface="Tahoma"/>
                <a:cs typeface="Tahoma"/>
              </a:rPr>
              <a:t> </a:t>
            </a:r>
            <a:r>
              <a:rPr sz="2800" spc="-35" dirty="0">
                <a:latin typeface="Tahoma"/>
                <a:cs typeface="Tahoma"/>
              </a:rPr>
              <a:t>gồm</a:t>
            </a:r>
            <a:r>
              <a:rPr sz="2800" spc="-170" dirty="0">
                <a:latin typeface="Tahoma"/>
                <a:cs typeface="Tahoma"/>
              </a:rPr>
              <a:t> </a:t>
            </a:r>
            <a:r>
              <a:rPr sz="2800" dirty="0">
                <a:latin typeface="Tahoma"/>
                <a:cs typeface="Tahoma"/>
              </a:rPr>
              <a:t>các</a:t>
            </a:r>
            <a:r>
              <a:rPr sz="2800" spc="-165" dirty="0">
                <a:latin typeface="Tahoma"/>
                <a:cs typeface="Tahoma"/>
              </a:rPr>
              <a:t> </a:t>
            </a:r>
            <a:r>
              <a:rPr sz="2800" dirty="0">
                <a:latin typeface="Tahoma"/>
                <a:cs typeface="Tahoma"/>
              </a:rPr>
              <a:t>kỹ</a:t>
            </a:r>
            <a:r>
              <a:rPr sz="2800" spc="-160" dirty="0">
                <a:latin typeface="Tahoma"/>
                <a:cs typeface="Tahoma"/>
              </a:rPr>
              <a:t> </a:t>
            </a:r>
            <a:r>
              <a:rPr sz="2800" dirty="0">
                <a:latin typeface="Tahoma"/>
                <a:cs typeface="Tahoma"/>
              </a:rPr>
              <a:t>thuật</a:t>
            </a:r>
            <a:r>
              <a:rPr sz="2800" spc="-175" dirty="0">
                <a:latin typeface="Tahoma"/>
                <a:cs typeface="Tahoma"/>
              </a:rPr>
              <a:t> </a:t>
            </a:r>
            <a:r>
              <a:rPr sz="2800" spc="-20" dirty="0">
                <a:latin typeface="Tahoma"/>
                <a:cs typeface="Tahoma"/>
              </a:rPr>
              <a:t>như:</a:t>
            </a:r>
            <a:endParaRPr sz="2800" dirty="0">
              <a:latin typeface="Tahoma"/>
              <a:cs typeface="Tahoma"/>
            </a:endParaRPr>
          </a:p>
          <a:p>
            <a:pPr>
              <a:lnSpc>
                <a:spcPct val="100000"/>
              </a:lnSpc>
              <a:spcBef>
                <a:spcPts val="865"/>
              </a:spcBef>
              <a:buFont typeface="Arial"/>
              <a:buChar char="•"/>
            </a:pPr>
            <a:endParaRPr sz="2800" dirty="0">
              <a:latin typeface="Tahoma"/>
              <a:cs typeface="Tahoma"/>
            </a:endParaRPr>
          </a:p>
          <a:p>
            <a:pPr marL="697230" lvl="1" indent="-227329">
              <a:lnSpc>
                <a:spcPct val="100000"/>
              </a:lnSpc>
              <a:buFont typeface="Arial"/>
              <a:buChar char="•"/>
              <a:tabLst>
                <a:tab pos="697230" algn="l"/>
              </a:tabLst>
            </a:pPr>
            <a:r>
              <a:rPr sz="2400" spc="-25" dirty="0">
                <a:latin typeface="Tahoma"/>
                <a:cs typeface="Tahoma"/>
              </a:rPr>
              <a:t>Global</a:t>
            </a:r>
            <a:r>
              <a:rPr sz="2400" spc="-55" dirty="0">
                <a:latin typeface="Tahoma"/>
                <a:cs typeface="Tahoma"/>
              </a:rPr>
              <a:t> </a:t>
            </a:r>
            <a:r>
              <a:rPr lang="en-US" sz="2400" spc="-55" dirty="0">
                <a:latin typeface="Tahoma"/>
                <a:cs typeface="Tahoma"/>
              </a:rPr>
              <a:t>manual </a:t>
            </a:r>
            <a:r>
              <a:rPr sz="2400" spc="-10" dirty="0">
                <a:latin typeface="Tahoma"/>
                <a:cs typeface="Tahoma"/>
              </a:rPr>
              <a:t>thresholding</a:t>
            </a:r>
            <a:endParaRPr lang="en-US" sz="2400" spc="-10" dirty="0">
              <a:latin typeface="Tahoma"/>
              <a:cs typeface="Tahoma"/>
            </a:endParaRPr>
          </a:p>
          <a:p>
            <a:pPr marL="697230" lvl="1" indent="-227329">
              <a:lnSpc>
                <a:spcPct val="100000"/>
              </a:lnSpc>
              <a:buFont typeface="Arial"/>
              <a:buChar char="•"/>
              <a:tabLst>
                <a:tab pos="697230" algn="l"/>
              </a:tabLst>
            </a:pPr>
            <a:endParaRPr lang="en-US" sz="2400" spc="-10" dirty="0">
              <a:latin typeface="Tahoma"/>
              <a:cs typeface="Tahoma"/>
            </a:endParaRPr>
          </a:p>
          <a:p>
            <a:pPr marL="697230" lvl="1" indent="-227329">
              <a:lnSpc>
                <a:spcPct val="100000"/>
              </a:lnSpc>
              <a:buFont typeface="Arial"/>
              <a:buChar char="•"/>
              <a:tabLst>
                <a:tab pos="697230" algn="l"/>
              </a:tabLst>
            </a:pPr>
            <a:r>
              <a:rPr lang="en-US" sz="2400" spc="-50" dirty="0">
                <a:latin typeface="Tahoma"/>
                <a:cs typeface="Tahoma"/>
              </a:rPr>
              <a:t>Local</a:t>
            </a:r>
            <a:r>
              <a:rPr lang="en-US" sz="2400" spc="-40" dirty="0">
                <a:latin typeface="Tahoma"/>
                <a:cs typeface="Tahoma"/>
              </a:rPr>
              <a:t> </a:t>
            </a:r>
            <a:r>
              <a:rPr lang="en-US" sz="2400" dirty="0">
                <a:latin typeface="Tahoma"/>
                <a:cs typeface="Tahoma"/>
              </a:rPr>
              <a:t>Adaptive</a:t>
            </a:r>
            <a:r>
              <a:rPr lang="en-US" sz="2400" spc="-20" dirty="0">
                <a:latin typeface="Tahoma"/>
                <a:cs typeface="Tahoma"/>
              </a:rPr>
              <a:t> </a:t>
            </a:r>
            <a:r>
              <a:rPr lang="en-US" sz="2400" spc="-10" dirty="0">
                <a:latin typeface="Tahoma"/>
                <a:cs typeface="Tahoma"/>
              </a:rPr>
              <a:t>Thresholding</a:t>
            </a:r>
            <a:endParaRPr sz="2400" dirty="0">
              <a:latin typeface="Tahoma"/>
              <a:cs typeface="Tahoma"/>
            </a:endParaRPr>
          </a:p>
        </p:txBody>
      </p:sp>
      <p:pic>
        <p:nvPicPr>
          <p:cNvPr id="4" name="object 4"/>
          <p:cNvPicPr/>
          <p:nvPr/>
        </p:nvPicPr>
        <p:blipFill>
          <a:blip r:embed="rId2" cstate="print"/>
          <a:stretch>
            <a:fillRect/>
          </a:stretch>
        </p:blipFill>
        <p:spPr>
          <a:xfrm>
            <a:off x="7217664" y="1501139"/>
            <a:ext cx="4383024" cy="4808220"/>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6</a:t>
            </a:fld>
            <a:endParaRPr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215" dirty="0"/>
              <a:t>Threshold</a:t>
            </a:r>
            <a:r>
              <a:rPr spc="-90" dirty="0"/>
              <a:t> </a:t>
            </a:r>
            <a:r>
              <a:rPr spc="-200" dirty="0"/>
              <a:t>Based</a:t>
            </a:r>
            <a:r>
              <a:rPr spc="-85" dirty="0"/>
              <a:t> </a:t>
            </a:r>
            <a:r>
              <a:rPr spc="-210" dirty="0"/>
              <a:t>Segmentation</a:t>
            </a:r>
          </a:p>
        </p:txBody>
      </p:sp>
      <p:sp>
        <p:nvSpPr>
          <p:cNvPr id="3" name="object 3"/>
          <p:cNvSpPr txBox="1"/>
          <p:nvPr/>
        </p:nvSpPr>
        <p:spPr>
          <a:xfrm>
            <a:off x="416458" y="924536"/>
            <a:ext cx="11200130" cy="414216"/>
          </a:xfrm>
          <a:prstGeom prst="rect">
            <a:avLst/>
          </a:prstGeom>
        </p:spPr>
        <p:txBody>
          <a:bodyPr vert="horz" wrap="square" lIns="0" tIns="44450" rIns="0" bIns="0" rtlCol="0">
            <a:spAutoFit/>
          </a:bodyPr>
          <a:lstStyle/>
          <a:p>
            <a:pPr marL="12700">
              <a:lnSpc>
                <a:spcPct val="100000"/>
              </a:lnSpc>
              <a:spcBef>
                <a:spcPts val="350"/>
              </a:spcBef>
              <a:tabLst>
                <a:tab pos="240029" algn="l"/>
              </a:tabLst>
            </a:pPr>
            <a:r>
              <a:rPr sz="2400" spc="-10" dirty="0">
                <a:latin typeface="Tahoma"/>
                <a:cs typeface="Tahoma"/>
              </a:rPr>
              <a:t>Manual</a:t>
            </a:r>
            <a:r>
              <a:rPr sz="2400" spc="-125" dirty="0">
                <a:latin typeface="Tahoma"/>
                <a:cs typeface="Tahoma"/>
              </a:rPr>
              <a:t> </a:t>
            </a:r>
            <a:r>
              <a:rPr sz="2400" spc="-40" dirty="0">
                <a:latin typeface="Tahoma"/>
                <a:cs typeface="Tahoma"/>
              </a:rPr>
              <a:t>thresholding</a:t>
            </a:r>
            <a:endParaRPr sz="2400" dirty="0">
              <a:latin typeface="Tahoma"/>
              <a:cs typeface="Tahoma"/>
            </a:endParaRPr>
          </a:p>
        </p:txBody>
      </p:sp>
      <p:pic>
        <p:nvPicPr>
          <p:cNvPr id="4" name="object 4"/>
          <p:cNvPicPr/>
          <p:nvPr/>
        </p:nvPicPr>
        <p:blipFill>
          <a:blip r:embed="rId2" cstate="print"/>
          <a:stretch>
            <a:fillRect/>
          </a:stretch>
        </p:blipFill>
        <p:spPr>
          <a:xfrm>
            <a:off x="2104643" y="2333319"/>
            <a:ext cx="8352143" cy="3647439"/>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7</a:t>
            </a:fld>
            <a:endParaRPr spc="-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215" dirty="0"/>
              <a:t>Threshold</a:t>
            </a:r>
            <a:r>
              <a:rPr spc="-90" dirty="0"/>
              <a:t> </a:t>
            </a:r>
            <a:r>
              <a:rPr spc="-200" dirty="0"/>
              <a:t>Based</a:t>
            </a:r>
            <a:r>
              <a:rPr spc="-85" dirty="0"/>
              <a:t> </a:t>
            </a:r>
            <a:r>
              <a:rPr spc="-210" dirty="0"/>
              <a:t>Segmentation</a:t>
            </a:r>
          </a:p>
        </p:txBody>
      </p:sp>
      <p:sp>
        <p:nvSpPr>
          <p:cNvPr id="3" name="object 3"/>
          <p:cNvSpPr txBox="1"/>
          <p:nvPr/>
        </p:nvSpPr>
        <p:spPr>
          <a:xfrm>
            <a:off x="416458" y="924536"/>
            <a:ext cx="8229600" cy="414216"/>
          </a:xfrm>
          <a:prstGeom prst="rect">
            <a:avLst/>
          </a:prstGeom>
        </p:spPr>
        <p:txBody>
          <a:bodyPr vert="horz" wrap="square" lIns="0" tIns="44450" rIns="0" bIns="0" rtlCol="0">
            <a:spAutoFit/>
          </a:bodyPr>
          <a:lstStyle/>
          <a:p>
            <a:pPr marL="12700">
              <a:lnSpc>
                <a:spcPct val="100000"/>
              </a:lnSpc>
              <a:spcBef>
                <a:spcPts val="350"/>
              </a:spcBef>
              <a:tabLst>
                <a:tab pos="240029" algn="l"/>
              </a:tabLst>
            </a:pPr>
            <a:r>
              <a:rPr sz="2400" spc="-50" dirty="0">
                <a:latin typeface="Tahoma"/>
                <a:cs typeface="Tahoma"/>
              </a:rPr>
              <a:t>Local</a:t>
            </a:r>
            <a:r>
              <a:rPr sz="2400" spc="-40" dirty="0">
                <a:latin typeface="Tahoma"/>
                <a:cs typeface="Tahoma"/>
              </a:rPr>
              <a:t> </a:t>
            </a:r>
            <a:r>
              <a:rPr sz="2400" dirty="0">
                <a:latin typeface="Tahoma"/>
                <a:cs typeface="Tahoma"/>
              </a:rPr>
              <a:t>Adaptive</a:t>
            </a:r>
            <a:r>
              <a:rPr sz="2400" spc="-20" dirty="0">
                <a:latin typeface="Tahoma"/>
                <a:cs typeface="Tahoma"/>
              </a:rPr>
              <a:t> </a:t>
            </a:r>
            <a:r>
              <a:rPr sz="2400" spc="-10" dirty="0">
                <a:latin typeface="Tahoma"/>
                <a:cs typeface="Tahoma"/>
              </a:rPr>
              <a:t>Thresholding</a:t>
            </a:r>
            <a:endParaRPr sz="2400" dirty="0">
              <a:latin typeface="Tahoma"/>
              <a:cs typeface="Tahoma"/>
            </a:endParaRPr>
          </a:p>
        </p:txBody>
      </p:sp>
      <p:pic>
        <p:nvPicPr>
          <p:cNvPr id="4" name="object 4"/>
          <p:cNvPicPr/>
          <p:nvPr/>
        </p:nvPicPr>
        <p:blipFill>
          <a:blip r:embed="rId2" cstate="print"/>
          <a:stretch>
            <a:fillRect/>
          </a:stretch>
        </p:blipFill>
        <p:spPr>
          <a:xfrm>
            <a:off x="1819655" y="1915667"/>
            <a:ext cx="8705921" cy="4392163"/>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6458" y="98552"/>
            <a:ext cx="10807065" cy="1694180"/>
          </a:xfrm>
          <a:prstGeom prst="rect">
            <a:avLst/>
          </a:prstGeom>
        </p:spPr>
        <p:txBody>
          <a:bodyPr vert="horz" wrap="square" lIns="0" tIns="12065" rIns="0" bIns="0" rtlCol="0">
            <a:spAutoFit/>
          </a:bodyPr>
          <a:lstStyle/>
          <a:p>
            <a:pPr marL="13335">
              <a:lnSpc>
                <a:spcPct val="100000"/>
              </a:lnSpc>
              <a:spcBef>
                <a:spcPts val="95"/>
              </a:spcBef>
            </a:pPr>
            <a:r>
              <a:rPr sz="2800" b="1" spc="-215" dirty="0">
                <a:solidFill>
                  <a:srgbClr val="FFFFFF"/>
                </a:solidFill>
                <a:latin typeface="Tahoma"/>
                <a:cs typeface="Tahoma"/>
              </a:rPr>
              <a:t>Threshold</a:t>
            </a:r>
            <a:r>
              <a:rPr sz="2800" b="1" spc="-90" dirty="0">
                <a:solidFill>
                  <a:srgbClr val="FFFFFF"/>
                </a:solidFill>
                <a:latin typeface="Tahoma"/>
                <a:cs typeface="Tahoma"/>
              </a:rPr>
              <a:t> </a:t>
            </a:r>
            <a:r>
              <a:rPr sz="2800" b="1" spc="-200" dirty="0">
                <a:solidFill>
                  <a:srgbClr val="FFFFFF"/>
                </a:solidFill>
                <a:latin typeface="Tahoma"/>
                <a:cs typeface="Tahoma"/>
              </a:rPr>
              <a:t>Based</a:t>
            </a:r>
            <a:r>
              <a:rPr sz="2800" b="1" spc="-85" dirty="0">
                <a:solidFill>
                  <a:srgbClr val="FFFFFF"/>
                </a:solidFill>
                <a:latin typeface="Tahoma"/>
                <a:cs typeface="Tahoma"/>
              </a:rPr>
              <a:t> </a:t>
            </a:r>
            <a:r>
              <a:rPr sz="2800" b="1" spc="-140" dirty="0">
                <a:solidFill>
                  <a:srgbClr val="FFFFFF"/>
                </a:solidFill>
                <a:latin typeface="Tahoma"/>
                <a:cs typeface="Tahoma"/>
              </a:rPr>
              <a:t>Segmentation</a:t>
            </a:r>
            <a:endParaRPr sz="2800" dirty="0">
              <a:latin typeface="Tahoma"/>
              <a:cs typeface="Tahoma"/>
            </a:endParaRPr>
          </a:p>
          <a:p>
            <a:pPr>
              <a:lnSpc>
                <a:spcPct val="100000"/>
              </a:lnSpc>
              <a:spcBef>
                <a:spcPts val="15"/>
              </a:spcBef>
            </a:pPr>
            <a:endParaRPr sz="2800" dirty="0">
              <a:latin typeface="Tahoma"/>
              <a:cs typeface="Tahoma"/>
            </a:endParaRPr>
          </a:p>
          <a:p>
            <a:pPr marL="12700">
              <a:lnSpc>
                <a:spcPts val="3190"/>
              </a:lnSpc>
              <a:spcBef>
                <a:spcPts val="5"/>
              </a:spcBef>
              <a:tabLst>
                <a:tab pos="240029" algn="l"/>
              </a:tabLst>
            </a:pPr>
            <a:r>
              <a:rPr lang="en-US" sz="2800" spc="95" dirty="0">
                <a:latin typeface="Tahoma"/>
                <a:cs typeface="Tahoma"/>
              </a:rPr>
              <a:t>Disadvantages of threshold-based partitioning methods: difficulty in finding the optimal threshold.</a:t>
            </a:r>
            <a:endParaRPr sz="2800" dirty="0">
              <a:latin typeface="Tahoma"/>
              <a:cs typeface="Tahoma"/>
            </a:endParaRPr>
          </a:p>
        </p:txBody>
      </p:sp>
      <p:pic>
        <p:nvPicPr>
          <p:cNvPr id="3" name="object 3"/>
          <p:cNvPicPr/>
          <p:nvPr/>
        </p:nvPicPr>
        <p:blipFill>
          <a:blip r:embed="rId2" cstate="print"/>
          <a:stretch>
            <a:fillRect/>
          </a:stretch>
        </p:blipFill>
        <p:spPr>
          <a:xfrm>
            <a:off x="2717292" y="2185489"/>
            <a:ext cx="6438900" cy="3856755"/>
          </a:xfrm>
          <a:prstGeom prst="rect">
            <a:avLst/>
          </a:prstGeom>
        </p:spPr>
      </p:pic>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9</a:t>
            </a:fld>
            <a:endParaRPr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6458" y="98552"/>
            <a:ext cx="9032342" cy="4466736"/>
          </a:xfrm>
          <a:prstGeom prst="rect">
            <a:avLst/>
          </a:prstGeom>
        </p:spPr>
        <p:txBody>
          <a:bodyPr vert="horz" wrap="square" lIns="0" tIns="12065" rIns="0" bIns="0" rtlCol="0">
            <a:spAutoFit/>
          </a:bodyPr>
          <a:lstStyle/>
          <a:p>
            <a:pPr marL="13335">
              <a:lnSpc>
                <a:spcPct val="100000"/>
              </a:lnSpc>
              <a:spcBef>
                <a:spcPts val="95"/>
              </a:spcBef>
            </a:pPr>
            <a:r>
              <a:rPr sz="2800" b="1" spc="-265" dirty="0">
                <a:solidFill>
                  <a:srgbClr val="FFFFFF"/>
                </a:solidFill>
                <a:latin typeface="Tahoma"/>
                <a:cs typeface="Tahoma"/>
              </a:rPr>
              <a:t>Edge</a:t>
            </a:r>
            <a:r>
              <a:rPr sz="2800" b="1" spc="-130" dirty="0">
                <a:solidFill>
                  <a:srgbClr val="FFFFFF"/>
                </a:solidFill>
                <a:latin typeface="Tahoma"/>
                <a:cs typeface="Tahoma"/>
              </a:rPr>
              <a:t> </a:t>
            </a:r>
            <a:r>
              <a:rPr sz="2800" b="1" spc="-195" dirty="0">
                <a:solidFill>
                  <a:srgbClr val="FFFFFF"/>
                </a:solidFill>
                <a:latin typeface="Tahoma"/>
                <a:cs typeface="Tahoma"/>
              </a:rPr>
              <a:t>Based</a:t>
            </a:r>
            <a:r>
              <a:rPr sz="2800" b="1" spc="-85" dirty="0">
                <a:solidFill>
                  <a:srgbClr val="FFFFFF"/>
                </a:solidFill>
                <a:latin typeface="Tahoma"/>
                <a:cs typeface="Tahoma"/>
              </a:rPr>
              <a:t> </a:t>
            </a:r>
            <a:r>
              <a:rPr sz="2800" b="1" spc="-210" dirty="0">
                <a:solidFill>
                  <a:srgbClr val="FFFFFF"/>
                </a:solidFill>
                <a:latin typeface="Tahoma"/>
                <a:cs typeface="Tahoma"/>
              </a:rPr>
              <a:t>Segmentation</a:t>
            </a:r>
            <a:endParaRPr sz="2800" dirty="0">
              <a:latin typeface="Tahoma"/>
              <a:cs typeface="Tahoma"/>
            </a:endParaRPr>
          </a:p>
          <a:p>
            <a:pPr>
              <a:lnSpc>
                <a:spcPct val="100000"/>
              </a:lnSpc>
              <a:spcBef>
                <a:spcPts val="840"/>
              </a:spcBef>
            </a:pPr>
            <a:endParaRPr sz="2800" dirty="0">
              <a:latin typeface="Tahoma"/>
              <a:cs typeface="Tahoma"/>
            </a:endParaRPr>
          </a:p>
          <a:p>
            <a:pPr marL="240029" marR="3831590" indent="-227329">
              <a:lnSpc>
                <a:spcPct val="90000"/>
              </a:lnSpc>
              <a:buFont typeface="Arial"/>
              <a:buChar char="•"/>
              <a:tabLst>
                <a:tab pos="241300" algn="l"/>
              </a:tabLst>
            </a:pPr>
            <a:r>
              <a:rPr lang="en-US" sz="2800" dirty="0">
                <a:latin typeface="Tahoma"/>
                <a:cs typeface="Tahoma"/>
              </a:rPr>
              <a:t>Edges in an image mark discontinuous areas of grayscale, color, and texture. </a:t>
            </a:r>
          </a:p>
          <a:p>
            <a:pPr marL="240029" marR="3831590" indent="-227329">
              <a:lnSpc>
                <a:spcPct val="90000"/>
              </a:lnSpc>
              <a:buFont typeface="Arial"/>
              <a:buChar char="•"/>
              <a:tabLst>
                <a:tab pos="241300" algn="l"/>
              </a:tabLst>
            </a:pPr>
            <a:r>
              <a:rPr lang="en-US" sz="2800" dirty="0">
                <a:latin typeface="Tahoma"/>
                <a:cs typeface="Tahoma"/>
              </a:rPr>
              <a:t>When moving from one area to another, the grayscale level may change.</a:t>
            </a:r>
          </a:p>
          <a:p>
            <a:pPr marL="240029" marR="3831590" indent="-227329">
              <a:lnSpc>
                <a:spcPct val="90000"/>
              </a:lnSpc>
              <a:buFont typeface="Arial"/>
              <a:buChar char="•"/>
              <a:tabLst>
                <a:tab pos="241300" algn="l"/>
              </a:tabLst>
            </a:pPr>
            <a:r>
              <a:rPr lang="en-US" sz="2800" dirty="0">
                <a:latin typeface="Tahoma"/>
                <a:cs typeface="Tahoma"/>
              </a:rPr>
              <a:t>Edges are often associated with “Gradient" and "Direction".</a:t>
            </a:r>
            <a:endParaRPr sz="2800" dirty="0">
              <a:latin typeface="Tahoma"/>
              <a:cs typeface="Tahoma"/>
            </a:endParaRPr>
          </a:p>
        </p:txBody>
      </p:sp>
      <p:pic>
        <p:nvPicPr>
          <p:cNvPr id="3" name="object 3"/>
          <p:cNvPicPr/>
          <p:nvPr/>
        </p:nvPicPr>
        <p:blipFill>
          <a:blip r:embed="rId2" cstate="print"/>
          <a:stretch>
            <a:fillRect/>
          </a:stretch>
        </p:blipFill>
        <p:spPr>
          <a:xfrm>
            <a:off x="5388865" y="990600"/>
            <a:ext cx="6803135" cy="5058156"/>
          </a:xfrm>
          <a:prstGeom prst="rect">
            <a:avLst/>
          </a:prstGeom>
        </p:spPr>
      </p:pic>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10</a:t>
            </a:fld>
            <a:endParaRPr spc="-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245" dirty="0"/>
              <a:t>Region-</a:t>
            </a:r>
            <a:r>
              <a:rPr spc="-200" dirty="0"/>
              <a:t>Based</a:t>
            </a:r>
            <a:r>
              <a:rPr spc="-50" dirty="0"/>
              <a:t> </a:t>
            </a:r>
            <a:r>
              <a:rPr spc="-210" dirty="0"/>
              <a:t>Segmentation</a:t>
            </a:r>
          </a:p>
        </p:txBody>
      </p:sp>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11</a:t>
            </a:fld>
            <a:endParaRPr spc="-25" dirty="0"/>
          </a:p>
        </p:txBody>
      </p:sp>
      <p:sp>
        <p:nvSpPr>
          <p:cNvPr id="3" name="object 3"/>
          <p:cNvSpPr txBox="1"/>
          <p:nvPr/>
        </p:nvSpPr>
        <p:spPr>
          <a:xfrm>
            <a:off x="416458" y="1018108"/>
            <a:ext cx="11315065" cy="3779881"/>
          </a:xfrm>
          <a:prstGeom prst="rect">
            <a:avLst/>
          </a:prstGeom>
        </p:spPr>
        <p:txBody>
          <a:bodyPr vert="horz" wrap="square" lIns="0" tIns="60325" rIns="0" bIns="0" rtlCol="0">
            <a:spAutoFit/>
          </a:bodyPr>
          <a:lstStyle/>
          <a:p>
            <a:pPr marL="240029" marR="5080" indent="-227329">
              <a:lnSpc>
                <a:spcPts val="3030"/>
              </a:lnSpc>
              <a:spcBef>
                <a:spcPts val="475"/>
              </a:spcBef>
              <a:buFont typeface="Arial"/>
              <a:buChar char="•"/>
              <a:tabLst>
                <a:tab pos="241300" algn="l"/>
              </a:tabLst>
            </a:pPr>
            <a:r>
              <a:rPr lang="en-US" sz="2800" spc="175" dirty="0">
                <a:latin typeface="Tahoma"/>
                <a:cs typeface="Tahoma"/>
              </a:rPr>
              <a:t>A region can be classified as a group of pixels that are connected and share similar attributes such as intensity, color, etc.</a:t>
            </a:r>
          </a:p>
          <a:p>
            <a:pPr marL="240029" marR="5080" indent="-227329">
              <a:lnSpc>
                <a:spcPts val="3030"/>
              </a:lnSpc>
              <a:spcBef>
                <a:spcPts val="475"/>
              </a:spcBef>
              <a:buFont typeface="Arial"/>
              <a:buChar char="•"/>
              <a:tabLst>
                <a:tab pos="241300" algn="l"/>
              </a:tabLst>
            </a:pPr>
            <a:r>
              <a:rPr lang="en-US" sz="2800" spc="175" dirty="0">
                <a:latin typeface="Tahoma"/>
                <a:cs typeface="Tahoma"/>
              </a:rPr>
              <a:t>In this type of region classification, there are certain predefined rules that pixels must follow to ensure they can be classified into similar pixel regions.</a:t>
            </a:r>
          </a:p>
          <a:p>
            <a:pPr marL="240029" marR="5080" indent="-227329">
              <a:lnSpc>
                <a:spcPts val="3030"/>
              </a:lnSpc>
              <a:spcBef>
                <a:spcPts val="475"/>
              </a:spcBef>
              <a:buFont typeface="Arial"/>
              <a:buChar char="•"/>
              <a:tabLst>
                <a:tab pos="241300" algn="l"/>
              </a:tabLst>
            </a:pPr>
            <a:r>
              <a:rPr lang="en-US" sz="2800" spc="175" dirty="0">
                <a:latin typeface="Tahoma"/>
                <a:cs typeface="Tahoma"/>
              </a:rPr>
              <a:t>There are two main groups of techniques:</a:t>
            </a:r>
          </a:p>
          <a:p>
            <a:pPr marL="12700" marR="5080">
              <a:lnSpc>
                <a:spcPts val="3030"/>
              </a:lnSpc>
              <a:spcBef>
                <a:spcPts val="475"/>
              </a:spcBef>
              <a:tabLst>
                <a:tab pos="241300" algn="l"/>
              </a:tabLst>
            </a:pPr>
            <a:r>
              <a:rPr lang="en-US" sz="2800" spc="175" dirty="0">
                <a:latin typeface="Tahoma"/>
                <a:cs typeface="Tahoma"/>
              </a:rPr>
              <a:t>    Region growing method   </a:t>
            </a:r>
          </a:p>
          <a:p>
            <a:pPr marL="12700" marR="5080">
              <a:lnSpc>
                <a:spcPts val="3030"/>
              </a:lnSpc>
              <a:spcBef>
                <a:spcPts val="475"/>
              </a:spcBef>
              <a:tabLst>
                <a:tab pos="241300" algn="l"/>
              </a:tabLst>
            </a:pPr>
            <a:r>
              <a:rPr lang="en-US" sz="2800" spc="175" dirty="0">
                <a:latin typeface="Tahoma"/>
                <a:cs typeface="Tahoma"/>
              </a:rPr>
              <a:t>    Region splitting and merging method</a:t>
            </a:r>
            <a:endParaRPr sz="2400" dirty="0">
              <a:latin typeface="Tahoma"/>
              <a:cs typeface="Tahom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254" dirty="0"/>
              <a:t>Region</a:t>
            </a:r>
            <a:r>
              <a:rPr spc="-105" dirty="0"/>
              <a:t> </a:t>
            </a:r>
            <a:r>
              <a:rPr spc="-225" dirty="0"/>
              <a:t>growing</a:t>
            </a:r>
            <a:r>
              <a:rPr spc="-110" dirty="0"/>
              <a:t> </a:t>
            </a:r>
            <a:r>
              <a:rPr spc="-200" dirty="0"/>
              <a:t>method</a:t>
            </a:r>
          </a:p>
        </p:txBody>
      </p:sp>
      <p:sp>
        <p:nvSpPr>
          <p:cNvPr id="3" name="object 3"/>
          <p:cNvSpPr txBox="1"/>
          <p:nvPr/>
        </p:nvSpPr>
        <p:spPr>
          <a:xfrm>
            <a:off x="416458" y="1024204"/>
            <a:ext cx="5596890" cy="4140749"/>
          </a:xfrm>
          <a:prstGeom prst="rect">
            <a:avLst/>
          </a:prstGeom>
        </p:spPr>
        <p:txBody>
          <a:bodyPr vert="horz" wrap="square" lIns="0" tIns="48895" rIns="0" bIns="0" rtlCol="0">
            <a:spAutoFit/>
          </a:bodyPr>
          <a:lstStyle/>
          <a:p>
            <a:pPr marL="240029" marR="258445" indent="-227329" algn="just">
              <a:lnSpc>
                <a:spcPct val="90100"/>
              </a:lnSpc>
              <a:spcBef>
                <a:spcPts val="385"/>
              </a:spcBef>
              <a:buFont typeface="Arial"/>
              <a:buChar char="•"/>
              <a:tabLst>
                <a:tab pos="241300" algn="l"/>
              </a:tabLst>
            </a:pPr>
            <a:r>
              <a:rPr lang="en-US" sz="2400" spc="80" dirty="0">
                <a:latin typeface="Tahoma"/>
                <a:cs typeface="Tahoma"/>
              </a:rPr>
              <a:t>For this technique, we start with a number of pixels as seed pixels and then check adjacent pixels.</a:t>
            </a:r>
          </a:p>
          <a:p>
            <a:pPr marL="240029" marR="258445" indent="-227329" algn="just">
              <a:lnSpc>
                <a:spcPct val="90100"/>
              </a:lnSpc>
              <a:spcBef>
                <a:spcPts val="385"/>
              </a:spcBef>
              <a:buFont typeface="Arial"/>
              <a:buChar char="•"/>
              <a:tabLst>
                <a:tab pos="241300" algn="l"/>
              </a:tabLst>
            </a:pPr>
            <a:r>
              <a:rPr lang="en-US" sz="2400" spc="80" dirty="0">
                <a:latin typeface="Tahoma"/>
                <a:cs typeface="Tahoma"/>
              </a:rPr>
              <a:t>If adjacent pixels follow predefined rules, then that pixel is added to the region of the seed pixel, and the process continues until there are no more similarities.</a:t>
            </a:r>
          </a:p>
          <a:p>
            <a:pPr marL="240029" marR="258445" indent="-227329" algn="just">
              <a:lnSpc>
                <a:spcPct val="90100"/>
              </a:lnSpc>
              <a:spcBef>
                <a:spcPts val="385"/>
              </a:spcBef>
              <a:buFont typeface="Arial"/>
              <a:buChar char="•"/>
              <a:tabLst>
                <a:tab pos="241300" algn="l"/>
              </a:tabLst>
            </a:pPr>
            <a:r>
              <a:rPr lang="en-US" sz="2400" spc="80" dirty="0">
                <a:latin typeface="Tahoma"/>
                <a:cs typeface="Tahoma"/>
              </a:rPr>
              <a:t>This method takes a bottom-up approach. In the case of a growing region, a priority rule can be set as a threshold.</a:t>
            </a:r>
            <a:endParaRPr sz="2400" dirty="0">
              <a:latin typeface="Tahoma"/>
              <a:cs typeface="Tahoma"/>
            </a:endParaRPr>
          </a:p>
        </p:txBody>
      </p:sp>
      <p:pic>
        <p:nvPicPr>
          <p:cNvPr id="4" name="object 4"/>
          <p:cNvPicPr/>
          <p:nvPr/>
        </p:nvPicPr>
        <p:blipFill>
          <a:blip r:embed="rId2" cstate="print"/>
          <a:stretch>
            <a:fillRect/>
          </a:stretch>
        </p:blipFill>
        <p:spPr>
          <a:xfrm>
            <a:off x="6096000" y="1339596"/>
            <a:ext cx="6096000" cy="4774692"/>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12</a:t>
            </a:fld>
            <a:endParaRPr spc="-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254" dirty="0"/>
              <a:t>Region</a:t>
            </a:r>
            <a:r>
              <a:rPr spc="-125" dirty="0"/>
              <a:t> </a:t>
            </a:r>
            <a:r>
              <a:rPr spc="-190" dirty="0"/>
              <a:t>splitting</a:t>
            </a:r>
            <a:r>
              <a:rPr spc="-110" dirty="0"/>
              <a:t> </a:t>
            </a:r>
            <a:r>
              <a:rPr spc="-235" dirty="0"/>
              <a:t>and</a:t>
            </a:r>
            <a:r>
              <a:rPr spc="-100" dirty="0"/>
              <a:t> </a:t>
            </a:r>
            <a:r>
              <a:rPr spc="-245" dirty="0"/>
              <a:t>merging</a:t>
            </a:r>
            <a:r>
              <a:rPr spc="-95" dirty="0"/>
              <a:t> </a:t>
            </a:r>
            <a:r>
              <a:rPr spc="-180" dirty="0"/>
              <a:t>method</a:t>
            </a:r>
          </a:p>
        </p:txBody>
      </p:sp>
      <p:sp>
        <p:nvSpPr>
          <p:cNvPr id="3" name="object 3"/>
          <p:cNvSpPr txBox="1"/>
          <p:nvPr/>
        </p:nvSpPr>
        <p:spPr>
          <a:xfrm>
            <a:off x="416458" y="1024204"/>
            <a:ext cx="5575300" cy="4140749"/>
          </a:xfrm>
          <a:prstGeom prst="rect">
            <a:avLst/>
          </a:prstGeom>
        </p:spPr>
        <p:txBody>
          <a:bodyPr vert="horz" wrap="square" lIns="0" tIns="48895" rIns="0" bIns="0" rtlCol="0">
            <a:spAutoFit/>
          </a:bodyPr>
          <a:lstStyle/>
          <a:p>
            <a:pPr marL="240029" marR="71120" indent="-227329">
              <a:lnSpc>
                <a:spcPct val="90100"/>
              </a:lnSpc>
              <a:spcBef>
                <a:spcPts val="385"/>
              </a:spcBef>
              <a:buFont typeface="Arial"/>
              <a:buChar char="•"/>
              <a:tabLst>
                <a:tab pos="241300" algn="l"/>
              </a:tabLst>
            </a:pPr>
            <a:r>
              <a:rPr lang="en-US" sz="2400" spc="80" dirty="0">
                <a:latin typeface="Tahoma"/>
                <a:cs typeface="Tahoma"/>
              </a:rPr>
              <a:t>For region splitting, the entire initial image is captured as a single area.</a:t>
            </a:r>
          </a:p>
          <a:p>
            <a:pPr marL="240029" marR="71120" indent="-227329">
              <a:lnSpc>
                <a:spcPct val="90100"/>
              </a:lnSpc>
              <a:spcBef>
                <a:spcPts val="385"/>
              </a:spcBef>
              <a:buFont typeface="Arial"/>
              <a:buChar char="•"/>
              <a:tabLst>
                <a:tab pos="241300" algn="l"/>
              </a:tabLst>
            </a:pPr>
            <a:r>
              <a:rPr lang="en-US" sz="2400" spc="80" dirty="0">
                <a:latin typeface="Tahoma"/>
                <a:cs typeface="Tahoma"/>
              </a:rPr>
              <a:t>If it doesn't follow the predefined rules, that area is then divided into multiple regions (usually four quadrants), and the rules continue to be applied to determine whether further splitting is necessary.</a:t>
            </a:r>
          </a:p>
          <a:p>
            <a:pPr marL="240029" marR="71120" indent="-227329">
              <a:lnSpc>
                <a:spcPct val="90100"/>
              </a:lnSpc>
              <a:spcBef>
                <a:spcPts val="385"/>
              </a:spcBef>
              <a:buFont typeface="Arial"/>
              <a:buChar char="•"/>
              <a:tabLst>
                <a:tab pos="241300" algn="l"/>
              </a:tabLst>
            </a:pPr>
            <a:r>
              <a:rPr lang="en-US" sz="2400" spc="80" dirty="0">
                <a:latin typeface="Tahoma"/>
                <a:cs typeface="Tahoma"/>
              </a:rPr>
              <a:t>This process continues until there are no more regions to split, meaning all areas follow the predefined rules.</a:t>
            </a:r>
            <a:endParaRPr sz="2400" dirty="0">
              <a:latin typeface="Tahoma"/>
              <a:cs typeface="Tahoma"/>
            </a:endParaRPr>
          </a:p>
        </p:txBody>
      </p:sp>
      <p:grpSp>
        <p:nvGrpSpPr>
          <p:cNvPr id="4" name="object 4"/>
          <p:cNvGrpSpPr/>
          <p:nvPr/>
        </p:nvGrpSpPr>
        <p:grpSpPr>
          <a:xfrm>
            <a:off x="6140196" y="1699260"/>
            <a:ext cx="5943600" cy="3200400"/>
            <a:chOff x="6140196" y="1699260"/>
            <a:chExt cx="5943600" cy="3200400"/>
          </a:xfrm>
        </p:grpSpPr>
        <p:pic>
          <p:nvPicPr>
            <p:cNvPr id="5" name="object 5"/>
            <p:cNvPicPr/>
            <p:nvPr/>
          </p:nvPicPr>
          <p:blipFill>
            <a:blip r:embed="rId2" cstate="print"/>
            <a:stretch>
              <a:fillRect/>
            </a:stretch>
          </p:blipFill>
          <p:spPr>
            <a:xfrm>
              <a:off x="6140196" y="1699260"/>
              <a:ext cx="5943600" cy="3200400"/>
            </a:xfrm>
            <a:prstGeom prst="rect">
              <a:avLst/>
            </a:prstGeom>
          </p:spPr>
        </p:pic>
        <p:sp>
          <p:nvSpPr>
            <p:cNvPr id="6" name="object 6"/>
            <p:cNvSpPr/>
            <p:nvPr/>
          </p:nvSpPr>
          <p:spPr>
            <a:xfrm>
              <a:off x="7656576" y="4248911"/>
              <a:ext cx="4241800" cy="485140"/>
            </a:xfrm>
            <a:custGeom>
              <a:avLst/>
              <a:gdLst/>
              <a:ahLst/>
              <a:cxnLst/>
              <a:rect l="l" t="t" r="r" b="b"/>
              <a:pathLst>
                <a:path w="4241800" h="485139">
                  <a:moveTo>
                    <a:pt x="4241291" y="0"/>
                  </a:moveTo>
                  <a:lnTo>
                    <a:pt x="0" y="0"/>
                  </a:lnTo>
                  <a:lnTo>
                    <a:pt x="0" y="484631"/>
                  </a:lnTo>
                  <a:lnTo>
                    <a:pt x="4241291" y="484631"/>
                  </a:lnTo>
                  <a:lnTo>
                    <a:pt x="4241291" y="0"/>
                  </a:lnTo>
                  <a:close/>
                </a:path>
              </a:pathLst>
            </a:custGeom>
            <a:solidFill>
              <a:srgbClr val="FFFFFF"/>
            </a:solidFill>
          </p:spPr>
          <p:txBody>
            <a:bodyPr wrap="square" lIns="0" tIns="0" rIns="0" bIns="0" rtlCol="0"/>
            <a:lstStyle/>
            <a:p>
              <a:endParaRPr/>
            </a:p>
          </p:txBody>
        </p:sp>
        <p:sp>
          <p:nvSpPr>
            <p:cNvPr id="7" name="object 7"/>
            <p:cNvSpPr/>
            <p:nvPr/>
          </p:nvSpPr>
          <p:spPr>
            <a:xfrm>
              <a:off x="7656576" y="4248911"/>
              <a:ext cx="4241800" cy="485140"/>
            </a:xfrm>
            <a:custGeom>
              <a:avLst/>
              <a:gdLst/>
              <a:ahLst/>
              <a:cxnLst/>
              <a:rect l="l" t="t" r="r" b="b"/>
              <a:pathLst>
                <a:path w="4241800" h="485139">
                  <a:moveTo>
                    <a:pt x="0" y="484631"/>
                  </a:moveTo>
                  <a:lnTo>
                    <a:pt x="4241291" y="484631"/>
                  </a:lnTo>
                  <a:lnTo>
                    <a:pt x="4241291" y="0"/>
                  </a:lnTo>
                  <a:lnTo>
                    <a:pt x="0" y="0"/>
                  </a:lnTo>
                  <a:lnTo>
                    <a:pt x="0" y="484631"/>
                  </a:lnTo>
                  <a:close/>
                </a:path>
              </a:pathLst>
            </a:custGeom>
            <a:ln w="12700">
              <a:solidFill>
                <a:srgbClr val="FFFFFF"/>
              </a:solidFill>
            </a:ln>
          </p:spPr>
          <p:txBody>
            <a:bodyPr wrap="square" lIns="0" tIns="0" rIns="0" bIns="0" rtlCol="0"/>
            <a:lstStyle/>
            <a:p>
              <a:endParaRPr/>
            </a:p>
          </p:txBody>
        </p:sp>
      </p:grpSp>
      <p:sp>
        <p:nvSpPr>
          <p:cNvPr id="8" name="object 8"/>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13</a:t>
            </a:fld>
            <a:endParaRPr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6458" y="98552"/>
            <a:ext cx="9980930" cy="4854534"/>
          </a:xfrm>
          <a:prstGeom prst="rect">
            <a:avLst/>
          </a:prstGeom>
        </p:spPr>
        <p:txBody>
          <a:bodyPr vert="horz" wrap="square" lIns="0" tIns="12065" rIns="0" bIns="0" rtlCol="0">
            <a:spAutoFit/>
          </a:bodyPr>
          <a:lstStyle/>
          <a:p>
            <a:pPr marL="13335">
              <a:lnSpc>
                <a:spcPct val="100000"/>
              </a:lnSpc>
              <a:spcBef>
                <a:spcPts val="95"/>
              </a:spcBef>
            </a:pPr>
            <a:r>
              <a:rPr sz="2800" b="1" spc="-215" dirty="0">
                <a:solidFill>
                  <a:srgbClr val="FFFFFF"/>
                </a:solidFill>
                <a:latin typeface="Tahoma"/>
                <a:cs typeface="Tahoma"/>
              </a:rPr>
              <a:t>Clustering</a:t>
            </a:r>
            <a:r>
              <a:rPr sz="2800" b="1" spc="-90" dirty="0">
                <a:solidFill>
                  <a:srgbClr val="FFFFFF"/>
                </a:solidFill>
                <a:latin typeface="Tahoma"/>
                <a:cs typeface="Tahoma"/>
              </a:rPr>
              <a:t> </a:t>
            </a:r>
            <a:r>
              <a:rPr sz="2800" b="1" spc="-200" dirty="0">
                <a:solidFill>
                  <a:srgbClr val="FFFFFF"/>
                </a:solidFill>
                <a:latin typeface="Tahoma"/>
                <a:cs typeface="Tahoma"/>
              </a:rPr>
              <a:t>Based</a:t>
            </a:r>
            <a:r>
              <a:rPr sz="2800" b="1" spc="-80" dirty="0">
                <a:solidFill>
                  <a:srgbClr val="FFFFFF"/>
                </a:solidFill>
                <a:latin typeface="Tahoma"/>
                <a:cs typeface="Tahoma"/>
              </a:rPr>
              <a:t> </a:t>
            </a:r>
            <a:r>
              <a:rPr sz="2800" b="1" spc="-204" dirty="0">
                <a:solidFill>
                  <a:srgbClr val="FFFFFF"/>
                </a:solidFill>
                <a:latin typeface="Tahoma"/>
                <a:cs typeface="Tahoma"/>
              </a:rPr>
              <a:t>Segmentation</a:t>
            </a:r>
            <a:endParaRPr sz="2800" dirty="0">
              <a:latin typeface="Tahoma"/>
              <a:cs typeface="Tahoma"/>
            </a:endParaRPr>
          </a:p>
          <a:p>
            <a:pPr>
              <a:lnSpc>
                <a:spcPct val="100000"/>
              </a:lnSpc>
              <a:spcBef>
                <a:spcPts val="840"/>
              </a:spcBef>
            </a:pPr>
            <a:endParaRPr sz="2800" dirty="0">
              <a:latin typeface="Tahoma"/>
              <a:cs typeface="Tahoma"/>
            </a:endParaRPr>
          </a:p>
          <a:p>
            <a:pPr marL="240029" marR="4571365" indent="-227329">
              <a:lnSpc>
                <a:spcPct val="90000"/>
              </a:lnSpc>
              <a:buFont typeface="Arial"/>
              <a:buChar char="•"/>
              <a:tabLst>
                <a:tab pos="241300" algn="l"/>
              </a:tabLst>
            </a:pPr>
            <a:r>
              <a:rPr lang="en-US" sz="2800" dirty="0">
                <a:latin typeface="Tahoma"/>
                <a:cs typeface="Tahoma"/>
              </a:rPr>
              <a:t>Clustering-Based </a:t>
            </a:r>
            <a:r>
              <a:rPr lang="en-US" sz="2800" dirty="0" err="1">
                <a:latin typeface="Tahoma"/>
                <a:cs typeface="Tahoma"/>
              </a:rPr>
              <a:t>SegmentationClustering</a:t>
            </a:r>
            <a:r>
              <a:rPr lang="en-US" sz="2800" dirty="0">
                <a:latin typeface="Tahoma"/>
                <a:cs typeface="Tahoma"/>
              </a:rPr>
              <a:t> is a type of unsupervised machine learning algorithm commonly used in image segmentation.</a:t>
            </a:r>
          </a:p>
          <a:p>
            <a:pPr marL="240029" marR="4571365" indent="-227329">
              <a:lnSpc>
                <a:spcPct val="90000"/>
              </a:lnSpc>
              <a:buFont typeface="Arial"/>
              <a:buChar char="•"/>
              <a:tabLst>
                <a:tab pos="241300" algn="l"/>
              </a:tabLst>
            </a:pPr>
            <a:endParaRPr lang="en-US" sz="2800" dirty="0">
              <a:latin typeface="Tahoma"/>
              <a:cs typeface="Tahoma"/>
            </a:endParaRPr>
          </a:p>
          <a:p>
            <a:pPr marL="240029" marR="4571365" indent="-227329">
              <a:lnSpc>
                <a:spcPct val="90000"/>
              </a:lnSpc>
              <a:buFont typeface="Arial"/>
              <a:buChar char="•"/>
              <a:tabLst>
                <a:tab pos="241300" algn="l"/>
              </a:tabLst>
            </a:pPr>
            <a:r>
              <a:rPr lang="en-US" sz="2800" dirty="0">
                <a:latin typeface="Tahoma"/>
                <a:cs typeface="Tahoma"/>
              </a:rPr>
              <a:t>One of the clustering algorithms frequently applied to image segmentation is </a:t>
            </a:r>
            <a:r>
              <a:rPr lang="en-US" sz="2800" dirty="0" err="1">
                <a:latin typeface="Tahoma"/>
                <a:cs typeface="Tahoma"/>
              </a:rPr>
              <a:t>KMeans</a:t>
            </a:r>
            <a:r>
              <a:rPr lang="en-US" sz="2800" dirty="0">
                <a:latin typeface="Tahoma"/>
                <a:cs typeface="Tahoma"/>
              </a:rPr>
              <a:t> Clustering.</a:t>
            </a:r>
            <a:endParaRPr sz="2800" dirty="0">
              <a:latin typeface="Tahoma"/>
              <a:cs typeface="Tahoma"/>
            </a:endParaRPr>
          </a:p>
        </p:txBody>
      </p:sp>
      <p:pic>
        <p:nvPicPr>
          <p:cNvPr id="3" name="object 3"/>
          <p:cNvPicPr/>
          <p:nvPr/>
        </p:nvPicPr>
        <p:blipFill>
          <a:blip r:embed="rId2" cstate="print"/>
          <a:stretch>
            <a:fillRect/>
          </a:stretch>
        </p:blipFill>
        <p:spPr>
          <a:xfrm>
            <a:off x="6387084" y="1033272"/>
            <a:ext cx="5466588" cy="5269992"/>
          </a:xfrm>
          <a:prstGeom prst="rect">
            <a:avLst/>
          </a:prstGeom>
        </p:spPr>
      </p:pic>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14</a:t>
            </a:fld>
            <a:endParaRPr spc="-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pc="-215" dirty="0"/>
              <a:t>Clustering</a:t>
            </a:r>
            <a:r>
              <a:rPr spc="-90" dirty="0"/>
              <a:t> </a:t>
            </a:r>
            <a:r>
              <a:rPr spc="-200" dirty="0"/>
              <a:t>Based</a:t>
            </a:r>
            <a:r>
              <a:rPr spc="-80" dirty="0"/>
              <a:t> </a:t>
            </a:r>
            <a:r>
              <a:rPr spc="-204" dirty="0"/>
              <a:t>Segmentation</a:t>
            </a:r>
          </a:p>
        </p:txBody>
      </p:sp>
      <p:sp>
        <p:nvSpPr>
          <p:cNvPr id="3" name="object 3"/>
          <p:cNvSpPr txBox="1"/>
          <p:nvPr/>
        </p:nvSpPr>
        <p:spPr>
          <a:xfrm>
            <a:off x="286511" y="914400"/>
            <a:ext cx="11332210" cy="1054776"/>
          </a:xfrm>
          <a:prstGeom prst="rect">
            <a:avLst/>
          </a:prstGeom>
        </p:spPr>
        <p:txBody>
          <a:bodyPr vert="horz" wrap="square" lIns="0" tIns="53975" rIns="0" bIns="0" rtlCol="0">
            <a:spAutoFit/>
          </a:bodyPr>
          <a:lstStyle/>
          <a:p>
            <a:pPr marL="12700" marR="5080">
              <a:lnSpc>
                <a:spcPts val="2590"/>
              </a:lnSpc>
              <a:spcBef>
                <a:spcPts val="425"/>
              </a:spcBef>
              <a:tabLst>
                <a:tab pos="1510665" algn="l"/>
              </a:tabLst>
            </a:pPr>
            <a:r>
              <a:rPr sz="2400" spc="-135" dirty="0">
                <a:solidFill>
                  <a:srgbClr val="111111"/>
                </a:solidFill>
                <a:latin typeface="Arial"/>
                <a:cs typeface="Arial"/>
              </a:rPr>
              <a:t>K-</a:t>
            </a:r>
            <a:r>
              <a:rPr sz="2400" spc="-10" dirty="0">
                <a:solidFill>
                  <a:srgbClr val="111111"/>
                </a:solidFill>
                <a:latin typeface="Arial"/>
                <a:cs typeface="Arial"/>
              </a:rPr>
              <a:t>means</a:t>
            </a:r>
            <a:r>
              <a:rPr lang="en-US" sz="2400" spc="-10" dirty="0">
                <a:solidFill>
                  <a:srgbClr val="111111"/>
                </a:solidFill>
                <a:latin typeface="Arial"/>
                <a:cs typeface="Arial"/>
              </a:rPr>
              <a:t> </a:t>
            </a:r>
            <a:r>
              <a:rPr sz="2400" spc="-10" dirty="0">
                <a:solidFill>
                  <a:srgbClr val="111111"/>
                </a:solidFill>
                <a:latin typeface="Arial"/>
                <a:cs typeface="Arial"/>
              </a:rPr>
              <a:t>:</a:t>
            </a:r>
            <a:r>
              <a:rPr lang="en-US" sz="2400" spc="-10" dirty="0">
                <a:solidFill>
                  <a:srgbClr val="111111"/>
                </a:solidFill>
                <a:latin typeface="Arial"/>
                <a:cs typeface="Arial"/>
              </a:rPr>
              <a:t> The k-means clustering algorithm groups the intensity of pixels in an image into clusters. Then, the value of each pixel is replaced by its centroid to segment the image.</a:t>
            </a:r>
            <a:endParaRPr sz="2400" dirty="0">
              <a:latin typeface="Arial"/>
              <a:cs typeface="Arial"/>
            </a:endParaRPr>
          </a:p>
        </p:txBody>
      </p:sp>
      <p:pic>
        <p:nvPicPr>
          <p:cNvPr id="4" name="object 4"/>
          <p:cNvPicPr/>
          <p:nvPr/>
        </p:nvPicPr>
        <p:blipFill>
          <a:blip r:embed="rId2" cstate="print"/>
          <a:stretch>
            <a:fillRect/>
          </a:stretch>
        </p:blipFill>
        <p:spPr>
          <a:xfrm>
            <a:off x="847344" y="2074164"/>
            <a:ext cx="10497311" cy="3419855"/>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15</a:t>
            </a:fld>
            <a:endParaRPr spc="-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6458" y="98552"/>
            <a:ext cx="11322685" cy="5336076"/>
          </a:xfrm>
          <a:prstGeom prst="rect">
            <a:avLst/>
          </a:prstGeom>
        </p:spPr>
        <p:txBody>
          <a:bodyPr vert="horz" wrap="square" lIns="0" tIns="12065" rIns="0" bIns="0" rtlCol="0">
            <a:spAutoFit/>
          </a:bodyPr>
          <a:lstStyle/>
          <a:p>
            <a:pPr marL="13335">
              <a:lnSpc>
                <a:spcPct val="100000"/>
              </a:lnSpc>
              <a:spcBef>
                <a:spcPts val="95"/>
              </a:spcBef>
            </a:pPr>
            <a:r>
              <a:rPr sz="2800" b="1" spc="-140" dirty="0">
                <a:solidFill>
                  <a:srgbClr val="FFFFFF"/>
                </a:solidFill>
                <a:latin typeface="Tahoma"/>
                <a:cs typeface="Tahoma"/>
              </a:rPr>
              <a:t>Artificial</a:t>
            </a:r>
            <a:r>
              <a:rPr sz="2800" b="1" spc="-60" dirty="0">
                <a:solidFill>
                  <a:srgbClr val="FFFFFF"/>
                </a:solidFill>
                <a:latin typeface="Tahoma"/>
                <a:cs typeface="Tahoma"/>
              </a:rPr>
              <a:t> </a:t>
            </a:r>
            <a:r>
              <a:rPr sz="2800" b="1" spc="-180" dirty="0">
                <a:solidFill>
                  <a:srgbClr val="FFFFFF"/>
                </a:solidFill>
                <a:latin typeface="Tahoma"/>
                <a:cs typeface="Tahoma"/>
              </a:rPr>
              <a:t>Neural</a:t>
            </a:r>
            <a:r>
              <a:rPr sz="2800" b="1" spc="-55" dirty="0">
                <a:solidFill>
                  <a:srgbClr val="FFFFFF"/>
                </a:solidFill>
                <a:latin typeface="Tahoma"/>
                <a:cs typeface="Tahoma"/>
              </a:rPr>
              <a:t> </a:t>
            </a:r>
            <a:r>
              <a:rPr sz="2800" b="1" spc="-165" dirty="0">
                <a:solidFill>
                  <a:srgbClr val="FFFFFF"/>
                </a:solidFill>
                <a:latin typeface="Tahoma"/>
                <a:cs typeface="Tahoma"/>
              </a:rPr>
              <a:t>Network</a:t>
            </a:r>
            <a:r>
              <a:rPr sz="2800" b="1" spc="-55" dirty="0">
                <a:solidFill>
                  <a:srgbClr val="FFFFFF"/>
                </a:solidFill>
                <a:latin typeface="Tahoma"/>
                <a:cs typeface="Tahoma"/>
              </a:rPr>
              <a:t> </a:t>
            </a:r>
            <a:r>
              <a:rPr sz="2800" b="1" spc="-200" dirty="0">
                <a:solidFill>
                  <a:srgbClr val="FFFFFF"/>
                </a:solidFill>
                <a:latin typeface="Tahoma"/>
                <a:cs typeface="Tahoma"/>
              </a:rPr>
              <a:t>Based</a:t>
            </a:r>
            <a:r>
              <a:rPr sz="2800" b="1" spc="-50" dirty="0">
                <a:solidFill>
                  <a:srgbClr val="FFFFFF"/>
                </a:solidFill>
                <a:latin typeface="Tahoma"/>
                <a:cs typeface="Tahoma"/>
              </a:rPr>
              <a:t> </a:t>
            </a:r>
            <a:r>
              <a:rPr sz="2800" b="1" spc="-114" dirty="0">
                <a:solidFill>
                  <a:srgbClr val="FFFFFF"/>
                </a:solidFill>
                <a:latin typeface="Tahoma"/>
                <a:cs typeface="Tahoma"/>
              </a:rPr>
              <a:t>Segmentation</a:t>
            </a:r>
            <a:endParaRPr sz="2800" dirty="0">
              <a:latin typeface="Tahoma"/>
              <a:cs typeface="Tahoma"/>
            </a:endParaRPr>
          </a:p>
          <a:p>
            <a:pPr>
              <a:lnSpc>
                <a:spcPct val="100000"/>
              </a:lnSpc>
              <a:spcBef>
                <a:spcPts val="180"/>
              </a:spcBef>
            </a:pPr>
            <a:endParaRPr sz="2800" dirty="0">
              <a:latin typeface="Tahoma"/>
              <a:cs typeface="Tahoma"/>
            </a:endParaRPr>
          </a:p>
          <a:p>
            <a:pPr marL="240029" marR="5080" indent="-227329" algn="just">
              <a:lnSpc>
                <a:spcPct val="150000"/>
              </a:lnSpc>
              <a:buFont typeface="Arial"/>
              <a:buChar char="•"/>
              <a:tabLst>
                <a:tab pos="241300" algn="l"/>
              </a:tabLst>
            </a:pPr>
            <a:r>
              <a:rPr lang="en-US" sz="2800" spc="105" dirty="0">
                <a:latin typeface="Tahoma"/>
                <a:cs typeface="Tahoma"/>
              </a:rPr>
              <a:t>Artificial Neural Network Based </a:t>
            </a:r>
            <a:r>
              <a:rPr lang="en-US" sz="2800" spc="105" dirty="0" err="1">
                <a:latin typeface="Tahoma"/>
                <a:cs typeface="Tahoma"/>
              </a:rPr>
              <a:t>SegmentationThis</a:t>
            </a:r>
            <a:r>
              <a:rPr lang="en-US" sz="2800" spc="105" dirty="0">
                <a:latin typeface="Tahoma"/>
                <a:cs typeface="Tahoma"/>
              </a:rPr>
              <a:t> technique uses AI to automatically analyze an image and identify its different components such as faces, objects, and </a:t>
            </a:r>
            <a:r>
              <a:rPr lang="en-US" sz="2800" spc="105" dirty="0" err="1">
                <a:latin typeface="Tahoma"/>
                <a:cs typeface="Tahoma"/>
              </a:rPr>
              <a:t>text.Experts</a:t>
            </a:r>
            <a:r>
              <a:rPr lang="en-US" sz="2800" spc="105" dirty="0">
                <a:latin typeface="Tahoma"/>
                <a:cs typeface="Tahoma"/>
              </a:rPr>
              <a:t> at Facebook AI Research (FAIR) have created a deep learning architecture called Mask R-CNN, which can be used as a smart pixel filter for any object in an </a:t>
            </a:r>
            <a:r>
              <a:rPr lang="en-US" sz="2800" spc="105" dirty="0" err="1">
                <a:latin typeface="Tahoma"/>
                <a:cs typeface="Tahoma"/>
              </a:rPr>
              <a:t>image.Other</a:t>
            </a:r>
            <a:r>
              <a:rPr lang="en-US" sz="2800" spc="105" dirty="0">
                <a:latin typeface="Tahoma"/>
                <a:cs typeface="Tahoma"/>
              </a:rPr>
              <a:t> solutions include: </a:t>
            </a:r>
            <a:r>
              <a:rPr lang="en-US" sz="2800" spc="105" dirty="0" err="1">
                <a:latin typeface="Tahoma"/>
                <a:cs typeface="Tahoma"/>
              </a:rPr>
              <a:t>Unet</a:t>
            </a:r>
            <a:r>
              <a:rPr lang="en-US" sz="2800" spc="105" dirty="0">
                <a:latin typeface="Tahoma"/>
                <a:cs typeface="Tahoma"/>
              </a:rPr>
              <a:t>, FCN, </a:t>
            </a:r>
            <a:r>
              <a:rPr lang="en-US" sz="2800" spc="105" dirty="0" err="1">
                <a:latin typeface="Tahoma"/>
                <a:cs typeface="Tahoma"/>
              </a:rPr>
              <a:t>Yolact</a:t>
            </a:r>
            <a:r>
              <a:rPr lang="en-US" sz="2800" spc="105" dirty="0">
                <a:latin typeface="Tahoma"/>
                <a:cs typeface="Tahoma"/>
              </a:rPr>
              <a:t>, Solo, etc.</a:t>
            </a:r>
            <a:endParaRPr sz="2800" dirty="0">
              <a:latin typeface="Tahoma"/>
              <a:cs typeface="Tahoma"/>
            </a:endParaRPr>
          </a:p>
        </p:txBody>
      </p:sp>
      <p:sp>
        <p:nvSpPr>
          <p:cNvPr id="3" name="object 3"/>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16</a:t>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25" dirty="0"/>
              <a:t>TYPES</a:t>
            </a:r>
            <a:r>
              <a:rPr spc="-120" dirty="0"/>
              <a:t> </a:t>
            </a:r>
            <a:r>
              <a:rPr dirty="0"/>
              <a:t>OF</a:t>
            </a:r>
            <a:r>
              <a:rPr spc="-120" dirty="0"/>
              <a:t> IMAGE</a:t>
            </a:r>
            <a:r>
              <a:rPr spc="-105" dirty="0"/>
              <a:t> </a:t>
            </a:r>
            <a:r>
              <a:rPr spc="-60" dirty="0"/>
              <a:t>SEGMENTATION</a:t>
            </a:r>
          </a:p>
        </p:txBody>
      </p:sp>
      <p:pic>
        <p:nvPicPr>
          <p:cNvPr id="3" name="object 3"/>
          <p:cNvPicPr/>
          <p:nvPr/>
        </p:nvPicPr>
        <p:blipFill>
          <a:blip r:embed="rId2" cstate="print"/>
          <a:stretch>
            <a:fillRect/>
          </a:stretch>
        </p:blipFill>
        <p:spPr>
          <a:xfrm>
            <a:off x="1066800" y="2713483"/>
            <a:ext cx="9747504" cy="3276600"/>
          </a:xfrm>
          <a:prstGeom prst="rect">
            <a:avLst/>
          </a:prstGeom>
        </p:spPr>
      </p:pic>
      <p:sp>
        <p:nvSpPr>
          <p:cNvPr id="4" name="object 4"/>
          <p:cNvSpPr txBox="1"/>
          <p:nvPr/>
        </p:nvSpPr>
        <p:spPr>
          <a:xfrm>
            <a:off x="320751" y="867917"/>
            <a:ext cx="10953115" cy="1482714"/>
          </a:xfrm>
          <a:prstGeom prst="rect">
            <a:avLst/>
          </a:prstGeom>
        </p:spPr>
        <p:txBody>
          <a:bodyPr vert="horz" wrap="square" lIns="0" tIns="195580" rIns="0" bIns="0" rtlCol="0">
            <a:spAutoFit/>
          </a:bodyPr>
          <a:lstStyle/>
          <a:p>
            <a:pPr marL="118745" indent="-114300">
              <a:lnSpc>
                <a:spcPct val="100000"/>
              </a:lnSpc>
              <a:spcBef>
                <a:spcPts val="1540"/>
              </a:spcBef>
              <a:buSzPct val="95833"/>
              <a:buFont typeface="Arial"/>
              <a:buChar char="•"/>
              <a:tabLst>
                <a:tab pos="118745" algn="l"/>
              </a:tabLst>
            </a:pPr>
            <a:r>
              <a:rPr sz="2200" b="1" spc="-180" dirty="0">
                <a:solidFill>
                  <a:srgbClr val="1B1B1B"/>
                </a:solidFill>
                <a:latin typeface="Tahoma"/>
                <a:cs typeface="Tahoma"/>
              </a:rPr>
              <a:t>Semantic</a:t>
            </a:r>
            <a:r>
              <a:rPr sz="2200" b="1" spc="-114" dirty="0">
                <a:solidFill>
                  <a:srgbClr val="1B1B1B"/>
                </a:solidFill>
                <a:latin typeface="Tahoma"/>
                <a:cs typeface="Tahoma"/>
              </a:rPr>
              <a:t> </a:t>
            </a:r>
            <a:r>
              <a:rPr sz="2200" b="1" spc="-200" dirty="0">
                <a:solidFill>
                  <a:srgbClr val="1B1B1B"/>
                </a:solidFill>
                <a:latin typeface="Tahoma"/>
                <a:cs typeface="Tahoma"/>
              </a:rPr>
              <a:t>segment</a:t>
            </a:r>
            <a:r>
              <a:rPr sz="2200" spc="-200" dirty="0">
                <a:solidFill>
                  <a:srgbClr val="1B1B1B"/>
                </a:solidFill>
                <a:latin typeface="Tahoma"/>
                <a:cs typeface="Tahoma"/>
              </a:rPr>
              <a:t>:</a:t>
            </a:r>
            <a:r>
              <a:rPr sz="2200" spc="-140" dirty="0">
                <a:solidFill>
                  <a:srgbClr val="1B1B1B"/>
                </a:solidFill>
                <a:latin typeface="Tahoma"/>
                <a:cs typeface="Tahoma"/>
              </a:rPr>
              <a:t> </a:t>
            </a:r>
            <a:r>
              <a:rPr lang="en-US" sz="2200" spc="-55" dirty="0">
                <a:solidFill>
                  <a:srgbClr val="1B1B1B"/>
                </a:solidFill>
                <a:latin typeface="Tahoma"/>
                <a:cs typeface="Tahoma"/>
              </a:rPr>
              <a:t>Assign a label to each pixel using the class that the object belongs to</a:t>
            </a:r>
            <a:endParaRPr sz="2200" dirty="0">
              <a:latin typeface="Tahoma"/>
              <a:cs typeface="Tahoma"/>
            </a:endParaRPr>
          </a:p>
          <a:p>
            <a:pPr marL="12700" marR="5080" indent="-8255">
              <a:lnSpc>
                <a:spcPct val="150000"/>
              </a:lnSpc>
              <a:buSzPct val="95833"/>
              <a:buFont typeface="Arial"/>
              <a:buChar char="•"/>
              <a:tabLst>
                <a:tab pos="118745" algn="l"/>
              </a:tabLst>
            </a:pPr>
            <a:r>
              <a:rPr sz="2200" b="1" spc="-204" dirty="0">
                <a:solidFill>
                  <a:srgbClr val="1B1B1B"/>
                </a:solidFill>
                <a:latin typeface="Tahoma"/>
                <a:cs typeface="Tahoma"/>
              </a:rPr>
              <a:t>	Instance</a:t>
            </a:r>
            <a:r>
              <a:rPr sz="2200" b="1" spc="-110" dirty="0">
                <a:solidFill>
                  <a:srgbClr val="1B1B1B"/>
                </a:solidFill>
                <a:latin typeface="Tahoma"/>
                <a:cs typeface="Tahoma"/>
              </a:rPr>
              <a:t> </a:t>
            </a:r>
            <a:r>
              <a:rPr sz="2200" b="1" spc="-204" dirty="0">
                <a:solidFill>
                  <a:srgbClr val="1B1B1B"/>
                </a:solidFill>
                <a:latin typeface="Tahoma"/>
                <a:cs typeface="Tahoma"/>
              </a:rPr>
              <a:t>Segment</a:t>
            </a:r>
            <a:r>
              <a:rPr sz="2200" spc="-204" dirty="0">
                <a:solidFill>
                  <a:srgbClr val="1B1B1B"/>
                </a:solidFill>
                <a:latin typeface="Tahoma"/>
                <a:cs typeface="Tahoma"/>
              </a:rPr>
              <a:t>:</a:t>
            </a:r>
            <a:r>
              <a:rPr sz="2200" spc="-145" dirty="0">
                <a:solidFill>
                  <a:srgbClr val="1B1B1B"/>
                </a:solidFill>
                <a:latin typeface="Tahoma"/>
                <a:cs typeface="Tahoma"/>
              </a:rPr>
              <a:t> </a:t>
            </a:r>
            <a:r>
              <a:rPr lang="en-US" sz="2200" spc="-20" dirty="0">
                <a:solidFill>
                  <a:srgbClr val="1B1B1B"/>
                </a:solidFill>
                <a:latin typeface="Tahoma"/>
                <a:cs typeface="Tahoma"/>
              </a:rPr>
              <a:t>This is a more advanced problem than semantic segmentation – it can detect and distinguish individual objects within a group of objects of the same class.</a:t>
            </a:r>
            <a:endParaRPr sz="2200" dirty="0">
              <a:latin typeface="Tahoma"/>
              <a:cs typeface="Tahoma"/>
            </a:endParaRPr>
          </a:p>
        </p:txBody>
      </p:sp>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17</a:t>
            </a:fld>
            <a:endParaRPr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pc="-20" dirty="0"/>
              <a:t>OUTPUT</a:t>
            </a:r>
            <a:r>
              <a:rPr spc="-100" dirty="0"/>
              <a:t> </a:t>
            </a:r>
            <a:r>
              <a:rPr dirty="0"/>
              <a:t>OF</a:t>
            </a:r>
            <a:r>
              <a:rPr spc="-100" dirty="0"/>
              <a:t> </a:t>
            </a:r>
            <a:r>
              <a:rPr spc="-90" dirty="0"/>
              <a:t>SEGMENTATION</a:t>
            </a:r>
            <a:r>
              <a:rPr spc="-65" dirty="0"/>
              <a:t> </a:t>
            </a:r>
            <a:r>
              <a:rPr spc="-10" dirty="0"/>
              <a:t>MODEL</a:t>
            </a:r>
          </a:p>
        </p:txBody>
      </p:sp>
      <p:sp>
        <p:nvSpPr>
          <p:cNvPr id="3" name="object 3"/>
          <p:cNvSpPr txBox="1"/>
          <p:nvPr/>
        </p:nvSpPr>
        <p:spPr>
          <a:xfrm>
            <a:off x="4356353" y="905002"/>
            <a:ext cx="4460875"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1B1B1B"/>
                </a:solidFill>
                <a:latin typeface="Tahoma"/>
                <a:cs typeface="Tahoma"/>
              </a:rPr>
              <a:t>Labels</a:t>
            </a:r>
            <a:r>
              <a:rPr sz="2400" spc="-140" dirty="0">
                <a:solidFill>
                  <a:srgbClr val="1B1B1B"/>
                </a:solidFill>
                <a:latin typeface="Tahoma"/>
                <a:cs typeface="Tahoma"/>
              </a:rPr>
              <a:t> </a:t>
            </a:r>
            <a:r>
              <a:rPr sz="2400" spc="60" dirty="0">
                <a:solidFill>
                  <a:srgbClr val="1B1B1B"/>
                </a:solidFill>
                <a:latin typeface="Tahoma"/>
                <a:cs typeface="Tahoma"/>
              </a:rPr>
              <a:t>of</a:t>
            </a:r>
            <a:r>
              <a:rPr sz="2400" spc="-125" dirty="0">
                <a:solidFill>
                  <a:srgbClr val="1B1B1B"/>
                </a:solidFill>
                <a:latin typeface="Tahoma"/>
                <a:cs typeface="Tahoma"/>
              </a:rPr>
              <a:t> </a:t>
            </a:r>
            <a:r>
              <a:rPr sz="2400" spc="-10" dirty="0">
                <a:solidFill>
                  <a:srgbClr val="1B1B1B"/>
                </a:solidFill>
                <a:latin typeface="Tahoma"/>
                <a:cs typeface="Tahoma"/>
              </a:rPr>
              <a:t>Semantic</a:t>
            </a:r>
            <a:r>
              <a:rPr sz="2400" spc="-160" dirty="0">
                <a:solidFill>
                  <a:srgbClr val="1B1B1B"/>
                </a:solidFill>
                <a:latin typeface="Tahoma"/>
                <a:cs typeface="Tahoma"/>
              </a:rPr>
              <a:t> </a:t>
            </a:r>
            <a:r>
              <a:rPr sz="2400" spc="-10" dirty="0">
                <a:solidFill>
                  <a:srgbClr val="1B1B1B"/>
                </a:solidFill>
                <a:latin typeface="Tahoma"/>
                <a:cs typeface="Tahoma"/>
              </a:rPr>
              <a:t>Segmentation</a:t>
            </a:r>
            <a:endParaRPr sz="2400">
              <a:latin typeface="Tahoma"/>
              <a:cs typeface="Tahoma"/>
            </a:endParaRPr>
          </a:p>
        </p:txBody>
      </p:sp>
      <p:pic>
        <p:nvPicPr>
          <p:cNvPr id="4" name="object 4"/>
          <p:cNvPicPr/>
          <p:nvPr/>
        </p:nvPicPr>
        <p:blipFill>
          <a:blip r:embed="rId2" cstate="print"/>
          <a:stretch>
            <a:fillRect/>
          </a:stretch>
        </p:blipFill>
        <p:spPr>
          <a:xfrm>
            <a:off x="207263" y="1691640"/>
            <a:ext cx="11777471" cy="4119371"/>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18</a:t>
            </a:fld>
            <a:endParaRPr spc="-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pc="-20" dirty="0"/>
              <a:t>OUTPUT</a:t>
            </a:r>
            <a:r>
              <a:rPr spc="-100" dirty="0"/>
              <a:t> </a:t>
            </a:r>
            <a:r>
              <a:rPr dirty="0"/>
              <a:t>OF</a:t>
            </a:r>
            <a:r>
              <a:rPr spc="-100" dirty="0"/>
              <a:t> </a:t>
            </a:r>
            <a:r>
              <a:rPr spc="-90" dirty="0"/>
              <a:t>SEGMENTATION</a:t>
            </a:r>
            <a:r>
              <a:rPr spc="-65" dirty="0"/>
              <a:t> </a:t>
            </a:r>
            <a:r>
              <a:rPr spc="-10" dirty="0"/>
              <a:t>MODEL</a:t>
            </a:r>
          </a:p>
        </p:txBody>
      </p:sp>
      <p:sp>
        <p:nvSpPr>
          <p:cNvPr id="3" name="object 3"/>
          <p:cNvSpPr txBox="1"/>
          <p:nvPr/>
        </p:nvSpPr>
        <p:spPr>
          <a:xfrm>
            <a:off x="3464814" y="875157"/>
            <a:ext cx="5493385" cy="391160"/>
          </a:xfrm>
          <a:prstGeom prst="rect">
            <a:avLst/>
          </a:prstGeom>
        </p:spPr>
        <p:txBody>
          <a:bodyPr vert="horz" wrap="square" lIns="0" tIns="12700" rIns="0" bIns="0" rtlCol="0">
            <a:spAutoFit/>
          </a:bodyPr>
          <a:lstStyle/>
          <a:p>
            <a:pPr marL="12700">
              <a:lnSpc>
                <a:spcPct val="100000"/>
              </a:lnSpc>
              <a:spcBef>
                <a:spcPts val="100"/>
              </a:spcBef>
            </a:pPr>
            <a:r>
              <a:rPr sz="2400" spc="50" dirty="0">
                <a:solidFill>
                  <a:srgbClr val="1B1B1B"/>
                </a:solidFill>
                <a:latin typeface="Tahoma"/>
                <a:cs typeface="Tahoma"/>
              </a:rPr>
              <a:t>Output</a:t>
            </a:r>
            <a:r>
              <a:rPr sz="2400" spc="-120" dirty="0">
                <a:solidFill>
                  <a:srgbClr val="1B1B1B"/>
                </a:solidFill>
                <a:latin typeface="Tahoma"/>
                <a:cs typeface="Tahoma"/>
              </a:rPr>
              <a:t> </a:t>
            </a:r>
            <a:r>
              <a:rPr sz="2400" spc="60" dirty="0">
                <a:solidFill>
                  <a:srgbClr val="1B1B1B"/>
                </a:solidFill>
                <a:latin typeface="Tahoma"/>
                <a:cs typeface="Tahoma"/>
              </a:rPr>
              <a:t>of</a:t>
            </a:r>
            <a:r>
              <a:rPr sz="2400" spc="-125" dirty="0">
                <a:solidFill>
                  <a:srgbClr val="1B1B1B"/>
                </a:solidFill>
                <a:latin typeface="Tahoma"/>
                <a:cs typeface="Tahoma"/>
              </a:rPr>
              <a:t> </a:t>
            </a:r>
            <a:r>
              <a:rPr sz="2400" spc="-10" dirty="0">
                <a:solidFill>
                  <a:srgbClr val="1B1B1B"/>
                </a:solidFill>
                <a:latin typeface="Tahoma"/>
                <a:cs typeface="Tahoma"/>
              </a:rPr>
              <a:t>Semantic</a:t>
            </a:r>
            <a:r>
              <a:rPr sz="2400" spc="-155" dirty="0">
                <a:solidFill>
                  <a:srgbClr val="1B1B1B"/>
                </a:solidFill>
                <a:latin typeface="Tahoma"/>
                <a:cs typeface="Tahoma"/>
              </a:rPr>
              <a:t> </a:t>
            </a:r>
            <a:r>
              <a:rPr sz="2400" spc="-10" dirty="0">
                <a:solidFill>
                  <a:srgbClr val="1B1B1B"/>
                </a:solidFill>
                <a:latin typeface="Tahoma"/>
                <a:cs typeface="Tahoma"/>
              </a:rPr>
              <a:t>Segmentation</a:t>
            </a:r>
            <a:r>
              <a:rPr sz="2400" spc="-150" dirty="0">
                <a:solidFill>
                  <a:srgbClr val="1B1B1B"/>
                </a:solidFill>
                <a:latin typeface="Tahoma"/>
                <a:cs typeface="Tahoma"/>
              </a:rPr>
              <a:t> </a:t>
            </a:r>
            <a:r>
              <a:rPr sz="2400" spc="-10" dirty="0">
                <a:solidFill>
                  <a:srgbClr val="1B1B1B"/>
                </a:solidFill>
                <a:latin typeface="Tahoma"/>
                <a:cs typeface="Tahoma"/>
              </a:rPr>
              <a:t>model</a:t>
            </a:r>
            <a:endParaRPr sz="2400">
              <a:latin typeface="Tahoma"/>
              <a:cs typeface="Tahoma"/>
            </a:endParaRPr>
          </a:p>
        </p:txBody>
      </p:sp>
      <p:pic>
        <p:nvPicPr>
          <p:cNvPr id="4" name="object 4"/>
          <p:cNvPicPr/>
          <p:nvPr/>
        </p:nvPicPr>
        <p:blipFill>
          <a:blip r:embed="rId2" cstate="print"/>
          <a:stretch>
            <a:fillRect/>
          </a:stretch>
        </p:blipFill>
        <p:spPr>
          <a:xfrm>
            <a:off x="2103120" y="1467611"/>
            <a:ext cx="8333232" cy="4733544"/>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19</a:t>
            </a:fld>
            <a:endParaRPr spc="-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30" dirty="0"/>
              <a:t>UNET</a:t>
            </a:r>
            <a:r>
              <a:rPr spc="-140" dirty="0"/>
              <a:t> </a:t>
            </a:r>
            <a:r>
              <a:rPr spc="-185" dirty="0"/>
              <a:t>–</a:t>
            </a:r>
            <a:r>
              <a:rPr spc="-135" dirty="0"/>
              <a:t> </a:t>
            </a:r>
            <a:r>
              <a:rPr spc="-120" dirty="0"/>
              <a:t>SEMANTIC</a:t>
            </a:r>
            <a:r>
              <a:rPr spc="-130" dirty="0"/>
              <a:t> </a:t>
            </a:r>
            <a:r>
              <a:rPr spc="-75" dirty="0"/>
              <a:t>SEGMENTATION</a:t>
            </a:r>
            <a:r>
              <a:rPr spc="-105" dirty="0"/>
              <a:t> </a:t>
            </a:r>
            <a:r>
              <a:rPr spc="-65" dirty="0"/>
              <a:t>SOLUTION</a:t>
            </a:r>
          </a:p>
        </p:txBody>
      </p:sp>
      <p:grpSp>
        <p:nvGrpSpPr>
          <p:cNvPr id="3" name="object 3"/>
          <p:cNvGrpSpPr/>
          <p:nvPr/>
        </p:nvGrpSpPr>
        <p:grpSpPr>
          <a:xfrm>
            <a:off x="1202436" y="1703832"/>
            <a:ext cx="9679305" cy="3918585"/>
            <a:chOff x="1202436" y="1703832"/>
            <a:chExt cx="9679305" cy="3918585"/>
          </a:xfrm>
        </p:grpSpPr>
        <p:pic>
          <p:nvPicPr>
            <p:cNvPr id="4" name="object 4"/>
            <p:cNvPicPr/>
            <p:nvPr/>
          </p:nvPicPr>
          <p:blipFill>
            <a:blip r:embed="rId2" cstate="print"/>
            <a:stretch>
              <a:fillRect/>
            </a:stretch>
          </p:blipFill>
          <p:spPr>
            <a:xfrm>
              <a:off x="1202436" y="1886712"/>
              <a:ext cx="3518915" cy="3735323"/>
            </a:xfrm>
            <a:prstGeom prst="rect">
              <a:avLst/>
            </a:prstGeom>
          </p:spPr>
        </p:pic>
        <p:pic>
          <p:nvPicPr>
            <p:cNvPr id="5" name="object 5"/>
            <p:cNvPicPr/>
            <p:nvPr/>
          </p:nvPicPr>
          <p:blipFill>
            <a:blip r:embed="rId3" cstate="print"/>
            <a:stretch>
              <a:fillRect/>
            </a:stretch>
          </p:blipFill>
          <p:spPr>
            <a:xfrm>
              <a:off x="7604759" y="1703832"/>
              <a:ext cx="3276600" cy="3675888"/>
            </a:xfrm>
            <a:prstGeom prst="rect">
              <a:avLst/>
            </a:prstGeom>
          </p:spPr>
        </p:pic>
      </p:grpSp>
      <p:sp>
        <p:nvSpPr>
          <p:cNvPr id="6" name="object 6"/>
          <p:cNvSpPr txBox="1"/>
          <p:nvPr/>
        </p:nvSpPr>
        <p:spPr>
          <a:xfrm>
            <a:off x="6558533" y="1148334"/>
            <a:ext cx="528510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1B1B1B"/>
                </a:solidFill>
                <a:latin typeface="Tahoma"/>
                <a:cs typeface="Tahoma"/>
              </a:rPr>
              <a:t>Deconvolution</a:t>
            </a:r>
            <a:r>
              <a:rPr sz="2400" spc="105" dirty="0">
                <a:solidFill>
                  <a:srgbClr val="1B1B1B"/>
                </a:solidFill>
                <a:latin typeface="Tahoma"/>
                <a:cs typeface="Tahoma"/>
              </a:rPr>
              <a:t> </a:t>
            </a:r>
            <a:r>
              <a:rPr sz="2400" spc="-45" dirty="0">
                <a:solidFill>
                  <a:srgbClr val="1B1B1B"/>
                </a:solidFill>
                <a:latin typeface="Tahoma"/>
                <a:cs typeface="Tahoma"/>
              </a:rPr>
              <a:t>(Transpose</a:t>
            </a:r>
            <a:r>
              <a:rPr sz="2400" spc="100" dirty="0">
                <a:solidFill>
                  <a:srgbClr val="1B1B1B"/>
                </a:solidFill>
                <a:latin typeface="Tahoma"/>
                <a:cs typeface="Tahoma"/>
              </a:rPr>
              <a:t> </a:t>
            </a:r>
            <a:r>
              <a:rPr sz="2400" spc="-10" dirty="0">
                <a:solidFill>
                  <a:srgbClr val="1B1B1B"/>
                </a:solidFill>
                <a:latin typeface="Tahoma"/>
                <a:cs typeface="Tahoma"/>
              </a:rPr>
              <a:t>convolution)</a:t>
            </a:r>
            <a:endParaRPr sz="2400">
              <a:latin typeface="Tahoma"/>
              <a:cs typeface="Tahoma"/>
            </a:endParaRPr>
          </a:p>
        </p:txBody>
      </p:sp>
      <p:sp>
        <p:nvSpPr>
          <p:cNvPr id="8" name="object 8"/>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20</a:t>
            </a:fld>
            <a:endParaRPr spc="-25" dirty="0"/>
          </a:p>
        </p:txBody>
      </p:sp>
      <p:sp>
        <p:nvSpPr>
          <p:cNvPr id="7" name="object 7"/>
          <p:cNvSpPr txBox="1"/>
          <p:nvPr/>
        </p:nvSpPr>
        <p:spPr>
          <a:xfrm>
            <a:off x="1820036" y="1148334"/>
            <a:ext cx="1669414"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1B1B1B"/>
                </a:solidFill>
                <a:latin typeface="Tahoma"/>
                <a:cs typeface="Tahoma"/>
              </a:rPr>
              <a:t>Convolution</a:t>
            </a:r>
            <a:endParaRPr sz="2400">
              <a:latin typeface="Tahoma"/>
              <a:cs typeface="Tahom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pc="-30" dirty="0"/>
              <a:t>UNET</a:t>
            </a:r>
            <a:r>
              <a:rPr spc="-140" dirty="0"/>
              <a:t> </a:t>
            </a:r>
            <a:r>
              <a:rPr spc="-185" dirty="0"/>
              <a:t>–</a:t>
            </a:r>
            <a:r>
              <a:rPr spc="-135" dirty="0"/>
              <a:t> </a:t>
            </a:r>
            <a:r>
              <a:rPr spc="-120" dirty="0"/>
              <a:t>SEMANTIC</a:t>
            </a:r>
            <a:r>
              <a:rPr spc="-130" dirty="0"/>
              <a:t> </a:t>
            </a:r>
            <a:r>
              <a:rPr spc="-75" dirty="0"/>
              <a:t>SEGMENTATION</a:t>
            </a:r>
            <a:r>
              <a:rPr spc="-105" dirty="0"/>
              <a:t> </a:t>
            </a:r>
            <a:r>
              <a:rPr spc="-65" dirty="0"/>
              <a:t>SOLUTION</a:t>
            </a:r>
          </a:p>
        </p:txBody>
      </p:sp>
      <p:sp>
        <p:nvSpPr>
          <p:cNvPr id="3" name="object 3"/>
          <p:cNvSpPr txBox="1"/>
          <p:nvPr/>
        </p:nvSpPr>
        <p:spPr>
          <a:xfrm>
            <a:off x="3738498" y="830707"/>
            <a:ext cx="528574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1B1B1B"/>
                </a:solidFill>
                <a:latin typeface="Tahoma"/>
                <a:cs typeface="Tahoma"/>
              </a:rPr>
              <a:t>Deconvolution</a:t>
            </a:r>
            <a:r>
              <a:rPr sz="2400" spc="105" dirty="0">
                <a:solidFill>
                  <a:srgbClr val="1B1B1B"/>
                </a:solidFill>
                <a:latin typeface="Tahoma"/>
                <a:cs typeface="Tahoma"/>
              </a:rPr>
              <a:t> </a:t>
            </a:r>
            <a:r>
              <a:rPr sz="2400" spc="-45" dirty="0">
                <a:solidFill>
                  <a:srgbClr val="1B1B1B"/>
                </a:solidFill>
                <a:latin typeface="Tahoma"/>
                <a:cs typeface="Tahoma"/>
              </a:rPr>
              <a:t>(Transpose</a:t>
            </a:r>
            <a:r>
              <a:rPr sz="2400" spc="100" dirty="0">
                <a:solidFill>
                  <a:srgbClr val="1B1B1B"/>
                </a:solidFill>
                <a:latin typeface="Tahoma"/>
                <a:cs typeface="Tahoma"/>
              </a:rPr>
              <a:t> </a:t>
            </a:r>
            <a:r>
              <a:rPr sz="2400" spc="-10" dirty="0">
                <a:solidFill>
                  <a:srgbClr val="1B1B1B"/>
                </a:solidFill>
                <a:latin typeface="Tahoma"/>
                <a:cs typeface="Tahoma"/>
              </a:rPr>
              <a:t>convolution)</a:t>
            </a:r>
            <a:endParaRPr sz="2400">
              <a:latin typeface="Tahoma"/>
              <a:cs typeface="Tahoma"/>
            </a:endParaRPr>
          </a:p>
        </p:txBody>
      </p:sp>
      <p:pic>
        <p:nvPicPr>
          <p:cNvPr id="4" name="object 4"/>
          <p:cNvPicPr/>
          <p:nvPr/>
        </p:nvPicPr>
        <p:blipFill>
          <a:blip r:embed="rId2" cstate="print"/>
          <a:stretch>
            <a:fillRect/>
          </a:stretch>
        </p:blipFill>
        <p:spPr>
          <a:xfrm>
            <a:off x="0" y="2034539"/>
            <a:ext cx="12191999" cy="2787395"/>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21</a:t>
            </a:fld>
            <a:endParaRPr spc="-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pc="-30" dirty="0"/>
              <a:t>UNET</a:t>
            </a:r>
            <a:r>
              <a:rPr spc="-140" dirty="0"/>
              <a:t> </a:t>
            </a:r>
            <a:r>
              <a:rPr spc="-185" dirty="0"/>
              <a:t>–</a:t>
            </a:r>
            <a:r>
              <a:rPr spc="-135" dirty="0"/>
              <a:t> </a:t>
            </a:r>
            <a:r>
              <a:rPr spc="-120" dirty="0"/>
              <a:t>SEMANTIC</a:t>
            </a:r>
            <a:r>
              <a:rPr spc="-130" dirty="0"/>
              <a:t> </a:t>
            </a:r>
            <a:r>
              <a:rPr spc="-75" dirty="0"/>
              <a:t>SEGMENTATION</a:t>
            </a:r>
            <a:r>
              <a:rPr spc="-105" dirty="0"/>
              <a:t> </a:t>
            </a:r>
            <a:r>
              <a:rPr spc="-65" dirty="0"/>
              <a:t>SOLUTION</a:t>
            </a:r>
          </a:p>
        </p:txBody>
      </p:sp>
      <p:sp>
        <p:nvSpPr>
          <p:cNvPr id="3" name="object 3"/>
          <p:cNvSpPr txBox="1"/>
          <p:nvPr/>
        </p:nvSpPr>
        <p:spPr>
          <a:xfrm>
            <a:off x="4843017" y="1092200"/>
            <a:ext cx="2085339"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1B1B1B"/>
                </a:solidFill>
                <a:latin typeface="Tahoma"/>
                <a:cs typeface="Tahoma"/>
              </a:rPr>
              <a:t>Upsampling</a:t>
            </a:r>
            <a:r>
              <a:rPr sz="2400" spc="-145" dirty="0">
                <a:solidFill>
                  <a:srgbClr val="1B1B1B"/>
                </a:solidFill>
                <a:latin typeface="Tahoma"/>
                <a:cs typeface="Tahoma"/>
              </a:rPr>
              <a:t> </a:t>
            </a:r>
            <a:r>
              <a:rPr sz="2400" spc="105" dirty="0">
                <a:solidFill>
                  <a:srgbClr val="1B1B1B"/>
                </a:solidFill>
                <a:latin typeface="Tahoma"/>
                <a:cs typeface="Tahoma"/>
              </a:rPr>
              <a:t>2D</a:t>
            </a:r>
            <a:endParaRPr sz="2400">
              <a:latin typeface="Tahoma"/>
              <a:cs typeface="Tahoma"/>
            </a:endParaRPr>
          </a:p>
        </p:txBody>
      </p:sp>
      <p:pic>
        <p:nvPicPr>
          <p:cNvPr id="4" name="object 4"/>
          <p:cNvPicPr/>
          <p:nvPr/>
        </p:nvPicPr>
        <p:blipFill>
          <a:blip r:embed="rId2" cstate="print"/>
          <a:stretch>
            <a:fillRect/>
          </a:stretch>
        </p:blipFill>
        <p:spPr>
          <a:xfrm>
            <a:off x="1819655" y="1749552"/>
            <a:ext cx="8552688" cy="4233671"/>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22</a:t>
            </a:fld>
            <a:endParaRPr spc="-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pc="-30" dirty="0"/>
              <a:t>UNET</a:t>
            </a:r>
            <a:r>
              <a:rPr spc="-140" dirty="0"/>
              <a:t> </a:t>
            </a:r>
            <a:r>
              <a:rPr spc="-185" dirty="0"/>
              <a:t>–</a:t>
            </a:r>
            <a:r>
              <a:rPr spc="-135" dirty="0"/>
              <a:t> </a:t>
            </a:r>
            <a:r>
              <a:rPr spc="-120" dirty="0"/>
              <a:t>SEMANTIC</a:t>
            </a:r>
            <a:r>
              <a:rPr spc="-130" dirty="0"/>
              <a:t> </a:t>
            </a:r>
            <a:r>
              <a:rPr spc="-75" dirty="0"/>
              <a:t>SEGMENTATION</a:t>
            </a:r>
            <a:r>
              <a:rPr spc="-105" dirty="0"/>
              <a:t> </a:t>
            </a:r>
            <a:r>
              <a:rPr spc="-65" dirty="0"/>
              <a:t>SOLUTION</a:t>
            </a:r>
          </a:p>
        </p:txBody>
      </p:sp>
      <p:sp>
        <p:nvSpPr>
          <p:cNvPr id="3" name="object 3"/>
          <p:cNvSpPr txBox="1"/>
          <p:nvPr/>
        </p:nvSpPr>
        <p:spPr>
          <a:xfrm>
            <a:off x="295757" y="865759"/>
            <a:ext cx="237553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1B1B1B"/>
                </a:solidFill>
                <a:latin typeface="Tahoma"/>
                <a:cs typeface="Tahoma"/>
              </a:rPr>
              <a:t>Tích</a:t>
            </a:r>
            <a:r>
              <a:rPr sz="2400" spc="-125" dirty="0">
                <a:solidFill>
                  <a:srgbClr val="1B1B1B"/>
                </a:solidFill>
                <a:latin typeface="Tahoma"/>
                <a:cs typeface="Tahoma"/>
              </a:rPr>
              <a:t> </a:t>
            </a:r>
            <a:r>
              <a:rPr sz="2400" dirty="0">
                <a:solidFill>
                  <a:srgbClr val="1B1B1B"/>
                </a:solidFill>
                <a:latin typeface="Tahoma"/>
                <a:cs typeface="Tahoma"/>
              </a:rPr>
              <a:t>chập</a:t>
            </a:r>
            <a:r>
              <a:rPr sz="2400" spc="-130" dirty="0">
                <a:solidFill>
                  <a:srgbClr val="1B1B1B"/>
                </a:solidFill>
                <a:latin typeface="Tahoma"/>
                <a:cs typeface="Tahoma"/>
              </a:rPr>
              <a:t> </a:t>
            </a:r>
            <a:r>
              <a:rPr sz="2400" spc="-40" dirty="0">
                <a:solidFill>
                  <a:srgbClr val="1B1B1B"/>
                </a:solidFill>
                <a:latin typeface="Tahoma"/>
                <a:cs typeface="Tahoma"/>
              </a:rPr>
              <a:t>giãn</a:t>
            </a:r>
            <a:r>
              <a:rPr sz="2400" spc="-135" dirty="0">
                <a:solidFill>
                  <a:srgbClr val="1B1B1B"/>
                </a:solidFill>
                <a:latin typeface="Tahoma"/>
                <a:cs typeface="Tahoma"/>
              </a:rPr>
              <a:t> </a:t>
            </a:r>
            <a:r>
              <a:rPr sz="2400" spc="25" dirty="0">
                <a:solidFill>
                  <a:srgbClr val="1B1B1B"/>
                </a:solidFill>
                <a:latin typeface="Tahoma"/>
                <a:cs typeface="Tahoma"/>
              </a:rPr>
              <a:t>nở</a:t>
            </a:r>
            <a:endParaRPr sz="2400">
              <a:latin typeface="Tahoma"/>
              <a:cs typeface="Tahoma"/>
            </a:endParaRPr>
          </a:p>
        </p:txBody>
      </p:sp>
      <p:pic>
        <p:nvPicPr>
          <p:cNvPr id="4" name="object 4"/>
          <p:cNvPicPr/>
          <p:nvPr/>
        </p:nvPicPr>
        <p:blipFill>
          <a:blip r:embed="rId2" cstate="print"/>
          <a:stretch>
            <a:fillRect/>
          </a:stretch>
        </p:blipFill>
        <p:spPr>
          <a:xfrm>
            <a:off x="2970276" y="822960"/>
            <a:ext cx="9221724" cy="5396484"/>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23</a:t>
            </a:fld>
            <a:endParaRPr spc="-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31619" y="2785872"/>
            <a:ext cx="9622536" cy="3889248"/>
          </a:xfrm>
          <a:prstGeom prst="rect">
            <a:avLst/>
          </a:prstGeom>
        </p:spPr>
      </p:pic>
      <p:sp>
        <p:nvSpPr>
          <p:cNvPr id="3" name="object 3"/>
          <p:cNvSpPr txBox="1"/>
          <p:nvPr/>
        </p:nvSpPr>
        <p:spPr>
          <a:xfrm>
            <a:off x="416458" y="98552"/>
            <a:ext cx="10881995" cy="2579552"/>
          </a:xfrm>
          <a:prstGeom prst="rect">
            <a:avLst/>
          </a:prstGeom>
        </p:spPr>
        <p:txBody>
          <a:bodyPr vert="horz" wrap="square" lIns="0" tIns="12065" rIns="0" bIns="0" rtlCol="0">
            <a:spAutoFit/>
          </a:bodyPr>
          <a:lstStyle/>
          <a:p>
            <a:pPr marL="13335">
              <a:lnSpc>
                <a:spcPct val="100000"/>
              </a:lnSpc>
              <a:spcBef>
                <a:spcPts val="95"/>
              </a:spcBef>
            </a:pPr>
            <a:r>
              <a:rPr lang="vi-VN" sz="2800" b="1" spc="-30" dirty="0">
                <a:solidFill>
                  <a:srgbClr val="FFFFFF"/>
                </a:solidFill>
                <a:latin typeface="Tahoma"/>
                <a:cs typeface="Tahoma"/>
              </a:rPr>
              <a:t>UNET</a:t>
            </a:r>
            <a:r>
              <a:rPr lang="vi-VN" sz="2800" b="1" spc="-140" dirty="0">
                <a:solidFill>
                  <a:srgbClr val="FFFFFF"/>
                </a:solidFill>
                <a:latin typeface="Tahoma"/>
                <a:cs typeface="Tahoma"/>
              </a:rPr>
              <a:t> </a:t>
            </a:r>
            <a:r>
              <a:rPr lang="vi-VN" sz="2800" b="1" spc="-185" dirty="0">
                <a:solidFill>
                  <a:srgbClr val="FFFFFF"/>
                </a:solidFill>
                <a:latin typeface="Tahoma"/>
                <a:cs typeface="Tahoma"/>
              </a:rPr>
              <a:t>–</a:t>
            </a:r>
            <a:r>
              <a:rPr lang="vi-VN" sz="2800" b="1" spc="-135" dirty="0">
                <a:solidFill>
                  <a:srgbClr val="FFFFFF"/>
                </a:solidFill>
                <a:latin typeface="Tahoma"/>
                <a:cs typeface="Tahoma"/>
              </a:rPr>
              <a:t> </a:t>
            </a:r>
            <a:r>
              <a:rPr lang="vi-VN" sz="2800" b="1" spc="-120" dirty="0">
                <a:solidFill>
                  <a:srgbClr val="FFFFFF"/>
                </a:solidFill>
                <a:latin typeface="Tahoma"/>
                <a:cs typeface="Tahoma"/>
              </a:rPr>
              <a:t>SEMANTIC</a:t>
            </a:r>
            <a:r>
              <a:rPr lang="vi-VN" sz="2800" b="1" spc="-130" dirty="0">
                <a:solidFill>
                  <a:srgbClr val="FFFFFF"/>
                </a:solidFill>
                <a:latin typeface="Tahoma"/>
                <a:cs typeface="Tahoma"/>
              </a:rPr>
              <a:t> </a:t>
            </a:r>
            <a:r>
              <a:rPr lang="vi-VN" sz="2800" b="1" spc="-75" dirty="0">
                <a:solidFill>
                  <a:srgbClr val="FFFFFF"/>
                </a:solidFill>
                <a:latin typeface="Tahoma"/>
                <a:cs typeface="Tahoma"/>
              </a:rPr>
              <a:t>SEGMENTATION</a:t>
            </a:r>
            <a:r>
              <a:rPr lang="vi-VN" sz="2800" b="1" spc="-105" dirty="0">
                <a:solidFill>
                  <a:srgbClr val="FFFFFF"/>
                </a:solidFill>
                <a:latin typeface="Tahoma"/>
                <a:cs typeface="Tahoma"/>
              </a:rPr>
              <a:t> </a:t>
            </a:r>
            <a:r>
              <a:rPr lang="vi-VN" sz="2800" b="1" spc="-10" dirty="0">
                <a:solidFill>
                  <a:srgbClr val="FFFFFF"/>
                </a:solidFill>
                <a:latin typeface="Tahoma"/>
                <a:cs typeface="Tahoma"/>
              </a:rPr>
              <a:t>SOLUTION</a:t>
            </a:r>
            <a:endParaRPr lang="vi-VN" sz="2800" dirty="0">
              <a:latin typeface="Tahoma"/>
              <a:cs typeface="Tahoma"/>
            </a:endParaRPr>
          </a:p>
          <a:p>
            <a:pPr>
              <a:lnSpc>
                <a:spcPct val="100000"/>
              </a:lnSpc>
              <a:spcBef>
                <a:spcPts val="500"/>
              </a:spcBef>
            </a:pPr>
            <a:endParaRPr lang="vi-VN" sz="2800" dirty="0">
              <a:latin typeface="Tahoma"/>
              <a:cs typeface="Tahoma"/>
            </a:endParaRPr>
          </a:p>
          <a:p>
            <a:pPr marL="12700">
              <a:lnSpc>
                <a:spcPts val="3195"/>
              </a:lnSpc>
              <a:spcBef>
                <a:spcPts val="5"/>
              </a:spcBef>
            </a:pPr>
            <a:r>
              <a:rPr lang="en-US" sz="2800" spc="50" dirty="0">
                <a:latin typeface="Tahoma"/>
                <a:cs typeface="Tahoma"/>
              </a:rPr>
              <a:t>The network architecture includes an encoder and a </a:t>
            </a:r>
            <a:r>
              <a:rPr lang="en-US" sz="2800" spc="50" dirty="0" err="1">
                <a:latin typeface="Tahoma"/>
                <a:cs typeface="Tahoma"/>
              </a:rPr>
              <a:t>decoder.Encoder</a:t>
            </a:r>
            <a:r>
              <a:rPr lang="en-US" sz="2800" spc="50" dirty="0">
                <a:latin typeface="Tahoma"/>
                <a:cs typeface="Tahoma"/>
              </a:rPr>
              <a:t>: extracts features from the image through filters. Decoder: produces the final output, usually a mask that partitions the objects.</a:t>
            </a:r>
            <a:endParaRPr lang="vi-VN" sz="2800" dirty="0">
              <a:latin typeface="Tahoma"/>
              <a:cs typeface="Tahoma"/>
            </a:endParaRPr>
          </a:p>
        </p:txBody>
      </p:sp>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24</a:t>
            </a:fld>
            <a:endParaRPr spc="-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30" dirty="0"/>
              <a:t>UNET</a:t>
            </a:r>
            <a:r>
              <a:rPr spc="-140" dirty="0"/>
              <a:t> </a:t>
            </a:r>
            <a:r>
              <a:rPr spc="-185" dirty="0"/>
              <a:t>–</a:t>
            </a:r>
            <a:r>
              <a:rPr spc="-135" dirty="0"/>
              <a:t> </a:t>
            </a:r>
            <a:r>
              <a:rPr spc="-120" dirty="0"/>
              <a:t>SEMANTIC</a:t>
            </a:r>
            <a:r>
              <a:rPr spc="-130" dirty="0"/>
              <a:t> </a:t>
            </a:r>
            <a:r>
              <a:rPr spc="-75" dirty="0"/>
              <a:t>SEGMENTATION</a:t>
            </a:r>
            <a:r>
              <a:rPr spc="-105" dirty="0"/>
              <a:t> </a:t>
            </a:r>
            <a:r>
              <a:rPr spc="-65" dirty="0"/>
              <a:t>SOLUTION</a:t>
            </a:r>
          </a:p>
        </p:txBody>
      </p:sp>
      <p:pic>
        <p:nvPicPr>
          <p:cNvPr id="3" name="object 3"/>
          <p:cNvPicPr/>
          <p:nvPr/>
        </p:nvPicPr>
        <p:blipFill>
          <a:blip r:embed="rId2" cstate="print"/>
          <a:stretch>
            <a:fillRect/>
          </a:stretch>
        </p:blipFill>
        <p:spPr>
          <a:xfrm>
            <a:off x="1277111" y="989075"/>
            <a:ext cx="9482328" cy="5369052"/>
          </a:xfrm>
          <a:prstGeom prst="rect">
            <a:avLst/>
          </a:prstGeom>
        </p:spPr>
      </p:pic>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25</a:t>
            </a:fld>
            <a:endParaRPr spc="-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6458" y="98552"/>
            <a:ext cx="11210925" cy="4078937"/>
          </a:xfrm>
          <a:prstGeom prst="rect">
            <a:avLst/>
          </a:prstGeom>
        </p:spPr>
        <p:txBody>
          <a:bodyPr vert="horz" wrap="square" lIns="0" tIns="12065" rIns="0" bIns="0" rtlCol="0">
            <a:spAutoFit/>
          </a:bodyPr>
          <a:lstStyle/>
          <a:p>
            <a:pPr marL="13335">
              <a:lnSpc>
                <a:spcPct val="100000"/>
              </a:lnSpc>
              <a:spcBef>
                <a:spcPts val="95"/>
              </a:spcBef>
            </a:pPr>
            <a:r>
              <a:rPr sz="2800" b="1" spc="-180" dirty="0">
                <a:solidFill>
                  <a:srgbClr val="FFFFFF"/>
                </a:solidFill>
                <a:latin typeface="Tahoma"/>
                <a:cs typeface="Tahoma"/>
              </a:rPr>
              <a:t>DeepLab</a:t>
            </a:r>
            <a:r>
              <a:rPr sz="2800" b="1" spc="-60" dirty="0">
                <a:solidFill>
                  <a:srgbClr val="FFFFFF"/>
                </a:solidFill>
                <a:latin typeface="Tahoma"/>
                <a:cs typeface="Tahoma"/>
              </a:rPr>
              <a:t> </a:t>
            </a:r>
            <a:r>
              <a:rPr sz="2800" b="1" spc="-10" dirty="0">
                <a:solidFill>
                  <a:srgbClr val="FFFFFF"/>
                </a:solidFill>
                <a:latin typeface="Tahoma"/>
                <a:cs typeface="Tahoma"/>
              </a:rPr>
              <a:t>V1+V2</a:t>
            </a:r>
            <a:endParaRPr sz="2800" dirty="0">
              <a:latin typeface="Tahoma"/>
              <a:cs typeface="Tahoma"/>
            </a:endParaRPr>
          </a:p>
          <a:p>
            <a:pPr>
              <a:lnSpc>
                <a:spcPct val="100000"/>
              </a:lnSpc>
              <a:spcBef>
                <a:spcPts val="840"/>
              </a:spcBef>
            </a:pPr>
            <a:endParaRPr sz="2800" dirty="0">
              <a:latin typeface="Tahoma"/>
              <a:cs typeface="Tahoma"/>
            </a:endParaRPr>
          </a:p>
          <a:p>
            <a:pPr marL="240029" marR="579755" indent="-227329">
              <a:lnSpc>
                <a:spcPct val="90000"/>
              </a:lnSpc>
              <a:buFont typeface="Arial"/>
              <a:buChar char="•"/>
              <a:tabLst>
                <a:tab pos="241300" algn="l"/>
              </a:tabLst>
            </a:pPr>
            <a:r>
              <a:rPr lang="en-US" sz="2800" spc="50" dirty="0" err="1">
                <a:latin typeface="Tahoma"/>
                <a:cs typeface="Tahoma"/>
              </a:rPr>
              <a:t>DeepLab</a:t>
            </a:r>
            <a:r>
              <a:rPr lang="en-US" sz="2800" spc="50" dirty="0">
                <a:latin typeface="Tahoma"/>
                <a:cs typeface="Tahoma"/>
              </a:rPr>
              <a:t> V1 and V2 were first published in 2016 and again in 2017 by authors Liang-</a:t>
            </a:r>
            <a:r>
              <a:rPr lang="en-US" sz="2800" spc="50" dirty="0" err="1">
                <a:latin typeface="Tahoma"/>
                <a:cs typeface="Tahoma"/>
              </a:rPr>
              <a:t>Chieh</a:t>
            </a:r>
            <a:r>
              <a:rPr lang="en-US" sz="2800" spc="50" dirty="0">
                <a:latin typeface="Tahoma"/>
                <a:cs typeface="Tahoma"/>
              </a:rPr>
              <a:t> Chen and George Papandreou, long-time researchers in Semantic Segmentation.</a:t>
            </a:r>
          </a:p>
          <a:p>
            <a:pPr marL="12700" marR="579755">
              <a:lnSpc>
                <a:spcPct val="90000"/>
              </a:lnSpc>
              <a:tabLst>
                <a:tab pos="241300" algn="l"/>
              </a:tabLst>
            </a:pPr>
            <a:endParaRPr lang="en-US" sz="2800" spc="50" dirty="0">
              <a:latin typeface="Tahoma"/>
              <a:cs typeface="Tahoma"/>
            </a:endParaRPr>
          </a:p>
          <a:p>
            <a:pPr marL="240029" marR="579755" indent="-227329">
              <a:lnSpc>
                <a:spcPct val="90000"/>
              </a:lnSpc>
              <a:buFont typeface="Arial"/>
              <a:buChar char="•"/>
              <a:tabLst>
                <a:tab pos="241300" algn="l"/>
              </a:tabLst>
            </a:pPr>
            <a:r>
              <a:rPr lang="en-US" sz="2800" spc="50" dirty="0">
                <a:latin typeface="Tahoma"/>
                <a:cs typeface="Tahoma"/>
              </a:rPr>
              <a:t>This architecture flexibly applies </a:t>
            </a:r>
            <a:r>
              <a:rPr lang="en-US" sz="2800" spc="50" dirty="0" err="1">
                <a:latin typeface="Tahoma"/>
                <a:cs typeface="Tahoma"/>
              </a:rPr>
              <a:t>Atrous</a:t>
            </a:r>
            <a:r>
              <a:rPr lang="en-US" sz="2800" spc="50" dirty="0">
                <a:latin typeface="Tahoma"/>
                <a:cs typeface="Tahoma"/>
              </a:rPr>
              <a:t> convolution instead of the previous methods using Transposed Convolution. In addition, the authors also applied Conditional Random Field to refine the prediction results for greater accuracy.</a:t>
            </a:r>
            <a:endParaRPr sz="2800" dirty="0">
              <a:latin typeface="Tahoma"/>
              <a:cs typeface="Tahoma"/>
            </a:endParaRPr>
          </a:p>
        </p:txBody>
      </p:sp>
      <p:sp>
        <p:nvSpPr>
          <p:cNvPr id="3" name="object 3"/>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26</a:t>
            </a:fld>
            <a:endParaRPr spc="-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677" y="98552"/>
            <a:ext cx="2640965" cy="452120"/>
          </a:xfrm>
          <a:prstGeom prst="rect">
            <a:avLst/>
          </a:prstGeom>
        </p:spPr>
        <p:txBody>
          <a:bodyPr vert="horz" wrap="square" lIns="0" tIns="12065" rIns="0" bIns="0" rtlCol="0">
            <a:spAutoFit/>
          </a:bodyPr>
          <a:lstStyle/>
          <a:p>
            <a:pPr marL="12700">
              <a:lnSpc>
                <a:spcPct val="100000"/>
              </a:lnSpc>
              <a:spcBef>
                <a:spcPts val="95"/>
              </a:spcBef>
            </a:pPr>
            <a:r>
              <a:rPr spc="-180" dirty="0"/>
              <a:t>DeepLap</a:t>
            </a:r>
            <a:r>
              <a:rPr spc="-55" dirty="0"/>
              <a:t> </a:t>
            </a:r>
            <a:r>
              <a:rPr spc="-160" dirty="0"/>
              <a:t>V1+V2</a:t>
            </a:r>
          </a:p>
        </p:txBody>
      </p:sp>
      <p:pic>
        <p:nvPicPr>
          <p:cNvPr id="3" name="object 3"/>
          <p:cNvPicPr/>
          <p:nvPr/>
        </p:nvPicPr>
        <p:blipFill>
          <a:blip r:embed="rId2" cstate="print"/>
          <a:stretch>
            <a:fillRect/>
          </a:stretch>
        </p:blipFill>
        <p:spPr>
          <a:xfrm>
            <a:off x="1388363" y="1051560"/>
            <a:ext cx="9415272" cy="4326636"/>
          </a:xfrm>
          <a:prstGeom prst="rect">
            <a:avLst/>
          </a:prstGeom>
        </p:spPr>
      </p:pic>
      <p:sp>
        <p:nvSpPr>
          <p:cNvPr id="4" name="object 4"/>
          <p:cNvSpPr txBox="1"/>
          <p:nvPr/>
        </p:nvSpPr>
        <p:spPr>
          <a:xfrm>
            <a:off x="1466850" y="5506923"/>
            <a:ext cx="9066530" cy="566822"/>
          </a:xfrm>
          <a:prstGeom prst="rect">
            <a:avLst/>
          </a:prstGeom>
        </p:spPr>
        <p:txBody>
          <a:bodyPr vert="horz" wrap="square" lIns="0" tIns="12700" rIns="0" bIns="0" rtlCol="0">
            <a:spAutoFit/>
          </a:bodyPr>
          <a:lstStyle/>
          <a:p>
            <a:pPr marL="12700" marR="5080">
              <a:lnSpc>
                <a:spcPct val="100000"/>
              </a:lnSpc>
              <a:spcBef>
                <a:spcPts val="100"/>
              </a:spcBef>
            </a:pPr>
            <a:r>
              <a:rPr sz="1800" spc="-25" dirty="0">
                <a:latin typeface="Tahoma"/>
                <a:cs typeface="Tahoma"/>
              </a:rPr>
              <a:t>Input</a:t>
            </a:r>
            <a:r>
              <a:rPr sz="1800" spc="-70" dirty="0">
                <a:latin typeface="Tahoma"/>
                <a:cs typeface="Tahoma"/>
              </a:rPr>
              <a:t> </a:t>
            </a:r>
            <a:r>
              <a:rPr sz="1800" dirty="0">
                <a:latin typeface="Tahoma"/>
                <a:cs typeface="Tahoma"/>
              </a:rPr>
              <a:t>-</a:t>
            </a:r>
            <a:r>
              <a:rPr sz="1800" spc="-280" dirty="0">
                <a:latin typeface="Tahoma"/>
                <a:cs typeface="Tahoma"/>
              </a:rPr>
              <a:t>&gt;</a:t>
            </a:r>
            <a:r>
              <a:rPr sz="1800" spc="-85" dirty="0">
                <a:latin typeface="Tahoma"/>
                <a:cs typeface="Tahoma"/>
              </a:rPr>
              <a:t> </a:t>
            </a:r>
            <a:r>
              <a:rPr sz="1800" spc="140" dirty="0">
                <a:latin typeface="Tahoma"/>
                <a:cs typeface="Tahoma"/>
              </a:rPr>
              <a:t>DCNN</a:t>
            </a:r>
            <a:r>
              <a:rPr sz="1800" spc="-80" dirty="0">
                <a:latin typeface="Tahoma"/>
                <a:cs typeface="Tahoma"/>
              </a:rPr>
              <a:t> </a:t>
            </a:r>
            <a:r>
              <a:rPr sz="1800" dirty="0">
                <a:latin typeface="Tahoma"/>
                <a:cs typeface="Tahoma"/>
              </a:rPr>
              <a:t>-</a:t>
            </a:r>
            <a:r>
              <a:rPr sz="1800" spc="-280" dirty="0">
                <a:latin typeface="Tahoma"/>
                <a:cs typeface="Tahoma"/>
              </a:rPr>
              <a:t>&gt;</a:t>
            </a:r>
            <a:r>
              <a:rPr sz="1800" spc="-85" dirty="0">
                <a:latin typeface="Tahoma"/>
                <a:cs typeface="Tahoma"/>
              </a:rPr>
              <a:t> </a:t>
            </a:r>
            <a:r>
              <a:rPr sz="1800" dirty="0">
                <a:latin typeface="Tahoma"/>
                <a:cs typeface="Tahoma"/>
              </a:rPr>
              <a:t>Score</a:t>
            </a:r>
            <a:r>
              <a:rPr sz="1800" spc="-85" dirty="0">
                <a:latin typeface="Tahoma"/>
                <a:cs typeface="Tahoma"/>
              </a:rPr>
              <a:t> </a:t>
            </a:r>
            <a:r>
              <a:rPr sz="1800" spc="70" dirty="0">
                <a:latin typeface="Tahoma"/>
                <a:cs typeface="Tahoma"/>
              </a:rPr>
              <a:t>Map</a:t>
            </a:r>
            <a:r>
              <a:rPr sz="1800" spc="-70" dirty="0">
                <a:latin typeface="Tahoma"/>
                <a:cs typeface="Tahoma"/>
              </a:rPr>
              <a:t> </a:t>
            </a:r>
            <a:r>
              <a:rPr sz="1800" dirty="0">
                <a:latin typeface="Tahoma"/>
                <a:cs typeface="Tahoma"/>
              </a:rPr>
              <a:t>-</a:t>
            </a:r>
            <a:r>
              <a:rPr sz="1800" spc="-280" dirty="0">
                <a:latin typeface="Tahoma"/>
                <a:cs typeface="Tahoma"/>
              </a:rPr>
              <a:t>&gt;</a:t>
            </a:r>
            <a:r>
              <a:rPr sz="1800" spc="-80" dirty="0">
                <a:latin typeface="Tahoma"/>
                <a:cs typeface="Tahoma"/>
              </a:rPr>
              <a:t> </a:t>
            </a:r>
            <a:r>
              <a:rPr sz="1800" dirty="0">
                <a:latin typeface="Tahoma"/>
                <a:cs typeface="Tahoma"/>
              </a:rPr>
              <a:t>bilinear</a:t>
            </a:r>
            <a:r>
              <a:rPr sz="1800" spc="-75" dirty="0">
                <a:latin typeface="Tahoma"/>
                <a:cs typeface="Tahoma"/>
              </a:rPr>
              <a:t> </a:t>
            </a:r>
            <a:r>
              <a:rPr sz="1800" dirty="0">
                <a:latin typeface="Tahoma"/>
                <a:cs typeface="Tahoma"/>
              </a:rPr>
              <a:t>interpolation</a:t>
            </a:r>
            <a:r>
              <a:rPr sz="1800" spc="-50" dirty="0">
                <a:latin typeface="Tahoma"/>
                <a:cs typeface="Tahoma"/>
              </a:rPr>
              <a:t> </a:t>
            </a:r>
            <a:r>
              <a:rPr sz="1800" dirty="0">
                <a:latin typeface="Tahoma"/>
                <a:cs typeface="Tahoma"/>
              </a:rPr>
              <a:t>-</a:t>
            </a:r>
            <a:r>
              <a:rPr sz="1800" spc="-280" dirty="0">
                <a:latin typeface="Tahoma"/>
                <a:cs typeface="Tahoma"/>
              </a:rPr>
              <a:t>&gt;</a:t>
            </a:r>
            <a:r>
              <a:rPr sz="1800" spc="-85" dirty="0">
                <a:latin typeface="Tahoma"/>
                <a:cs typeface="Tahoma"/>
              </a:rPr>
              <a:t> </a:t>
            </a:r>
            <a:r>
              <a:rPr sz="1800" spc="-10" dirty="0">
                <a:latin typeface="Tahoma"/>
                <a:cs typeface="Tahoma"/>
              </a:rPr>
              <a:t>Fully </a:t>
            </a:r>
            <a:r>
              <a:rPr sz="1800" dirty="0">
                <a:latin typeface="Tahoma"/>
                <a:cs typeface="Tahoma"/>
              </a:rPr>
              <a:t>Connected</a:t>
            </a:r>
            <a:r>
              <a:rPr sz="1800" spc="-50" dirty="0">
                <a:latin typeface="Tahoma"/>
                <a:cs typeface="Tahoma"/>
              </a:rPr>
              <a:t> </a:t>
            </a:r>
            <a:r>
              <a:rPr sz="1800" spc="65" dirty="0">
                <a:latin typeface="Tahoma"/>
                <a:cs typeface="Tahoma"/>
              </a:rPr>
              <a:t>CRF</a:t>
            </a:r>
            <a:r>
              <a:rPr sz="1800" spc="-50" dirty="0">
                <a:latin typeface="Tahoma"/>
                <a:cs typeface="Tahoma"/>
              </a:rPr>
              <a:t> </a:t>
            </a:r>
            <a:r>
              <a:rPr sz="1800" dirty="0">
                <a:latin typeface="Tahoma"/>
                <a:cs typeface="Tahoma"/>
              </a:rPr>
              <a:t>-</a:t>
            </a:r>
            <a:r>
              <a:rPr sz="1800" spc="-280" dirty="0">
                <a:latin typeface="Tahoma"/>
                <a:cs typeface="Tahoma"/>
              </a:rPr>
              <a:t>&gt;</a:t>
            </a:r>
            <a:r>
              <a:rPr sz="1800" spc="-45" dirty="0">
                <a:latin typeface="Tahoma"/>
                <a:cs typeface="Tahoma"/>
              </a:rPr>
              <a:t> </a:t>
            </a:r>
            <a:r>
              <a:rPr sz="1800" spc="-30" dirty="0">
                <a:latin typeface="Tahoma"/>
                <a:cs typeface="Tahoma"/>
              </a:rPr>
              <a:t>mask</a:t>
            </a:r>
            <a:r>
              <a:rPr sz="1800" spc="-45" dirty="0">
                <a:latin typeface="Tahoma"/>
                <a:cs typeface="Tahoma"/>
              </a:rPr>
              <a:t> </a:t>
            </a:r>
            <a:r>
              <a:rPr sz="1800" spc="-10" dirty="0">
                <a:latin typeface="Tahoma"/>
                <a:cs typeface="Tahoma"/>
              </a:rPr>
              <a:t>output</a:t>
            </a:r>
            <a:endParaRPr sz="1800" dirty="0">
              <a:latin typeface="Tahoma"/>
              <a:cs typeface="Tahoma"/>
            </a:endParaRPr>
          </a:p>
        </p:txBody>
      </p:sp>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27</a:t>
            </a:fld>
            <a:endParaRPr spc="-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677" y="98552"/>
            <a:ext cx="2640965" cy="452120"/>
          </a:xfrm>
          <a:prstGeom prst="rect">
            <a:avLst/>
          </a:prstGeom>
        </p:spPr>
        <p:txBody>
          <a:bodyPr vert="horz" wrap="square" lIns="0" tIns="12065" rIns="0" bIns="0" rtlCol="0">
            <a:spAutoFit/>
          </a:bodyPr>
          <a:lstStyle/>
          <a:p>
            <a:pPr marL="12700">
              <a:lnSpc>
                <a:spcPct val="100000"/>
              </a:lnSpc>
              <a:spcBef>
                <a:spcPts val="95"/>
              </a:spcBef>
            </a:pPr>
            <a:r>
              <a:rPr spc="-180" dirty="0"/>
              <a:t>DeepLab</a:t>
            </a:r>
            <a:r>
              <a:rPr spc="-60" dirty="0"/>
              <a:t> </a:t>
            </a:r>
            <a:r>
              <a:rPr spc="-160" dirty="0"/>
              <a:t>V1+V2</a:t>
            </a:r>
          </a:p>
        </p:txBody>
      </p:sp>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28</a:t>
            </a:fld>
            <a:endParaRPr spc="-25" dirty="0"/>
          </a:p>
        </p:txBody>
      </p:sp>
      <p:sp>
        <p:nvSpPr>
          <p:cNvPr id="3" name="object 3"/>
          <p:cNvSpPr txBox="1"/>
          <p:nvPr/>
        </p:nvSpPr>
        <p:spPr>
          <a:xfrm>
            <a:off x="416458" y="983627"/>
            <a:ext cx="11340465" cy="4691028"/>
          </a:xfrm>
          <a:prstGeom prst="rect">
            <a:avLst/>
          </a:prstGeom>
        </p:spPr>
        <p:txBody>
          <a:bodyPr vert="horz" wrap="square" lIns="0" tIns="53340" rIns="0" bIns="0" rtlCol="0">
            <a:spAutoFit/>
          </a:bodyPr>
          <a:lstStyle/>
          <a:p>
            <a:pPr marL="12700">
              <a:lnSpc>
                <a:spcPct val="100000"/>
              </a:lnSpc>
              <a:spcBef>
                <a:spcPts val="420"/>
              </a:spcBef>
              <a:tabLst>
                <a:tab pos="240029" algn="l"/>
              </a:tabLst>
            </a:pPr>
            <a:r>
              <a:rPr lang="en-US" sz="2400" dirty="0" err="1">
                <a:latin typeface="Tahoma"/>
                <a:cs typeface="Tahoma"/>
              </a:rPr>
              <a:t>DeepLab</a:t>
            </a:r>
            <a:r>
              <a:rPr lang="en-US" sz="2400" dirty="0">
                <a:latin typeface="Tahoma"/>
                <a:cs typeface="Tahoma"/>
              </a:rPr>
              <a:t> employs a DCNN with </a:t>
            </a:r>
            <a:r>
              <a:rPr lang="en-US" sz="2400" dirty="0" err="1">
                <a:latin typeface="Tahoma"/>
                <a:cs typeface="Tahoma"/>
              </a:rPr>
              <a:t>Atrous</a:t>
            </a:r>
            <a:r>
              <a:rPr lang="en-US" sz="2400" dirty="0">
                <a:latin typeface="Tahoma"/>
                <a:cs typeface="Tahoma"/>
              </a:rPr>
              <a:t> Convolutions to extract image features, providing a larger receptive field while preserving spatial information and maintaining a similar number of parameters and computational cost compared to standard convolutions.</a:t>
            </a:r>
          </a:p>
          <a:p>
            <a:pPr marL="12700">
              <a:lnSpc>
                <a:spcPct val="100000"/>
              </a:lnSpc>
              <a:spcBef>
                <a:spcPts val="420"/>
              </a:spcBef>
              <a:tabLst>
                <a:tab pos="240029" algn="l"/>
              </a:tabLst>
            </a:pPr>
            <a:r>
              <a:rPr lang="en-US" sz="2400" dirty="0">
                <a:latin typeface="Tahoma"/>
                <a:cs typeface="Tahoma"/>
              </a:rPr>
              <a:t>The DCNN generates a coarse score map, which represents the extracted features of the input image but has a lower resolution than the original image.</a:t>
            </a:r>
          </a:p>
          <a:p>
            <a:pPr marL="12700">
              <a:lnSpc>
                <a:spcPct val="100000"/>
              </a:lnSpc>
              <a:spcBef>
                <a:spcPts val="420"/>
              </a:spcBef>
              <a:tabLst>
                <a:tab pos="240029" algn="l"/>
              </a:tabLst>
            </a:pPr>
            <a:r>
              <a:rPr lang="en-US" sz="2400" dirty="0">
                <a:latin typeface="Tahoma"/>
                <a:cs typeface="Tahoma"/>
              </a:rPr>
              <a:t>Bilinear Interpolation is used to </a:t>
            </a:r>
            <a:r>
              <a:rPr lang="en-US" sz="2400" dirty="0" err="1">
                <a:latin typeface="Tahoma"/>
                <a:cs typeface="Tahoma"/>
              </a:rPr>
              <a:t>upsample</a:t>
            </a:r>
            <a:r>
              <a:rPr lang="en-US" sz="2400" dirty="0">
                <a:latin typeface="Tahoma"/>
                <a:cs typeface="Tahoma"/>
              </a:rPr>
              <a:t> the score map back to the original image size while preserving the overall spatial layout.</a:t>
            </a:r>
          </a:p>
          <a:p>
            <a:pPr marL="12700">
              <a:lnSpc>
                <a:spcPct val="100000"/>
              </a:lnSpc>
              <a:spcBef>
                <a:spcPts val="420"/>
              </a:spcBef>
              <a:tabLst>
                <a:tab pos="240029" algn="l"/>
              </a:tabLst>
            </a:pPr>
            <a:r>
              <a:rPr lang="en-US" sz="2400" dirty="0">
                <a:latin typeface="Tahoma"/>
                <a:cs typeface="Tahoma"/>
              </a:rPr>
              <a:t>A Fully Connected Layer combined with a Conditional Random Field (CRF) is applied to refine and normalize pixel-level labels.</a:t>
            </a:r>
          </a:p>
          <a:p>
            <a:pPr marL="12700">
              <a:lnSpc>
                <a:spcPct val="100000"/>
              </a:lnSpc>
              <a:spcBef>
                <a:spcPts val="420"/>
              </a:spcBef>
              <a:tabLst>
                <a:tab pos="240029" algn="l"/>
              </a:tabLst>
            </a:pPr>
            <a:r>
              <a:rPr lang="en-US" sz="2400" dirty="0">
                <a:latin typeface="Tahoma"/>
                <a:cs typeface="Tahoma"/>
              </a:rPr>
              <a:t>The final output is a segmentation map with sharper boundaries and more accurate object regions, resulting in improved pixel-wise classification performance.</a:t>
            </a:r>
            <a:endParaRPr sz="2000" dirty="0">
              <a:latin typeface="Tahoma"/>
              <a:cs typeface="Tahom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80" dirty="0"/>
              <a:t>DeepLab</a:t>
            </a:r>
            <a:r>
              <a:rPr spc="-110" dirty="0"/>
              <a:t> </a:t>
            </a:r>
            <a:r>
              <a:rPr spc="-80" dirty="0"/>
              <a:t>V1</a:t>
            </a:r>
            <a:r>
              <a:rPr spc="-110" dirty="0"/>
              <a:t> </a:t>
            </a:r>
            <a:r>
              <a:rPr spc="-690" dirty="0"/>
              <a:t>+</a:t>
            </a:r>
            <a:r>
              <a:rPr spc="-130" dirty="0"/>
              <a:t> </a:t>
            </a:r>
            <a:r>
              <a:rPr spc="-65" dirty="0"/>
              <a:t>V2</a:t>
            </a:r>
            <a:r>
              <a:rPr spc="-105" dirty="0"/>
              <a:t> </a:t>
            </a:r>
            <a:r>
              <a:rPr spc="-175" dirty="0"/>
              <a:t>-</a:t>
            </a:r>
            <a:r>
              <a:rPr spc="-130" dirty="0"/>
              <a:t> </a:t>
            </a:r>
            <a:r>
              <a:rPr spc="-145" dirty="0"/>
              <a:t>Atrous</a:t>
            </a:r>
            <a:r>
              <a:rPr spc="-114" dirty="0"/>
              <a:t> </a:t>
            </a:r>
            <a:r>
              <a:rPr spc="-130" dirty="0"/>
              <a:t>Convolution</a:t>
            </a:r>
          </a:p>
        </p:txBody>
      </p:sp>
      <p:pic>
        <p:nvPicPr>
          <p:cNvPr id="3" name="object 3"/>
          <p:cNvPicPr/>
          <p:nvPr/>
        </p:nvPicPr>
        <p:blipFill>
          <a:blip r:embed="rId2" cstate="print"/>
          <a:stretch>
            <a:fillRect/>
          </a:stretch>
        </p:blipFill>
        <p:spPr>
          <a:xfrm>
            <a:off x="0" y="838200"/>
            <a:ext cx="12132563" cy="5181600"/>
          </a:xfrm>
          <a:prstGeom prst="rect">
            <a:avLst/>
          </a:prstGeom>
        </p:spPr>
      </p:pic>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29</a:t>
            </a:fld>
            <a:endParaRPr spc="-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80" dirty="0"/>
              <a:t>DeepLab</a:t>
            </a:r>
            <a:r>
              <a:rPr spc="-110" dirty="0"/>
              <a:t> </a:t>
            </a:r>
            <a:r>
              <a:rPr spc="-80" dirty="0"/>
              <a:t>V1</a:t>
            </a:r>
            <a:r>
              <a:rPr spc="-110" dirty="0"/>
              <a:t> </a:t>
            </a:r>
            <a:r>
              <a:rPr spc="-690" dirty="0"/>
              <a:t>+</a:t>
            </a:r>
            <a:r>
              <a:rPr spc="-130" dirty="0"/>
              <a:t> </a:t>
            </a:r>
            <a:r>
              <a:rPr spc="-65" dirty="0"/>
              <a:t>V2</a:t>
            </a:r>
            <a:r>
              <a:rPr spc="-105" dirty="0"/>
              <a:t> </a:t>
            </a:r>
            <a:r>
              <a:rPr spc="-175" dirty="0"/>
              <a:t>-</a:t>
            </a:r>
            <a:r>
              <a:rPr spc="-130" dirty="0"/>
              <a:t> </a:t>
            </a:r>
            <a:r>
              <a:rPr spc="-145" dirty="0"/>
              <a:t>Atrous</a:t>
            </a:r>
            <a:r>
              <a:rPr spc="-114" dirty="0"/>
              <a:t> </a:t>
            </a:r>
            <a:r>
              <a:rPr spc="-130" dirty="0"/>
              <a:t>Convolution</a:t>
            </a:r>
          </a:p>
        </p:txBody>
      </p:sp>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30</a:t>
            </a:fld>
            <a:endParaRPr spc="-25" dirty="0"/>
          </a:p>
        </p:txBody>
      </p:sp>
      <p:sp>
        <p:nvSpPr>
          <p:cNvPr id="3" name="object 3"/>
          <p:cNvSpPr txBox="1"/>
          <p:nvPr/>
        </p:nvSpPr>
        <p:spPr>
          <a:xfrm>
            <a:off x="416458" y="983627"/>
            <a:ext cx="11080115" cy="4516621"/>
          </a:xfrm>
          <a:prstGeom prst="rect">
            <a:avLst/>
          </a:prstGeom>
        </p:spPr>
        <p:txBody>
          <a:bodyPr vert="horz" wrap="square" lIns="0" tIns="53340" rIns="0" bIns="0" rtlCol="0">
            <a:spAutoFit/>
          </a:bodyPr>
          <a:lstStyle/>
          <a:p>
            <a:pPr marL="240029" indent="-227329">
              <a:lnSpc>
                <a:spcPct val="100000"/>
              </a:lnSpc>
              <a:spcBef>
                <a:spcPts val="420"/>
              </a:spcBef>
              <a:buFont typeface="Arial"/>
              <a:buChar char="•"/>
              <a:tabLst>
                <a:tab pos="240029" algn="l"/>
              </a:tabLst>
            </a:pPr>
            <a:r>
              <a:rPr lang="en-US" sz="2000" dirty="0" err="1">
                <a:latin typeface="Tahoma"/>
                <a:cs typeface="Tahoma"/>
              </a:rPr>
              <a:t>Austros</a:t>
            </a:r>
            <a:r>
              <a:rPr lang="en-US" sz="2000" dirty="0">
                <a:latin typeface="Tahoma"/>
                <a:cs typeface="Tahoma"/>
              </a:rPr>
              <a:t> convolution has the following effects:</a:t>
            </a:r>
          </a:p>
          <a:p>
            <a:pPr marL="240029" indent="-227329">
              <a:lnSpc>
                <a:spcPct val="100000"/>
              </a:lnSpc>
              <a:spcBef>
                <a:spcPts val="420"/>
              </a:spcBef>
              <a:buFont typeface="Arial"/>
              <a:buChar char="•"/>
              <a:tabLst>
                <a:tab pos="240029" algn="l"/>
              </a:tabLst>
            </a:pPr>
            <a:r>
              <a:rPr lang="en-US" sz="2000" dirty="0">
                <a:latin typeface="Tahoma"/>
                <a:cs typeface="Tahoma"/>
              </a:rPr>
              <a:t>Increases the output size compared to the input.</a:t>
            </a:r>
          </a:p>
          <a:p>
            <a:pPr marL="240029" indent="-227329">
              <a:lnSpc>
                <a:spcPct val="100000"/>
              </a:lnSpc>
              <a:spcBef>
                <a:spcPts val="420"/>
              </a:spcBef>
              <a:buFont typeface="Arial"/>
              <a:buChar char="•"/>
              <a:tabLst>
                <a:tab pos="240029" algn="l"/>
              </a:tabLst>
            </a:pPr>
            <a:r>
              <a:rPr lang="en-US" sz="2000" dirty="0">
                <a:latin typeface="Tahoma"/>
                <a:cs typeface="Tahoma"/>
              </a:rPr>
              <a:t>A larger perceptual area expands the filter's field of view and is suitable for broader contexts.</a:t>
            </a:r>
          </a:p>
          <a:p>
            <a:pPr marL="240029" indent="-227329">
              <a:lnSpc>
                <a:spcPct val="100000"/>
              </a:lnSpc>
              <a:spcBef>
                <a:spcPts val="420"/>
              </a:spcBef>
              <a:buFont typeface="Arial"/>
              <a:buChar char="•"/>
              <a:tabLst>
                <a:tab pos="240029" algn="l"/>
              </a:tabLst>
            </a:pPr>
            <a:r>
              <a:rPr lang="en-US" sz="2000" dirty="0">
                <a:latin typeface="Tahoma"/>
                <a:cs typeface="Tahoma"/>
              </a:rPr>
              <a:t>This is a mechanism that allows control over the field of view and finding the most reasonable trade-off between local accuracy (applied to narrow field of view) and contextual uniformity (applied to wide field of view).</a:t>
            </a:r>
          </a:p>
          <a:p>
            <a:pPr marL="240029" indent="-227329">
              <a:lnSpc>
                <a:spcPct val="100000"/>
              </a:lnSpc>
              <a:spcBef>
                <a:spcPts val="420"/>
              </a:spcBef>
              <a:buFont typeface="Arial"/>
              <a:buChar char="•"/>
              <a:tabLst>
                <a:tab pos="240029" algn="l"/>
              </a:tabLst>
            </a:pPr>
            <a:r>
              <a:rPr lang="en-US" sz="2000" dirty="0">
                <a:latin typeface="Tahoma"/>
                <a:cs typeface="Tahoma"/>
              </a:rPr>
              <a:t>For </a:t>
            </a:r>
            <a:r>
              <a:rPr lang="en-US" sz="2000" dirty="0" err="1">
                <a:latin typeface="Tahoma"/>
                <a:cs typeface="Tahoma"/>
              </a:rPr>
              <a:t>austros</a:t>
            </a:r>
            <a:r>
              <a:rPr lang="en-US" sz="2000" dirty="0">
                <a:latin typeface="Tahoma"/>
                <a:cs typeface="Tahoma"/>
              </a:rPr>
              <a:t> convolution, we are interested in the following indices:</a:t>
            </a:r>
          </a:p>
          <a:p>
            <a:pPr marL="240029" indent="-227329">
              <a:lnSpc>
                <a:spcPct val="100000"/>
              </a:lnSpc>
              <a:spcBef>
                <a:spcPts val="420"/>
              </a:spcBef>
              <a:buFont typeface="Arial"/>
              <a:buChar char="•"/>
              <a:tabLst>
                <a:tab pos="240029" algn="l"/>
              </a:tabLst>
            </a:pPr>
            <a:r>
              <a:rPr lang="en-US" sz="2000" dirty="0">
                <a:latin typeface="Tahoma"/>
                <a:cs typeface="Tahoma"/>
              </a:rPr>
              <a:t>Rate: denoted by R, is the distance between consecutive rows or columns after inserting zero rows and columns. </a:t>
            </a:r>
          </a:p>
          <a:p>
            <a:pPr marL="240029" indent="-227329">
              <a:lnSpc>
                <a:spcPct val="100000"/>
              </a:lnSpc>
              <a:spcBef>
                <a:spcPts val="420"/>
              </a:spcBef>
              <a:buFont typeface="Arial"/>
              <a:buChar char="•"/>
              <a:tabLst>
                <a:tab pos="240029" algn="l"/>
              </a:tabLst>
            </a:pPr>
            <a:r>
              <a:rPr lang="en-US" sz="2000" dirty="0">
                <a:latin typeface="Tahoma"/>
                <a:cs typeface="Tahoma"/>
              </a:rPr>
              <a:t>If rate = r, then every other row or column there are r-1 zero rows or columns.</a:t>
            </a:r>
          </a:p>
          <a:p>
            <a:pPr marL="240029" indent="-227329">
              <a:lnSpc>
                <a:spcPct val="100000"/>
              </a:lnSpc>
              <a:spcBef>
                <a:spcPts val="420"/>
              </a:spcBef>
              <a:buFont typeface="Arial"/>
              <a:buChar char="•"/>
              <a:tabLst>
                <a:tab pos="240029" algn="l"/>
              </a:tabLst>
            </a:pPr>
            <a:r>
              <a:rPr lang="en-US" sz="2000" dirty="0">
                <a:latin typeface="Tahoma"/>
                <a:cs typeface="Tahoma"/>
              </a:rPr>
              <a:t>Kernel: denoted by K, the filter size.</a:t>
            </a:r>
          </a:p>
          <a:p>
            <a:pPr marL="240029" indent="-227329">
              <a:lnSpc>
                <a:spcPct val="100000"/>
              </a:lnSpc>
              <a:spcBef>
                <a:spcPts val="420"/>
              </a:spcBef>
              <a:buFont typeface="Arial"/>
              <a:buChar char="•"/>
              <a:tabLst>
                <a:tab pos="240029" algn="l"/>
              </a:tabLst>
            </a:pPr>
            <a:r>
              <a:rPr lang="en-US" sz="2000" dirty="0">
                <a:latin typeface="Tahoma"/>
                <a:cs typeface="Tahoma"/>
              </a:rPr>
              <a:t>Padding: denoted by P, the size of the zero padding surrounding the image.</a:t>
            </a:r>
          </a:p>
          <a:p>
            <a:pPr marL="240029" indent="-227329">
              <a:lnSpc>
                <a:spcPct val="100000"/>
              </a:lnSpc>
              <a:spcBef>
                <a:spcPts val="420"/>
              </a:spcBef>
              <a:buFont typeface="Arial"/>
              <a:buChar char="•"/>
              <a:tabLst>
                <a:tab pos="240029" algn="l"/>
              </a:tabLst>
            </a:pPr>
            <a:r>
              <a:rPr lang="en-US" sz="2000" dirty="0">
                <a:latin typeface="Tahoma"/>
                <a:cs typeface="Tahoma"/>
              </a:rPr>
              <a:t>Stride: denoted by S, the number of steps moved per convolution.</a:t>
            </a:r>
            <a:endParaRPr sz="2000" dirty="0">
              <a:latin typeface="Tahoma"/>
              <a:cs typeface="Tahom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80" dirty="0"/>
              <a:t>DeepLab</a:t>
            </a:r>
            <a:r>
              <a:rPr spc="-100" dirty="0"/>
              <a:t> </a:t>
            </a:r>
            <a:r>
              <a:rPr spc="-80" dirty="0"/>
              <a:t>V1</a:t>
            </a:r>
            <a:r>
              <a:rPr spc="-105" dirty="0"/>
              <a:t> </a:t>
            </a:r>
            <a:r>
              <a:rPr spc="-690" dirty="0"/>
              <a:t>+</a:t>
            </a:r>
            <a:r>
              <a:rPr spc="-125" dirty="0"/>
              <a:t> </a:t>
            </a:r>
            <a:r>
              <a:rPr spc="-65" dirty="0"/>
              <a:t>V2</a:t>
            </a:r>
            <a:r>
              <a:rPr spc="-90" dirty="0"/>
              <a:t> </a:t>
            </a:r>
            <a:r>
              <a:rPr spc="-175" dirty="0"/>
              <a:t>-</a:t>
            </a:r>
            <a:r>
              <a:rPr spc="-125" dirty="0"/>
              <a:t> </a:t>
            </a:r>
            <a:r>
              <a:rPr spc="-145" dirty="0"/>
              <a:t>Atrous</a:t>
            </a:r>
            <a:r>
              <a:rPr spc="-110" dirty="0"/>
              <a:t> </a:t>
            </a:r>
            <a:r>
              <a:rPr spc="-210" dirty="0"/>
              <a:t>Spatial</a:t>
            </a:r>
            <a:r>
              <a:rPr spc="-100" dirty="0"/>
              <a:t> </a:t>
            </a:r>
            <a:r>
              <a:rPr spc="-210" dirty="0"/>
              <a:t>Pyramid</a:t>
            </a:r>
            <a:r>
              <a:rPr spc="-85" dirty="0"/>
              <a:t> </a:t>
            </a:r>
            <a:r>
              <a:rPr spc="-175" dirty="0"/>
              <a:t>Pooling</a:t>
            </a:r>
            <a:r>
              <a:rPr spc="-100" dirty="0"/>
              <a:t> </a:t>
            </a:r>
            <a:r>
              <a:rPr spc="-170" dirty="0"/>
              <a:t>(ASPP)</a:t>
            </a:r>
          </a:p>
        </p:txBody>
      </p:sp>
      <p:grpSp>
        <p:nvGrpSpPr>
          <p:cNvPr id="3" name="object 3"/>
          <p:cNvGrpSpPr/>
          <p:nvPr/>
        </p:nvGrpSpPr>
        <p:grpSpPr>
          <a:xfrm>
            <a:off x="0" y="1365503"/>
            <a:ext cx="12087225" cy="4014470"/>
            <a:chOff x="0" y="1365503"/>
            <a:chExt cx="12087225" cy="4014470"/>
          </a:xfrm>
        </p:grpSpPr>
        <p:pic>
          <p:nvPicPr>
            <p:cNvPr id="4" name="object 4"/>
            <p:cNvPicPr/>
            <p:nvPr/>
          </p:nvPicPr>
          <p:blipFill>
            <a:blip r:embed="rId2" cstate="print"/>
            <a:stretch>
              <a:fillRect/>
            </a:stretch>
          </p:blipFill>
          <p:spPr>
            <a:xfrm>
              <a:off x="0" y="1365503"/>
              <a:ext cx="5350763" cy="4014216"/>
            </a:xfrm>
            <a:prstGeom prst="rect">
              <a:avLst/>
            </a:prstGeom>
          </p:spPr>
        </p:pic>
        <p:pic>
          <p:nvPicPr>
            <p:cNvPr id="5" name="object 5"/>
            <p:cNvPicPr/>
            <p:nvPr/>
          </p:nvPicPr>
          <p:blipFill>
            <a:blip r:embed="rId3" cstate="print"/>
            <a:stretch>
              <a:fillRect/>
            </a:stretch>
          </p:blipFill>
          <p:spPr>
            <a:xfrm>
              <a:off x="5350763" y="1991867"/>
              <a:ext cx="6736080" cy="3387852"/>
            </a:xfrm>
            <a:prstGeom prst="rect">
              <a:avLst/>
            </a:prstGeom>
          </p:spPr>
        </p:pic>
      </p:grpSp>
      <p:sp>
        <p:nvSpPr>
          <p:cNvPr id="6" name="object 6"/>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31</a:t>
            </a:fld>
            <a:endParaRPr spc="-2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6458" y="98552"/>
            <a:ext cx="11162030" cy="3869649"/>
          </a:xfrm>
          <a:prstGeom prst="rect">
            <a:avLst/>
          </a:prstGeom>
        </p:spPr>
        <p:txBody>
          <a:bodyPr vert="horz" wrap="square" lIns="0" tIns="12065" rIns="0" bIns="0" rtlCol="0">
            <a:spAutoFit/>
          </a:bodyPr>
          <a:lstStyle/>
          <a:p>
            <a:pPr marL="13335">
              <a:lnSpc>
                <a:spcPct val="100000"/>
              </a:lnSpc>
              <a:spcBef>
                <a:spcPts val="95"/>
              </a:spcBef>
            </a:pPr>
            <a:r>
              <a:rPr sz="2800" b="1" spc="-180" dirty="0">
                <a:solidFill>
                  <a:srgbClr val="FFFFFF"/>
                </a:solidFill>
                <a:latin typeface="Tahoma"/>
                <a:cs typeface="Tahoma"/>
              </a:rPr>
              <a:t>DeepLab</a:t>
            </a:r>
            <a:r>
              <a:rPr sz="2800" b="1" spc="-110" dirty="0">
                <a:solidFill>
                  <a:srgbClr val="FFFFFF"/>
                </a:solidFill>
                <a:latin typeface="Tahoma"/>
                <a:cs typeface="Tahoma"/>
              </a:rPr>
              <a:t> </a:t>
            </a:r>
            <a:r>
              <a:rPr sz="2800" b="1" spc="-80" dirty="0">
                <a:solidFill>
                  <a:srgbClr val="FFFFFF"/>
                </a:solidFill>
                <a:latin typeface="Tahoma"/>
                <a:cs typeface="Tahoma"/>
              </a:rPr>
              <a:t>V1</a:t>
            </a:r>
            <a:r>
              <a:rPr sz="2800" b="1" spc="-110" dirty="0">
                <a:solidFill>
                  <a:srgbClr val="FFFFFF"/>
                </a:solidFill>
                <a:latin typeface="Tahoma"/>
                <a:cs typeface="Tahoma"/>
              </a:rPr>
              <a:t> </a:t>
            </a:r>
            <a:r>
              <a:rPr sz="2800" b="1" spc="-690" dirty="0">
                <a:solidFill>
                  <a:srgbClr val="FFFFFF"/>
                </a:solidFill>
                <a:latin typeface="Tahoma"/>
                <a:cs typeface="Tahoma"/>
              </a:rPr>
              <a:t>+</a:t>
            </a:r>
            <a:r>
              <a:rPr sz="2800" b="1" spc="-130" dirty="0">
                <a:solidFill>
                  <a:srgbClr val="FFFFFF"/>
                </a:solidFill>
                <a:latin typeface="Tahoma"/>
                <a:cs typeface="Tahoma"/>
              </a:rPr>
              <a:t> </a:t>
            </a:r>
            <a:r>
              <a:rPr sz="2800" b="1" spc="-65" dirty="0">
                <a:solidFill>
                  <a:srgbClr val="FFFFFF"/>
                </a:solidFill>
                <a:latin typeface="Tahoma"/>
                <a:cs typeface="Tahoma"/>
              </a:rPr>
              <a:t>V2</a:t>
            </a:r>
            <a:r>
              <a:rPr sz="2800" b="1" spc="-100" dirty="0">
                <a:solidFill>
                  <a:srgbClr val="FFFFFF"/>
                </a:solidFill>
                <a:latin typeface="Tahoma"/>
                <a:cs typeface="Tahoma"/>
              </a:rPr>
              <a:t> </a:t>
            </a:r>
            <a:r>
              <a:rPr sz="2800" b="1" spc="-185" dirty="0">
                <a:solidFill>
                  <a:srgbClr val="FFFFFF"/>
                </a:solidFill>
                <a:latin typeface="Tahoma"/>
                <a:cs typeface="Tahoma"/>
              </a:rPr>
              <a:t>–</a:t>
            </a:r>
            <a:r>
              <a:rPr sz="2800" b="1" spc="-130" dirty="0">
                <a:solidFill>
                  <a:srgbClr val="FFFFFF"/>
                </a:solidFill>
                <a:latin typeface="Tahoma"/>
                <a:cs typeface="Tahoma"/>
              </a:rPr>
              <a:t> </a:t>
            </a:r>
            <a:r>
              <a:rPr sz="2800" b="1" spc="-165" dirty="0">
                <a:solidFill>
                  <a:srgbClr val="FFFFFF"/>
                </a:solidFill>
                <a:latin typeface="Tahoma"/>
                <a:cs typeface="Tahoma"/>
              </a:rPr>
              <a:t>Conditional</a:t>
            </a:r>
            <a:r>
              <a:rPr sz="2800" b="1" spc="-100" dirty="0">
                <a:solidFill>
                  <a:srgbClr val="FFFFFF"/>
                </a:solidFill>
                <a:latin typeface="Tahoma"/>
                <a:cs typeface="Tahoma"/>
              </a:rPr>
              <a:t> </a:t>
            </a:r>
            <a:r>
              <a:rPr sz="2800" b="1" spc="-245" dirty="0">
                <a:solidFill>
                  <a:srgbClr val="FFFFFF"/>
                </a:solidFill>
                <a:latin typeface="Tahoma"/>
                <a:cs typeface="Tahoma"/>
              </a:rPr>
              <a:t>Random</a:t>
            </a:r>
            <a:r>
              <a:rPr sz="2800" b="1" spc="-100" dirty="0">
                <a:solidFill>
                  <a:srgbClr val="FFFFFF"/>
                </a:solidFill>
                <a:latin typeface="Tahoma"/>
                <a:cs typeface="Tahoma"/>
              </a:rPr>
              <a:t> </a:t>
            </a:r>
            <a:r>
              <a:rPr sz="2800" b="1" spc="-155" dirty="0">
                <a:solidFill>
                  <a:srgbClr val="FFFFFF"/>
                </a:solidFill>
                <a:latin typeface="Tahoma"/>
                <a:cs typeface="Tahoma"/>
              </a:rPr>
              <a:t>Field</a:t>
            </a:r>
            <a:r>
              <a:rPr sz="2800" b="1" spc="-110" dirty="0">
                <a:solidFill>
                  <a:srgbClr val="FFFFFF"/>
                </a:solidFill>
                <a:latin typeface="Tahoma"/>
                <a:cs typeface="Tahoma"/>
              </a:rPr>
              <a:t> </a:t>
            </a:r>
            <a:r>
              <a:rPr sz="2800" b="1" spc="-285" dirty="0">
                <a:solidFill>
                  <a:srgbClr val="FFFFFF"/>
                </a:solidFill>
                <a:latin typeface="Tahoma"/>
                <a:cs typeface="Tahoma"/>
              </a:rPr>
              <a:t>(CRF)</a:t>
            </a:r>
            <a:endParaRPr sz="2800" dirty="0">
              <a:latin typeface="Tahoma"/>
              <a:cs typeface="Tahoma"/>
            </a:endParaRPr>
          </a:p>
          <a:p>
            <a:pPr>
              <a:lnSpc>
                <a:spcPct val="100000"/>
              </a:lnSpc>
              <a:spcBef>
                <a:spcPts val="840"/>
              </a:spcBef>
            </a:pPr>
            <a:endParaRPr lang="en-US" sz="2800" dirty="0">
              <a:latin typeface="Tahoma"/>
              <a:cs typeface="Tahoma"/>
            </a:endParaRPr>
          </a:p>
          <a:p>
            <a:pPr>
              <a:lnSpc>
                <a:spcPct val="100000"/>
              </a:lnSpc>
              <a:spcBef>
                <a:spcPts val="840"/>
              </a:spcBef>
            </a:pPr>
            <a:r>
              <a:rPr lang="en-US" sz="2800" dirty="0" err="1">
                <a:latin typeface="Tahoma"/>
                <a:cs typeface="Tahoma"/>
              </a:rPr>
              <a:t>Deeplab</a:t>
            </a:r>
            <a:r>
              <a:rPr lang="en-US" sz="2800" dirty="0">
                <a:latin typeface="Tahoma"/>
                <a:cs typeface="Tahoma"/>
              </a:rPr>
              <a:t> V2 uses ASPP to obtain a feature map that synthesizes the context across multiple spatial regions of varying sizes. </a:t>
            </a:r>
          </a:p>
          <a:p>
            <a:pPr>
              <a:lnSpc>
                <a:spcPct val="100000"/>
              </a:lnSpc>
              <a:spcBef>
                <a:spcPts val="840"/>
              </a:spcBef>
            </a:pPr>
            <a:r>
              <a:rPr lang="en-US" sz="2800" dirty="0">
                <a:latin typeface="Tahoma"/>
                <a:cs typeface="Tahoma"/>
              </a:rPr>
              <a:t>To return to the input size, the feature map is then scaled up using bilinear interpolation. </a:t>
            </a:r>
          </a:p>
          <a:p>
            <a:pPr>
              <a:lnSpc>
                <a:spcPct val="100000"/>
              </a:lnSpc>
              <a:spcBef>
                <a:spcPts val="840"/>
              </a:spcBef>
            </a:pPr>
            <a:r>
              <a:rPr lang="en-US" sz="2800" dirty="0">
                <a:latin typeface="Tahoma"/>
                <a:cs typeface="Tahoma"/>
              </a:rPr>
              <a:t>Boundaries are refined for sharper detail, and object shapes are smoothed through Fully Connected Conditional Random Fields.</a:t>
            </a:r>
            <a:endParaRPr sz="2800" dirty="0">
              <a:latin typeface="Tahoma"/>
              <a:cs typeface="Tahoma"/>
            </a:endParaRPr>
          </a:p>
        </p:txBody>
      </p:sp>
      <p:sp>
        <p:nvSpPr>
          <p:cNvPr id="3" name="object 3"/>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32</a:t>
            </a:fld>
            <a:endParaRPr spc="-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80" dirty="0"/>
              <a:t>DeepLap</a:t>
            </a:r>
            <a:r>
              <a:rPr spc="-90" dirty="0"/>
              <a:t> </a:t>
            </a:r>
            <a:r>
              <a:rPr spc="-200" dirty="0"/>
              <a:t>V1+V2</a:t>
            </a:r>
            <a:r>
              <a:rPr spc="-80" dirty="0"/>
              <a:t> </a:t>
            </a:r>
            <a:r>
              <a:rPr spc="-185" dirty="0"/>
              <a:t>–</a:t>
            </a:r>
            <a:r>
              <a:rPr spc="-105" dirty="0"/>
              <a:t> </a:t>
            </a:r>
            <a:r>
              <a:rPr spc="-120" dirty="0"/>
              <a:t>CRF</a:t>
            </a:r>
            <a:r>
              <a:rPr spc="-114" dirty="0"/>
              <a:t> </a:t>
            </a:r>
            <a:r>
              <a:rPr spc="-185" dirty="0"/>
              <a:t>–</a:t>
            </a:r>
            <a:r>
              <a:rPr spc="-110" dirty="0"/>
              <a:t> </a:t>
            </a:r>
            <a:r>
              <a:rPr spc="-150" dirty="0"/>
              <a:t>Bi-</a:t>
            </a:r>
            <a:r>
              <a:rPr spc="-195" dirty="0"/>
              <a:t>linear</a:t>
            </a:r>
            <a:r>
              <a:rPr spc="-40" dirty="0"/>
              <a:t> </a:t>
            </a:r>
            <a:r>
              <a:rPr spc="-145" dirty="0"/>
              <a:t>interpolation</a:t>
            </a:r>
          </a:p>
        </p:txBody>
      </p:sp>
      <p:sp>
        <p:nvSpPr>
          <p:cNvPr id="3" name="object 3"/>
          <p:cNvSpPr txBox="1"/>
          <p:nvPr/>
        </p:nvSpPr>
        <p:spPr>
          <a:xfrm>
            <a:off x="371043" y="988420"/>
            <a:ext cx="6473190" cy="4368825"/>
          </a:xfrm>
          <a:prstGeom prst="rect">
            <a:avLst/>
          </a:prstGeom>
        </p:spPr>
        <p:txBody>
          <a:bodyPr vert="horz" wrap="square" lIns="0" tIns="12065" rIns="0" bIns="0" rtlCol="0">
            <a:spAutoFit/>
          </a:bodyPr>
          <a:lstStyle/>
          <a:p>
            <a:pPr marL="12700" marR="5080">
              <a:lnSpc>
                <a:spcPct val="150000"/>
              </a:lnSpc>
              <a:spcBef>
                <a:spcPts val="95"/>
              </a:spcBef>
            </a:pPr>
            <a:r>
              <a:rPr lang="en-US" sz="2400" b="1" spc="-150" dirty="0">
                <a:latin typeface="Tahoma"/>
                <a:cs typeface="Tahoma"/>
              </a:rPr>
              <a:t>Bilinear interpolation:</a:t>
            </a:r>
          </a:p>
          <a:p>
            <a:pPr marL="12700" marR="5080">
              <a:lnSpc>
                <a:spcPct val="150000"/>
              </a:lnSpc>
              <a:spcBef>
                <a:spcPts val="95"/>
              </a:spcBef>
            </a:pPr>
            <a:r>
              <a:rPr lang="en-US" sz="2400" b="1" spc="-150" dirty="0">
                <a:latin typeface="Tahoma"/>
                <a:cs typeface="Tahoma"/>
              </a:rPr>
              <a:t>Interpolation: </a:t>
            </a:r>
            <a:r>
              <a:rPr lang="en-US" sz="2400" spc="-150" dirty="0">
                <a:latin typeface="Tahoma"/>
                <a:cs typeface="Tahoma"/>
              </a:rPr>
              <a:t>A method for estimating the value of unknown data points within a discrete set containing several known data points. </a:t>
            </a:r>
          </a:p>
          <a:p>
            <a:pPr marL="12700" marR="5080">
              <a:lnSpc>
                <a:spcPct val="150000"/>
              </a:lnSpc>
              <a:spcBef>
                <a:spcPts val="95"/>
              </a:spcBef>
            </a:pPr>
            <a:r>
              <a:rPr lang="en-US" sz="2400" b="1" spc="-150" dirty="0">
                <a:latin typeface="Tahoma"/>
                <a:cs typeface="Tahoma"/>
              </a:rPr>
              <a:t>Linear interpolation: </a:t>
            </a:r>
            <a:r>
              <a:rPr lang="en-US" sz="2400" spc="-150" dirty="0">
                <a:latin typeface="Tahoma"/>
                <a:cs typeface="Tahoma"/>
              </a:rPr>
              <a:t>Linear interpolation is a process that allows you to infer a value between two clearly defined values. This can be in a table or in a linear graph.</a:t>
            </a:r>
            <a:endParaRPr sz="2400" dirty="0">
              <a:latin typeface="Tahoma"/>
              <a:cs typeface="Tahoma"/>
            </a:endParaRPr>
          </a:p>
        </p:txBody>
      </p:sp>
      <p:pic>
        <p:nvPicPr>
          <p:cNvPr id="4" name="object 4"/>
          <p:cNvPicPr/>
          <p:nvPr/>
        </p:nvPicPr>
        <p:blipFill>
          <a:blip r:embed="rId2" cstate="print"/>
          <a:stretch>
            <a:fillRect/>
          </a:stretch>
        </p:blipFill>
        <p:spPr>
          <a:xfrm>
            <a:off x="7156704" y="1207008"/>
            <a:ext cx="5013607" cy="4442225"/>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33</a:t>
            </a:fld>
            <a:endParaRPr spc="-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80" dirty="0"/>
              <a:t>DeepLap</a:t>
            </a:r>
            <a:r>
              <a:rPr spc="-90" dirty="0"/>
              <a:t> </a:t>
            </a:r>
            <a:r>
              <a:rPr spc="-200" dirty="0"/>
              <a:t>V1+V2</a:t>
            </a:r>
            <a:r>
              <a:rPr spc="-80" dirty="0"/>
              <a:t> </a:t>
            </a:r>
            <a:r>
              <a:rPr spc="-185" dirty="0"/>
              <a:t>–</a:t>
            </a:r>
            <a:r>
              <a:rPr spc="-105" dirty="0"/>
              <a:t> </a:t>
            </a:r>
            <a:r>
              <a:rPr spc="-120" dirty="0"/>
              <a:t>CRF</a:t>
            </a:r>
            <a:r>
              <a:rPr spc="-114" dirty="0"/>
              <a:t> </a:t>
            </a:r>
            <a:r>
              <a:rPr spc="-185" dirty="0"/>
              <a:t>–</a:t>
            </a:r>
            <a:r>
              <a:rPr spc="-110" dirty="0"/>
              <a:t> </a:t>
            </a:r>
            <a:r>
              <a:rPr spc="-150" dirty="0"/>
              <a:t>Bi-</a:t>
            </a:r>
            <a:r>
              <a:rPr spc="-195" dirty="0"/>
              <a:t>linear</a:t>
            </a:r>
            <a:r>
              <a:rPr spc="-40" dirty="0"/>
              <a:t> </a:t>
            </a:r>
            <a:r>
              <a:rPr spc="-145" dirty="0"/>
              <a:t>interpolation</a:t>
            </a:r>
          </a:p>
        </p:txBody>
      </p:sp>
      <p:sp>
        <p:nvSpPr>
          <p:cNvPr id="3" name="object 3"/>
          <p:cNvSpPr txBox="1"/>
          <p:nvPr/>
        </p:nvSpPr>
        <p:spPr>
          <a:xfrm>
            <a:off x="574344" y="912220"/>
            <a:ext cx="10471150" cy="935513"/>
          </a:xfrm>
          <a:prstGeom prst="rect">
            <a:avLst/>
          </a:prstGeom>
        </p:spPr>
        <p:txBody>
          <a:bodyPr vert="horz" wrap="square" lIns="0" tIns="194945" rIns="0" bIns="0" rtlCol="0">
            <a:spAutoFit/>
          </a:bodyPr>
          <a:lstStyle/>
          <a:p>
            <a:pPr marL="12700">
              <a:lnSpc>
                <a:spcPct val="100000"/>
              </a:lnSpc>
              <a:spcBef>
                <a:spcPts val="1535"/>
              </a:spcBef>
            </a:pPr>
            <a:r>
              <a:rPr lang="en-US" sz="2400" b="1" spc="-75" dirty="0">
                <a:latin typeface="Tahoma"/>
                <a:cs typeface="Tahoma"/>
              </a:rPr>
              <a:t>Bilinear interpolation in image processing: </a:t>
            </a:r>
            <a:r>
              <a:rPr lang="en-US" sz="2400" spc="-75" dirty="0">
                <a:latin typeface="Tahoma"/>
                <a:cs typeface="Tahoma"/>
              </a:rPr>
              <a:t>performing two linear interpolations </a:t>
            </a:r>
            <a:r>
              <a:rPr lang="en-US" sz="2400" spc="-75" dirty="0" err="1">
                <a:latin typeface="Tahoma"/>
                <a:cs typeface="Tahoma"/>
              </a:rPr>
              <a:t>tofind</a:t>
            </a:r>
            <a:r>
              <a:rPr lang="en-US" sz="2400" spc="-75" dirty="0">
                <a:latin typeface="Tahoma"/>
                <a:cs typeface="Tahoma"/>
              </a:rPr>
              <a:t> the values ​​of pixels.</a:t>
            </a:r>
            <a:endParaRPr sz="2400" dirty="0">
              <a:latin typeface="Tahoma"/>
              <a:cs typeface="Tahoma"/>
            </a:endParaRPr>
          </a:p>
        </p:txBody>
      </p:sp>
      <p:grpSp>
        <p:nvGrpSpPr>
          <p:cNvPr id="4" name="object 4"/>
          <p:cNvGrpSpPr/>
          <p:nvPr/>
        </p:nvGrpSpPr>
        <p:grpSpPr>
          <a:xfrm>
            <a:off x="612648" y="3034340"/>
            <a:ext cx="10513060" cy="2750820"/>
            <a:chOff x="612648" y="3034340"/>
            <a:chExt cx="10513060" cy="2750820"/>
          </a:xfrm>
        </p:grpSpPr>
        <p:pic>
          <p:nvPicPr>
            <p:cNvPr id="5" name="object 5"/>
            <p:cNvPicPr/>
            <p:nvPr/>
          </p:nvPicPr>
          <p:blipFill>
            <a:blip r:embed="rId2" cstate="print"/>
            <a:stretch>
              <a:fillRect/>
            </a:stretch>
          </p:blipFill>
          <p:spPr>
            <a:xfrm>
              <a:off x="612648" y="3253740"/>
              <a:ext cx="1287780" cy="1769363"/>
            </a:xfrm>
            <a:prstGeom prst="rect">
              <a:avLst/>
            </a:prstGeom>
          </p:spPr>
        </p:pic>
        <p:sp>
          <p:nvSpPr>
            <p:cNvPr id="6" name="object 6"/>
            <p:cNvSpPr/>
            <p:nvPr/>
          </p:nvSpPr>
          <p:spPr>
            <a:xfrm>
              <a:off x="2279904" y="3858768"/>
              <a:ext cx="1327785" cy="550545"/>
            </a:xfrm>
            <a:custGeom>
              <a:avLst/>
              <a:gdLst/>
              <a:ahLst/>
              <a:cxnLst/>
              <a:rect l="l" t="t" r="r" b="b"/>
              <a:pathLst>
                <a:path w="1327785" h="550545">
                  <a:moveTo>
                    <a:pt x="1052321" y="0"/>
                  </a:moveTo>
                  <a:lnTo>
                    <a:pt x="1052321" y="137540"/>
                  </a:lnTo>
                  <a:lnTo>
                    <a:pt x="0" y="137540"/>
                  </a:lnTo>
                  <a:lnTo>
                    <a:pt x="0" y="412622"/>
                  </a:lnTo>
                  <a:lnTo>
                    <a:pt x="1052321" y="412622"/>
                  </a:lnTo>
                  <a:lnTo>
                    <a:pt x="1052321" y="550163"/>
                  </a:lnTo>
                  <a:lnTo>
                    <a:pt x="1327404" y="275081"/>
                  </a:lnTo>
                  <a:lnTo>
                    <a:pt x="1052321" y="0"/>
                  </a:lnTo>
                  <a:close/>
                </a:path>
              </a:pathLst>
            </a:custGeom>
            <a:solidFill>
              <a:srgbClr val="4471C4"/>
            </a:solidFill>
          </p:spPr>
          <p:txBody>
            <a:bodyPr wrap="square" lIns="0" tIns="0" rIns="0" bIns="0" rtlCol="0"/>
            <a:lstStyle/>
            <a:p>
              <a:endParaRPr/>
            </a:p>
          </p:txBody>
        </p:sp>
        <p:sp>
          <p:nvSpPr>
            <p:cNvPr id="7" name="object 7"/>
            <p:cNvSpPr/>
            <p:nvPr/>
          </p:nvSpPr>
          <p:spPr>
            <a:xfrm>
              <a:off x="2279904" y="3858768"/>
              <a:ext cx="1327785" cy="550545"/>
            </a:xfrm>
            <a:custGeom>
              <a:avLst/>
              <a:gdLst/>
              <a:ahLst/>
              <a:cxnLst/>
              <a:rect l="l" t="t" r="r" b="b"/>
              <a:pathLst>
                <a:path w="1327785" h="550545">
                  <a:moveTo>
                    <a:pt x="0" y="137540"/>
                  </a:moveTo>
                  <a:lnTo>
                    <a:pt x="1052321" y="137540"/>
                  </a:lnTo>
                  <a:lnTo>
                    <a:pt x="1052321" y="0"/>
                  </a:lnTo>
                  <a:lnTo>
                    <a:pt x="1327404" y="275081"/>
                  </a:lnTo>
                  <a:lnTo>
                    <a:pt x="1052321" y="550163"/>
                  </a:lnTo>
                  <a:lnTo>
                    <a:pt x="1052321" y="412622"/>
                  </a:lnTo>
                  <a:lnTo>
                    <a:pt x="0" y="412622"/>
                  </a:lnTo>
                  <a:lnTo>
                    <a:pt x="0" y="137540"/>
                  </a:lnTo>
                  <a:close/>
                </a:path>
              </a:pathLst>
            </a:custGeom>
            <a:ln w="12700">
              <a:solidFill>
                <a:srgbClr val="2E528F"/>
              </a:solidFill>
            </a:ln>
          </p:spPr>
          <p:txBody>
            <a:bodyPr wrap="square" lIns="0" tIns="0" rIns="0" bIns="0" rtlCol="0"/>
            <a:lstStyle/>
            <a:p>
              <a:endParaRPr/>
            </a:p>
          </p:txBody>
        </p:sp>
        <p:pic>
          <p:nvPicPr>
            <p:cNvPr id="8" name="object 8"/>
            <p:cNvPicPr/>
            <p:nvPr/>
          </p:nvPicPr>
          <p:blipFill>
            <a:blip r:embed="rId3" cstate="print"/>
            <a:stretch>
              <a:fillRect/>
            </a:stretch>
          </p:blipFill>
          <p:spPr>
            <a:xfrm>
              <a:off x="3986783" y="3034340"/>
              <a:ext cx="2423160" cy="2750763"/>
            </a:xfrm>
            <a:prstGeom prst="rect">
              <a:avLst/>
            </a:prstGeom>
          </p:spPr>
        </p:pic>
        <p:pic>
          <p:nvPicPr>
            <p:cNvPr id="9" name="object 9"/>
            <p:cNvPicPr/>
            <p:nvPr/>
          </p:nvPicPr>
          <p:blipFill>
            <a:blip r:embed="rId4" cstate="print"/>
            <a:stretch>
              <a:fillRect/>
            </a:stretch>
          </p:blipFill>
          <p:spPr>
            <a:xfrm>
              <a:off x="8702040" y="3034340"/>
              <a:ext cx="2423159" cy="2750763"/>
            </a:xfrm>
            <a:prstGeom prst="rect">
              <a:avLst/>
            </a:prstGeom>
          </p:spPr>
        </p:pic>
        <p:sp>
          <p:nvSpPr>
            <p:cNvPr id="10" name="object 10"/>
            <p:cNvSpPr/>
            <p:nvPr/>
          </p:nvSpPr>
          <p:spPr>
            <a:xfrm>
              <a:off x="6891527" y="3858768"/>
              <a:ext cx="1329055" cy="550545"/>
            </a:xfrm>
            <a:custGeom>
              <a:avLst/>
              <a:gdLst/>
              <a:ahLst/>
              <a:cxnLst/>
              <a:rect l="l" t="t" r="r" b="b"/>
              <a:pathLst>
                <a:path w="1329054" h="550545">
                  <a:moveTo>
                    <a:pt x="1053846" y="0"/>
                  </a:moveTo>
                  <a:lnTo>
                    <a:pt x="1053846" y="137540"/>
                  </a:lnTo>
                  <a:lnTo>
                    <a:pt x="0" y="137540"/>
                  </a:lnTo>
                  <a:lnTo>
                    <a:pt x="0" y="412622"/>
                  </a:lnTo>
                  <a:lnTo>
                    <a:pt x="1053846" y="412622"/>
                  </a:lnTo>
                  <a:lnTo>
                    <a:pt x="1053846" y="550163"/>
                  </a:lnTo>
                  <a:lnTo>
                    <a:pt x="1328927" y="275081"/>
                  </a:lnTo>
                  <a:lnTo>
                    <a:pt x="1053846" y="0"/>
                  </a:lnTo>
                  <a:close/>
                </a:path>
              </a:pathLst>
            </a:custGeom>
            <a:solidFill>
              <a:srgbClr val="4471C4"/>
            </a:solidFill>
          </p:spPr>
          <p:txBody>
            <a:bodyPr wrap="square" lIns="0" tIns="0" rIns="0" bIns="0" rtlCol="0"/>
            <a:lstStyle/>
            <a:p>
              <a:endParaRPr/>
            </a:p>
          </p:txBody>
        </p:sp>
        <p:sp>
          <p:nvSpPr>
            <p:cNvPr id="11" name="object 11"/>
            <p:cNvSpPr/>
            <p:nvPr/>
          </p:nvSpPr>
          <p:spPr>
            <a:xfrm>
              <a:off x="6891527" y="3858768"/>
              <a:ext cx="1329055" cy="550545"/>
            </a:xfrm>
            <a:custGeom>
              <a:avLst/>
              <a:gdLst/>
              <a:ahLst/>
              <a:cxnLst/>
              <a:rect l="l" t="t" r="r" b="b"/>
              <a:pathLst>
                <a:path w="1329054" h="550545">
                  <a:moveTo>
                    <a:pt x="0" y="137540"/>
                  </a:moveTo>
                  <a:lnTo>
                    <a:pt x="1053846" y="137540"/>
                  </a:lnTo>
                  <a:lnTo>
                    <a:pt x="1053846" y="0"/>
                  </a:lnTo>
                  <a:lnTo>
                    <a:pt x="1328927" y="275081"/>
                  </a:lnTo>
                  <a:lnTo>
                    <a:pt x="1053846" y="550163"/>
                  </a:lnTo>
                  <a:lnTo>
                    <a:pt x="1053846" y="412622"/>
                  </a:lnTo>
                  <a:lnTo>
                    <a:pt x="0" y="412622"/>
                  </a:lnTo>
                  <a:lnTo>
                    <a:pt x="0" y="137540"/>
                  </a:lnTo>
                  <a:close/>
                </a:path>
              </a:pathLst>
            </a:custGeom>
            <a:ln w="12699">
              <a:solidFill>
                <a:srgbClr val="2E528F"/>
              </a:solidFill>
            </a:ln>
          </p:spPr>
          <p:txBody>
            <a:bodyPr wrap="square" lIns="0" tIns="0" rIns="0" bIns="0" rtlCol="0"/>
            <a:lstStyle/>
            <a:p>
              <a:endParaRPr/>
            </a:p>
          </p:txBody>
        </p:sp>
      </p:grpSp>
      <p:sp>
        <p:nvSpPr>
          <p:cNvPr id="12" name="object 12"/>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34</a:t>
            </a:fld>
            <a:endParaRPr spc="-2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6458" y="98552"/>
            <a:ext cx="11315065" cy="2908300"/>
          </a:xfrm>
          <a:prstGeom prst="rect">
            <a:avLst/>
          </a:prstGeom>
        </p:spPr>
        <p:txBody>
          <a:bodyPr vert="horz" wrap="square" lIns="0" tIns="12065" rIns="0" bIns="0" rtlCol="0">
            <a:spAutoFit/>
          </a:bodyPr>
          <a:lstStyle/>
          <a:p>
            <a:pPr marL="13335">
              <a:lnSpc>
                <a:spcPct val="100000"/>
              </a:lnSpc>
              <a:spcBef>
                <a:spcPts val="95"/>
              </a:spcBef>
            </a:pPr>
            <a:r>
              <a:rPr sz="2800" b="1" spc="-180" dirty="0">
                <a:solidFill>
                  <a:srgbClr val="FFFFFF"/>
                </a:solidFill>
                <a:latin typeface="Tahoma"/>
                <a:cs typeface="Tahoma"/>
              </a:rPr>
              <a:t>DeepLab</a:t>
            </a:r>
            <a:r>
              <a:rPr sz="2800" b="1" spc="-110" dirty="0">
                <a:solidFill>
                  <a:srgbClr val="FFFFFF"/>
                </a:solidFill>
                <a:latin typeface="Tahoma"/>
                <a:cs typeface="Tahoma"/>
              </a:rPr>
              <a:t> </a:t>
            </a:r>
            <a:r>
              <a:rPr sz="2800" b="1" spc="-80" dirty="0">
                <a:solidFill>
                  <a:srgbClr val="FFFFFF"/>
                </a:solidFill>
                <a:latin typeface="Tahoma"/>
                <a:cs typeface="Tahoma"/>
              </a:rPr>
              <a:t>V1</a:t>
            </a:r>
            <a:r>
              <a:rPr sz="2800" b="1" spc="-110" dirty="0">
                <a:solidFill>
                  <a:srgbClr val="FFFFFF"/>
                </a:solidFill>
                <a:latin typeface="Tahoma"/>
                <a:cs typeface="Tahoma"/>
              </a:rPr>
              <a:t> </a:t>
            </a:r>
            <a:r>
              <a:rPr sz="2800" b="1" spc="-690" dirty="0">
                <a:solidFill>
                  <a:srgbClr val="FFFFFF"/>
                </a:solidFill>
                <a:latin typeface="Tahoma"/>
                <a:cs typeface="Tahoma"/>
              </a:rPr>
              <a:t>+</a:t>
            </a:r>
            <a:r>
              <a:rPr sz="2800" b="1" spc="-130" dirty="0">
                <a:solidFill>
                  <a:srgbClr val="FFFFFF"/>
                </a:solidFill>
                <a:latin typeface="Tahoma"/>
                <a:cs typeface="Tahoma"/>
              </a:rPr>
              <a:t> </a:t>
            </a:r>
            <a:r>
              <a:rPr sz="2800" b="1" spc="-65" dirty="0">
                <a:solidFill>
                  <a:srgbClr val="FFFFFF"/>
                </a:solidFill>
                <a:latin typeface="Tahoma"/>
                <a:cs typeface="Tahoma"/>
              </a:rPr>
              <a:t>V2</a:t>
            </a:r>
            <a:r>
              <a:rPr sz="2800" b="1" spc="-100" dirty="0">
                <a:solidFill>
                  <a:srgbClr val="FFFFFF"/>
                </a:solidFill>
                <a:latin typeface="Tahoma"/>
                <a:cs typeface="Tahoma"/>
              </a:rPr>
              <a:t> </a:t>
            </a:r>
            <a:r>
              <a:rPr sz="2800" b="1" spc="-185" dirty="0">
                <a:solidFill>
                  <a:srgbClr val="FFFFFF"/>
                </a:solidFill>
                <a:latin typeface="Tahoma"/>
                <a:cs typeface="Tahoma"/>
              </a:rPr>
              <a:t>–</a:t>
            </a:r>
            <a:r>
              <a:rPr sz="2800" b="1" spc="-130" dirty="0">
                <a:solidFill>
                  <a:srgbClr val="FFFFFF"/>
                </a:solidFill>
                <a:latin typeface="Tahoma"/>
                <a:cs typeface="Tahoma"/>
              </a:rPr>
              <a:t> </a:t>
            </a:r>
            <a:r>
              <a:rPr sz="2800" b="1" spc="-165" dirty="0">
                <a:solidFill>
                  <a:srgbClr val="FFFFFF"/>
                </a:solidFill>
                <a:latin typeface="Tahoma"/>
                <a:cs typeface="Tahoma"/>
              </a:rPr>
              <a:t>Conditional</a:t>
            </a:r>
            <a:r>
              <a:rPr sz="2800" b="1" spc="-100" dirty="0">
                <a:solidFill>
                  <a:srgbClr val="FFFFFF"/>
                </a:solidFill>
                <a:latin typeface="Tahoma"/>
                <a:cs typeface="Tahoma"/>
              </a:rPr>
              <a:t> </a:t>
            </a:r>
            <a:r>
              <a:rPr sz="2800" b="1" spc="-245" dirty="0">
                <a:solidFill>
                  <a:srgbClr val="FFFFFF"/>
                </a:solidFill>
                <a:latin typeface="Tahoma"/>
                <a:cs typeface="Tahoma"/>
              </a:rPr>
              <a:t>Random</a:t>
            </a:r>
            <a:r>
              <a:rPr sz="2800" b="1" spc="-100" dirty="0">
                <a:solidFill>
                  <a:srgbClr val="FFFFFF"/>
                </a:solidFill>
                <a:latin typeface="Tahoma"/>
                <a:cs typeface="Tahoma"/>
              </a:rPr>
              <a:t> </a:t>
            </a:r>
            <a:r>
              <a:rPr sz="2800" b="1" spc="-155" dirty="0">
                <a:solidFill>
                  <a:srgbClr val="FFFFFF"/>
                </a:solidFill>
                <a:latin typeface="Tahoma"/>
                <a:cs typeface="Tahoma"/>
              </a:rPr>
              <a:t>Field</a:t>
            </a:r>
            <a:r>
              <a:rPr sz="2800" b="1" spc="-110" dirty="0">
                <a:solidFill>
                  <a:srgbClr val="FFFFFF"/>
                </a:solidFill>
                <a:latin typeface="Tahoma"/>
                <a:cs typeface="Tahoma"/>
              </a:rPr>
              <a:t> </a:t>
            </a:r>
            <a:r>
              <a:rPr sz="2800" b="1" spc="-285" dirty="0">
                <a:solidFill>
                  <a:srgbClr val="FFFFFF"/>
                </a:solidFill>
                <a:latin typeface="Tahoma"/>
                <a:cs typeface="Tahoma"/>
              </a:rPr>
              <a:t>(CRF)</a:t>
            </a:r>
            <a:endParaRPr sz="2800" dirty="0">
              <a:latin typeface="Tahoma"/>
              <a:cs typeface="Tahoma"/>
            </a:endParaRPr>
          </a:p>
          <a:p>
            <a:pPr>
              <a:lnSpc>
                <a:spcPct val="100000"/>
              </a:lnSpc>
              <a:spcBef>
                <a:spcPts val="840"/>
              </a:spcBef>
            </a:pPr>
            <a:endParaRPr sz="2800" dirty="0">
              <a:latin typeface="Tahoma"/>
              <a:cs typeface="Tahoma"/>
            </a:endParaRPr>
          </a:p>
          <a:p>
            <a:pPr marL="240029" marR="5080" indent="-227329">
              <a:lnSpc>
                <a:spcPct val="90000"/>
              </a:lnSpc>
              <a:buFont typeface="Arial"/>
              <a:buChar char="•"/>
              <a:tabLst>
                <a:tab pos="241300" algn="l"/>
              </a:tabLst>
            </a:pPr>
            <a:r>
              <a:rPr lang="en-US" sz="2800" dirty="0">
                <a:latin typeface="Tahoma"/>
                <a:cs typeface="Tahoma"/>
              </a:rPr>
              <a:t>The fully connected CRF layer, also known as </a:t>
            </a:r>
            <a:r>
              <a:rPr lang="en-US" sz="2800" dirty="0" err="1">
                <a:latin typeface="Tahoma"/>
                <a:cs typeface="Tahoma"/>
              </a:rPr>
              <a:t>DenseCRF</a:t>
            </a:r>
            <a:r>
              <a:rPr lang="en-US" sz="2800" dirty="0">
                <a:latin typeface="Tahoma"/>
                <a:cs typeface="Tahoma"/>
              </a:rPr>
              <a:t> post-processing, is a final processing step to calculate the probability distribution for the output. The fully connected CRF layer applies Conditional Random Field (CRF) techniques to make the predictions for the pixels more accurate.</a:t>
            </a:r>
            <a:endParaRPr sz="2800" dirty="0">
              <a:latin typeface="Tahoma"/>
              <a:cs typeface="Tahoma"/>
            </a:endParaRPr>
          </a:p>
        </p:txBody>
      </p:sp>
      <p:pic>
        <p:nvPicPr>
          <p:cNvPr id="3" name="object 3"/>
          <p:cNvPicPr/>
          <p:nvPr/>
        </p:nvPicPr>
        <p:blipFill>
          <a:blip r:embed="rId2" cstate="print"/>
          <a:stretch>
            <a:fillRect/>
          </a:stretch>
        </p:blipFill>
        <p:spPr>
          <a:xfrm>
            <a:off x="1499616" y="3102864"/>
            <a:ext cx="9191244" cy="2839212"/>
          </a:xfrm>
          <a:prstGeom prst="rect">
            <a:avLst/>
          </a:prstGeom>
        </p:spPr>
      </p:pic>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35</a:t>
            </a:fld>
            <a:endParaRPr spc="-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677" y="98552"/>
            <a:ext cx="8152765" cy="452120"/>
          </a:xfrm>
          <a:prstGeom prst="rect">
            <a:avLst/>
          </a:prstGeom>
        </p:spPr>
        <p:txBody>
          <a:bodyPr vert="horz" wrap="square" lIns="0" tIns="12065" rIns="0" bIns="0" rtlCol="0">
            <a:spAutoFit/>
          </a:bodyPr>
          <a:lstStyle/>
          <a:p>
            <a:pPr marL="12700">
              <a:lnSpc>
                <a:spcPct val="100000"/>
              </a:lnSpc>
              <a:spcBef>
                <a:spcPts val="95"/>
              </a:spcBef>
            </a:pPr>
            <a:r>
              <a:rPr spc="-180" dirty="0"/>
              <a:t>DeepLap</a:t>
            </a:r>
            <a:r>
              <a:rPr spc="-95" dirty="0"/>
              <a:t> </a:t>
            </a:r>
            <a:r>
              <a:rPr spc="-200" dirty="0"/>
              <a:t>V1+V2</a:t>
            </a:r>
            <a:r>
              <a:rPr spc="-85" dirty="0"/>
              <a:t> </a:t>
            </a:r>
            <a:r>
              <a:rPr spc="-185" dirty="0"/>
              <a:t>–</a:t>
            </a:r>
            <a:r>
              <a:rPr spc="-114" dirty="0"/>
              <a:t> </a:t>
            </a:r>
            <a:r>
              <a:rPr spc="-120" dirty="0"/>
              <a:t>CRF</a:t>
            </a:r>
            <a:r>
              <a:rPr spc="-125" dirty="0"/>
              <a:t> </a:t>
            </a:r>
            <a:r>
              <a:rPr spc="-185" dirty="0"/>
              <a:t>–</a:t>
            </a:r>
            <a:r>
              <a:rPr spc="-110" dirty="0"/>
              <a:t> </a:t>
            </a:r>
            <a:r>
              <a:rPr spc="-165" dirty="0"/>
              <a:t>Conditional</a:t>
            </a:r>
            <a:r>
              <a:rPr spc="-90" dirty="0"/>
              <a:t> </a:t>
            </a:r>
            <a:r>
              <a:rPr spc="-245" dirty="0"/>
              <a:t>Random</a:t>
            </a:r>
            <a:r>
              <a:rPr spc="-90" dirty="0"/>
              <a:t> </a:t>
            </a:r>
            <a:r>
              <a:rPr spc="-50" dirty="0"/>
              <a:t>Field</a:t>
            </a:r>
          </a:p>
        </p:txBody>
      </p:sp>
      <p:sp>
        <p:nvSpPr>
          <p:cNvPr id="3" name="object 3"/>
          <p:cNvSpPr txBox="1"/>
          <p:nvPr/>
        </p:nvSpPr>
        <p:spPr>
          <a:xfrm>
            <a:off x="251866" y="846434"/>
            <a:ext cx="11359515" cy="2219960"/>
          </a:xfrm>
          <a:prstGeom prst="rect">
            <a:avLst/>
          </a:prstGeom>
        </p:spPr>
        <p:txBody>
          <a:bodyPr vert="horz" wrap="square" lIns="0" tIns="12065" rIns="0" bIns="0" rtlCol="0">
            <a:spAutoFit/>
          </a:bodyPr>
          <a:lstStyle/>
          <a:p>
            <a:pPr marL="12700" marR="5080" algn="just">
              <a:lnSpc>
                <a:spcPct val="150000"/>
              </a:lnSpc>
              <a:spcBef>
                <a:spcPts val="95"/>
              </a:spcBef>
            </a:pPr>
            <a:r>
              <a:rPr sz="2400" b="1" spc="-125" dirty="0">
                <a:latin typeface="Tahoma"/>
                <a:cs typeface="Tahoma"/>
              </a:rPr>
              <a:t>Conditional</a:t>
            </a:r>
            <a:r>
              <a:rPr sz="2400" b="1" spc="25" dirty="0">
                <a:latin typeface="Tahoma"/>
                <a:cs typeface="Tahoma"/>
              </a:rPr>
              <a:t> </a:t>
            </a:r>
            <a:r>
              <a:rPr sz="2400" b="1" spc="-185" dirty="0">
                <a:latin typeface="Tahoma"/>
                <a:cs typeface="Tahoma"/>
              </a:rPr>
              <a:t>Random</a:t>
            </a:r>
            <a:r>
              <a:rPr sz="2400" b="1" spc="70" dirty="0">
                <a:latin typeface="Tahoma"/>
                <a:cs typeface="Tahoma"/>
              </a:rPr>
              <a:t> </a:t>
            </a:r>
            <a:r>
              <a:rPr sz="2400" b="1" spc="-80" dirty="0">
                <a:latin typeface="Tahoma"/>
                <a:cs typeface="Tahoma"/>
              </a:rPr>
              <a:t>Field</a:t>
            </a:r>
            <a:r>
              <a:rPr sz="2400" b="1" spc="75" dirty="0">
                <a:latin typeface="Tahoma"/>
                <a:cs typeface="Tahoma"/>
              </a:rPr>
              <a:t> </a:t>
            </a:r>
            <a:r>
              <a:rPr sz="2400" spc="-254" dirty="0">
                <a:latin typeface="Tahoma"/>
                <a:cs typeface="Tahoma"/>
              </a:rPr>
              <a:t>:</a:t>
            </a:r>
            <a:r>
              <a:rPr sz="2400" spc="70" dirty="0">
                <a:latin typeface="Tahoma"/>
                <a:cs typeface="Tahoma"/>
              </a:rPr>
              <a:t> </a:t>
            </a:r>
            <a:r>
              <a:rPr lang="en-US" sz="2400" dirty="0">
                <a:latin typeface="Tahoma"/>
                <a:cs typeface="Tahoma"/>
              </a:rPr>
              <a:t>A conditional random field (CRF) is a conditional probabilistic classification model. A normal classification model predicts a label for a sample without considering its context (neighboring samples), while a CRF can incorporate context into the labeling process.</a:t>
            </a:r>
            <a:endParaRPr sz="2400" dirty="0">
              <a:latin typeface="Tahoma"/>
              <a:cs typeface="Tahoma"/>
            </a:endParaRPr>
          </a:p>
        </p:txBody>
      </p:sp>
      <p:pic>
        <p:nvPicPr>
          <p:cNvPr id="4" name="object 4"/>
          <p:cNvPicPr/>
          <p:nvPr/>
        </p:nvPicPr>
        <p:blipFill>
          <a:blip r:embed="rId2" cstate="print"/>
          <a:stretch>
            <a:fillRect/>
          </a:stretch>
        </p:blipFill>
        <p:spPr>
          <a:xfrm>
            <a:off x="900683" y="3276600"/>
            <a:ext cx="10390632" cy="3063240"/>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36</a:t>
            </a:fld>
            <a:endParaRPr spc="-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80" dirty="0"/>
              <a:t>DeepLab</a:t>
            </a:r>
            <a:r>
              <a:rPr spc="-60" dirty="0"/>
              <a:t> </a:t>
            </a:r>
            <a:r>
              <a:rPr spc="-25" dirty="0"/>
              <a:t>V3</a:t>
            </a:r>
          </a:p>
        </p:txBody>
      </p:sp>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37</a:t>
            </a:fld>
            <a:endParaRPr spc="-25" dirty="0"/>
          </a:p>
        </p:txBody>
      </p:sp>
      <p:sp>
        <p:nvSpPr>
          <p:cNvPr id="3" name="object 3"/>
          <p:cNvSpPr txBox="1"/>
          <p:nvPr/>
        </p:nvSpPr>
        <p:spPr>
          <a:xfrm>
            <a:off x="416458" y="985038"/>
            <a:ext cx="11227435" cy="5052024"/>
          </a:xfrm>
          <a:prstGeom prst="rect">
            <a:avLst/>
          </a:prstGeom>
        </p:spPr>
        <p:txBody>
          <a:bodyPr vert="horz" wrap="square" lIns="0" tIns="45085" rIns="0" bIns="0" rtlCol="0">
            <a:spAutoFit/>
          </a:bodyPr>
          <a:lstStyle/>
          <a:p>
            <a:pPr marL="12700">
              <a:lnSpc>
                <a:spcPct val="100000"/>
              </a:lnSpc>
              <a:spcBef>
                <a:spcPts val="355"/>
              </a:spcBef>
              <a:tabLst>
                <a:tab pos="240029" algn="l"/>
              </a:tabLst>
            </a:pPr>
            <a:r>
              <a:rPr lang="en-US" sz="2400" spc="270" dirty="0">
                <a:latin typeface="Tahoma"/>
                <a:cs typeface="Tahoma"/>
              </a:rPr>
              <a:t>In DeepLabV3, the author introduced two improvements:</a:t>
            </a:r>
          </a:p>
          <a:p>
            <a:pPr marL="12700">
              <a:lnSpc>
                <a:spcPct val="100000"/>
              </a:lnSpc>
              <a:spcBef>
                <a:spcPts val="355"/>
              </a:spcBef>
              <a:tabLst>
                <a:tab pos="240029" algn="l"/>
              </a:tabLst>
            </a:pPr>
            <a:r>
              <a:rPr lang="en-US" sz="2400" spc="270" dirty="0">
                <a:latin typeface="Tahoma"/>
                <a:cs typeface="Tahoma"/>
              </a:rPr>
              <a:t>    Performing ASPP parallel convolution at various scales and adding batch normalization, inheriting the idea from Inception networks.</a:t>
            </a:r>
          </a:p>
          <a:p>
            <a:pPr marL="12700">
              <a:lnSpc>
                <a:spcPct val="100000"/>
              </a:lnSpc>
              <a:spcBef>
                <a:spcPts val="355"/>
              </a:spcBef>
              <a:tabLst>
                <a:tab pos="240029" algn="l"/>
              </a:tabLst>
            </a:pPr>
            <a:r>
              <a:rPr lang="en-US" sz="2400" spc="270" dirty="0">
                <a:latin typeface="Tahoma"/>
                <a:cs typeface="Tahoma"/>
              </a:rPr>
              <a:t>    Removing Fully Connected CRF in the final processing step helps increase the computation </a:t>
            </a:r>
            <a:r>
              <a:rPr lang="en-US" sz="2400" spc="270" dirty="0" err="1">
                <a:latin typeface="Tahoma"/>
                <a:cs typeface="Tahoma"/>
              </a:rPr>
              <a:t>speed.One</a:t>
            </a:r>
            <a:r>
              <a:rPr lang="en-US" sz="2400" spc="270" dirty="0">
                <a:latin typeface="Tahoma"/>
                <a:cs typeface="Tahoma"/>
              </a:rPr>
              <a:t> of the challenges of segmentation using multi-layer deep learning DCNNs is that the feature map becomes smaller after each convolution layer. </a:t>
            </a:r>
          </a:p>
          <a:p>
            <a:pPr marL="12700">
              <a:lnSpc>
                <a:spcPct val="100000"/>
              </a:lnSpc>
              <a:spcBef>
                <a:spcPts val="355"/>
              </a:spcBef>
              <a:tabLst>
                <a:tab pos="240029" algn="l"/>
              </a:tabLst>
            </a:pPr>
            <a:r>
              <a:rPr lang="en-US" sz="2400" spc="270" dirty="0">
                <a:latin typeface="Tahoma"/>
                <a:cs typeface="Tahoma"/>
              </a:rPr>
              <a:t>    Reducing resolution can lead to a loss of information about the location and detail of predicted objects.</a:t>
            </a:r>
          </a:p>
          <a:p>
            <a:pPr marL="12700">
              <a:lnSpc>
                <a:spcPct val="100000"/>
              </a:lnSpc>
              <a:spcBef>
                <a:spcPts val="355"/>
              </a:spcBef>
              <a:tabLst>
                <a:tab pos="240029" algn="l"/>
              </a:tabLst>
            </a:pPr>
            <a:r>
              <a:rPr lang="en-US" sz="2400" spc="270" dirty="0">
                <a:latin typeface="Tahoma"/>
                <a:cs typeface="Tahoma"/>
              </a:rPr>
              <a:t>    In DeepLabV3, the author has tried to adjust the level of resolution reduction in the blocks of the DCNN network to maintain it at 16.</a:t>
            </a:r>
            <a:endParaRPr sz="2400" dirty="0">
              <a:latin typeface="Tahoma"/>
              <a:cs typeface="Tahom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80" dirty="0"/>
              <a:t>DeepLab</a:t>
            </a:r>
            <a:r>
              <a:rPr spc="-60" dirty="0"/>
              <a:t> </a:t>
            </a:r>
            <a:r>
              <a:rPr spc="-25" dirty="0"/>
              <a:t>V3</a:t>
            </a:r>
          </a:p>
        </p:txBody>
      </p:sp>
      <p:pic>
        <p:nvPicPr>
          <p:cNvPr id="3" name="object 3"/>
          <p:cNvPicPr/>
          <p:nvPr/>
        </p:nvPicPr>
        <p:blipFill>
          <a:blip r:embed="rId2" cstate="print"/>
          <a:stretch>
            <a:fillRect/>
          </a:stretch>
        </p:blipFill>
        <p:spPr>
          <a:xfrm>
            <a:off x="492251" y="1427988"/>
            <a:ext cx="11207496" cy="4002024"/>
          </a:xfrm>
          <a:prstGeom prst="rect">
            <a:avLst/>
          </a:prstGeom>
        </p:spPr>
      </p:pic>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38</a:t>
            </a:fld>
            <a:endParaRPr spc="-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80" dirty="0"/>
              <a:t>DeepLab</a:t>
            </a:r>
            <a:r>
              <a:rPr spc="-60" dirty="0"/>
              <a:t> </a:t>
            </a:r>
            <a:r>
              <a:rPr spc="-25" dirty="0"/>
              <a:t>V3</a:t>
            </a:r>
          </a:p>
        </p:txBody>
      </p:sp>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39</a:t>
            </a:fld>
            <a:endParaRPr spc="-25" dirty="0"/>
          </a:p>
        </p:txBody>
      </p:sp>
      <p:sp>
        <p:nvSpPr>
          <p:cNvPr id="3" name="object 3"/>
          <p:cNvSpPr txBox="1"/>
          <p:nvPr/>
        </p:nvSpPr>
        <p:spPr>
          <a:xfrm>
            <a:off x="416458" y="1018108"/>
            <a:ext cx="11351895" cy="5190523"/>
          </a:xfrm>
          <a:prstGeom prst="rect">
            <a:avLst/>
          </a:prstGeom>
        </p:spPr>
        <p:txBody>
          <a:bodyPr vert="horz" wrap="square" lIns="0" tIns="60325" rIns="0" bIns="0" rtlCol="0">
            <a:spAutoFit/>
          </a:bodyPr>
          <a:lstStyle/>
          <a:p>
            <a:pPr marL="240029" marR="324485" indent="-227329">
              <a:lnSpc>
                <a:spcPts val="3030"/>
              </a:lnSpc>
              <a:spcBef>
                <a:spcPts val="475"/>
              </a:spcBef>
              <a:buFont typeface="Arial"/>
              <a:buChar char="•"/>
              <a:tabLst>
                <a:tab pos="241300" algn="l"/>
              </a:tabLst>
            </a:pPr>
            <a:r>
              <a:rPr lang="en-US" sz="2800" spc="-10" dirty="0">
                <a:latin typeface="Tahoma"/>
                <a:cs typeface="Tahoma"/>
              </a:rPr>
              <a:t>In the architecture of DeepLabV3, the author applies </a:t>
            </a:r>
            <a:r>
              <a:rPr lang="en-US" sz="2800" spc="-10" dirty="0" err="1">
                <a:latin typeface="Tahoma"/>
                <a:cs typeface="Tahoma"/>
              </a:rPr>
              <a:t>Atrous</a:t>
            </a:r>
            <a:r>
              <a:rPr lang="en-US" sz="2800" spc="-10" dirty="0">
                <a:latin typeface="Tahoma"/>
                <a:cs typeface="Tahoma"/>
              </a:rPr>
              <a:t> Convolution with various dimensions and creates improvements in output stride:</a:t>
            </a:r>
          </a:p>
          <a:p>
            <a:pPr marL="12700" marR="324485">
              <a:lnSpc>
                <a:spcPts val="3030"/>
              </a:lnSpc>
              <a:spcBef>
                <a:spcPts val="475"/>
              </a:spcBef>
              <a:tabLst>
                <a:tab pos="241300" algn="l"/>
              </a:tabLst>
            </a:pPr>
            <a:r>
              <a:rPr lang="en-US" sz="2800" spc="-10" dirty="0">
                <a:latin typeface="Tahoma"/>
                <a:cs typeface="Tahoma"/>
              </a:rPr>
              <a:t>  </a:t>
            </a:r>
            <a:r>
              <a:rPr lang="en-US" sz="2800" b="1" spc="-10" dirty="0">
                <a:latin typeface="Tahoma"/>
                <a:cs typeface="Tahoma"/>
              </a:rPr>
              <a:t>Without </a:t>
            </a:r>
            <a:r>
              <a:rPr lang="en-US" sz="2800" b="1" spc="-10" dirty="0" err="1">
                <a:latin typeface="Tahoma"/>
                <a:cs typeface="Tahoma"/>
              </a:rPr>
              <a:t>Atrous</a:t>
            </a:r>
            <a:r>
              <a:rPr lang="en-US" sz="2800" b="1" spc="-10" dirty="0">
                <a:latin typeface="Tahoma"/>
                <a:cs typeface="Tahoma"/>
              </a:rPr>
              <a:t> Convolution</a:t>
            </a:r>
            <a:r>
              <a:rPr lang="en-US" sz="2800" spc="-10" dirty="0">
                <a:latin typeface="Tahoma"/>
                <a:cs typeface="Tahoma"/>
              </a:rPr>
              <a:t>: In the first line, we only apply normal convolution and max-pooling. We see that the output stride increases significantly, causing the feature map to shrink with depth of the model. This is detrimental to segmentation because information is lost as resolution decreases at deeper layers.</a:t>
            </a:r>
          </a:p>
          <a:p>
            <a:pPr marL="12700" marR="324485">
              <a:lnSpc>
                <a:spcPts val="3030"/>
              </a:lnSpc>
              <a:spcBef>
                <a:spcPts val="475"/>
              </a:spcBef>
              <a:tabLst>
                <a:tab pos="241300" algn="l"/>
              </a:tabLst>
            </a:pPr>
            <a:r>
              <a:rPr lang="en-US" sz="2800" spc="-10" dirty="0">
                <a:latin typeface="Tahoma"/>
                <a:cs typeface="Tahoma"/>
              </a:rPr>
              <a:t>  </a:t>
            </a:r>
            <a:r>
              <a:rPr lang="en-US" sz="2800" b="1" spc="-10" dirty="0">
                <a:latin typeface="Tahoma"/>
                <a:cs typeface="Tahoma"/>
              </a:rPr>
              <a:t>With </a:t>
            </a:r>
            <a:r>
              <a:rPr lang="en-US" sz="2800" b="1" spc="-10" dirty="0" err="1">
                <a:latin typeface="Tahoma"/>
                <a:cs typeface="Tahoma"/>
              </a:rPr>
              <a:t>Atrous</a:t>
            </a:r>
            <a:r>
              <a:rPr lang="en-US" sz="2800" b="1" spc="-10" dirty="0">
                <a:latin typeface="Tahoma"/>
                <a:cs typeface="Tahoma"/>
              </a:rPr>
              <a:t> Convolution: </a:t>
            </a:r>
            <a:r>
              <a:rPr lang="en-US" sz="2800" spc="-10" dirty="0">
                <a:latin typeface="Tahoma"/>
                <a:cs typeface="Tahoma"/>
              </a:rPr>
              <a:t>In the second line, we can keep the resolution of the blocks stable while increasing the field-of-view without increasing the number of parameters and computations. Ultimately, we obtain a larger feature map while preserving location and spatial information. This is beneficial for segmentation.</a:t>
            </a:r>
            <a:endParaRPr sz="2400" dirty="0">
              <a:latin typeface="Tahoma"/>
              <a:cs typeface="Tahom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80" dirty="0"/>
              <a:t>DeepLab</a:t>
            </a:r>
            <a:r>
              <a:rPr spc="-100" dirty="0"/>
              <a:t> </a:t>
            </a:r>
            <a:r>
              <a:rPr spc="-75" dirty="0"/>
              <a:t>V3</a:t>
            </a:r>
            <a:r>
              <a:rPr spc="-100" dirty="0"/>
              <a:t> </a:t>
            </a:r>
            <a:r>
              <a:rPr spc="-175" dirty="0"/>
              <a:t>-</a:t>
            </a:r>
            <a:r>
              <a:rPr spc="-125" dirty="0"/>
              <a:t> </a:t>
            </a:r>
            <a:r>
              <a:rPr spc="-105" dirty="0"/>
              <a:t>MultiGrid</a:t>
            </a:r>
          </a:p>
        </p:txBody>
      </p:sp>
      <p:pic>
        <p:nvPicPr>
          <p:cNvPr id="3" name="object 3"/>
          <p:cNvPicPr/>
          <p:nvPr/>
        </p:nvPicPr>
        <p:blipFill>
          <a:blip r:embed="rId2" cstate="print"/>
          <a:stretch>
            <a:fillRect/>
          </a:stretch>
        </p:blipFill>
        <p:spPr>
          <a:xfrm>
            <a:off x="899160" y="1645920"/>
            <a:ext cx="10393680" cy="3884676"/>
          </a:xfrm>
          <a:prstGeom prst="rect">
            <a:avLst/>
          </a:prstGeom>
        </p:spPr>
      </p:pic>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40</a:t>
            </a:fld>
            <a:endParaRPr spc="-2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6458" y="98552"/>
            <a:ext cx="11171555" cy="2908300"/>
          </a:xfrm>
          <a:prstGeom prst="rect">
            <a:avLst/>
          </a:prstGeom>
        </p:spPr>
        <p:txBody>
          <a:bodyPr vert="horz" wrap="square" lIns="0" tIns="12065" rIns="0" bIns="0" rtlCol="0">
            <a:spAutoFit/>
          </a:bodyPr>
          <a:lstStyle/>
          <a:p>
            <a:pPr marL="13335">
              <a:lnSpc>
                <a:spcPct val="100000"/>
              </a:lnSpc>
              <a:spcBef>
                <a:spcPts val="95"/>
              </a:spcBef>
            </a:pPr>
            <a:r>
              <a:rPr sz="2800" b="1" spc="-180" dirty="0">
                <a:solidFill>
                  <a:srgbClr val="FFFFFF"/>
                </a:solidFill>
                <a:latin typeface="Tahoma"/>
                <a:cs typeface="Tahoma"/>
              </a:rPr>
              <a:t>DeepLab</a:t>
            </a:r>
            <a:r>
              <a:rPr sz="2800" b="1" spc="-95" dirty="0">
                <a:solidFill>
                  <a:srgbClr val="FFFFFF"/>
                </a:solidFill>
                <a:latin typeface="Tahoma"/>
                <a:cs typeface="Tahoma"/>
              </a:rPr>
              <a:t> </a:t>
            </a:r>
            <a:r>
              <a:rPr sz="2800" b="1" spc="-75" dirty="0">
                <a:solidFill>
                  <a:srgbClr val="FFFFFF"/>
                </a:solidFill>
                <a:latin typeface="Tahoma"/>
                <a:cs typeface="Tahoma"/>
              </a:rPr>
              <a:t>V3</a:t>
            </a:r>
            <a:r>
              <a:rPr sz="2800" b="1" spc="-90" dirty="0">
                <a:solidFill>
                  <a:srgbClr val="FFFFFF"/>
                </a:solidFill>
                <a:latin typeface="Tahoma"/>
                <a:cs typeface="Tahoma"/>
              </a:rPr>
              <a:t> </a:t>
            </a:r>
            <a:r>
              <a:rPr sz="2800" b="1" spc="-185" dirty="0">
                <a:solidFill>
                  <a:srgbClr val="FFFFFF"/>
                </a:solidFill>
                <a:latin typeface="Tahoma"/>
                <a:cs typeface="Tahoma"/>
              </a:rPr>
              <a:t>–</a:t>
            </a:r>
            <a:r>
              <a:rPr sz="2800" b="1" spc="-120" dirty="0">
                <a:solidFill>
                  <a:srgbClr val="FFFFFF"/>
                </a:solidFill>
                <a:latin typeface="Tahoma"/>
                <a:cs typeface="Tahoma"/>
              </a:rPr>
              <a:t> </a:t>
            </a:r>
            <a:r>
              <a:rPr sz="2800" b="1" spc="-145" dirty="0" err="1">
                <a:solidFill>
                  <a:srgbClr val="FFFFFF"/>
                </a:solidFill>
                <a:latin typeface="Tahoma"/>
                <a:cs typeface="Tahoma"/>
              </a:rPr>
              <a:t>Atrous</a:t>
            </a:r>
            <a:r>
              <a:rPr sz="2800" b="1" spc="-95" dirty="0">
                <a:solidFill>
                  <a:srgbClr val="FFFFFF"/>
                </a:solidFill>
                <a:latin typeface="Tahoma"/>
                <a:cs typeface="Tahoma"/>
              </a:rPr>
              <a:t> </a:t>
            </a:r>
            <a:r>
              <a:rPr sz="2800" b="1" spc="-210" dirty="0">
                <a:solidFill>
                  <a:srgbClr val="FFFFFF"/>
                </a:solidFill>
                <a:latin typeface="Tahoma"/>
                <a:cs typeface="Tahoma"/>
              </a:rPr>
              <a:t>Spatial</a:t>
            </a:r>
            <a:r>
              <a:rPr sz="2800" b="1" spc="-100" dirty="0">
                <a:solidFill>
                  <a:srgbClr val="FFFFFF"/>
                </a:solidFill>
                <a:latin typeface="Tahoma"/>
                <a:cs typeface="Tahoma"/>
              </a:rPr>
              <a:t> </a:t>
            </a:r>
            <a:r>
              <a:rPr sz="2800" b="1" spc="-210" dirty="0">
                <a:solidFill>
                  <a:srgbClr val="FFFFFF"/>
                </a:solidFill>
                <a:latin typeface="Tahoma"/>
                <a:cs typeface="Tahoma"/>
              </a:rPr>
              <a:t>Pyramid</a:t>
            </a:r>
            <a:r>
              <a:rPr sz="2800" b="1" spc="-75" dirty="0">
                <a:solidFill>
                  <a:srgbClr val="FFFFFF"/>
                </a:solidFill>
                <a:latin typeface="Tahoma"/>
                <a:cs typeface="Tahoma"/>
              </a:rPr>
              <a:t> </a:t>
            </a:r>
            <a:r>
              <a:rPr sz="2800" b="1" spc="-175" dirty="0">
                <a:solidFill>
                  <a:srgbClr val="FFFFFF"/>
                </a:solidFill>
                <a:latin typeface="Tahoma"/>
                <a:cs typeface="Tahoma"/>
              </a:rPr>
              <a:t>Pooling</a:t>
            </a:r>
            <a:r>
              <a:rPr sz="2800" b="1" spc="-100" dirty="0">
                <a:solidFill>
                  <a:srgbClr val="FFFFFF"/>
                </a:solidFill>
                <a:latin typeface="Tahoma"/>
                <a:cs typeface="Tahoma"/>
              </a:rPr>
              <a:t> </a:t>
            </a:r>
            <a:r>
              <a:rPr sz="2800" b="1" spc="-25" dirty="0">
                <a:solidFill>
                  <a:srgbClr val="FFFFFF"/>
                </a:solidFill>
                <a:latin typeface="Tahoma"/>
                <a:cs typeface="Tahoma"/>
              </a:rPr>
              <a:t>(ASPP)</a:t>
            </a:r>
            <a:endParaRPr sz="2800" dirty="0">
              <a:latin typeface="Tahoma"/>
              <a:cs typeface="Tahoma"/>
            </a:endParaRPr>
          </a:p>
          <a:p>
            <a:pPr>
              <a:lnSpc>
                <a:spcPct val="100000"/>
              </a:lnSpc>
              <a:spcBef>
                <a:spcPts val="840"/>
              </a:spcBef>
            </a:pPr>
            <a:endParaRPr sz="2800" dirty="0">
              <a:latin typeface="Tahoma"/>
              <a:cs typeface="Tahoma"/>
            </a:endParaRPr>
          </a:p>
          <a:p>
            <a:pPr marL="12700" marR="5080">
              <a:lnSpc>
                <a:spcPct val="90000"/>
              </a:lnSpc>
              <a:tabLst>
                <a:tab pos="241300" algn="l"/>
              </a:tabLst>
            </a:pPr>
            <a:r>
              <a:rPr lang="en-US" sz="2800" dirty="0">
                <a:latin typeface="Tahoma"/>
                <a:cs typeface="Tahoma"/>
              </a:rPr>
              <a:t>The author also improved ASPP by adding batch normalization to the last feature before applying </a:t>
            </a:r>
            <a:r>
              <a:rPr lang="en-US" sz="2800" dirty="0" err="1">
                <a:latin typeface="Tahoma"/>
                <a:cs typeface="Tahoma"/>
              </a:rPr>
              <a:t>Atrous</a:t>
            </a:r>
            <a:r>
              <a:rPr lang="en-US" sz="2800" dirty="0">
                <a:latin typeface="Tahoma"/>
                <a:cs typeface="Tahoma"/>
              </a:rPr>
              <a:t> Convolution. The result was then passed through a 1 x 1 convolution with 256 filters. Finally, the author increased the resolution through Bilinear </a:t>
            </a:r>
            <a:r>
              <a:rPr lang="en-US" sz="2800" dirty="0" err="1">
                <a:latin typeface="Tahoma"/>
                <a:cs typeface="Tahoma"/>
              </a:rPr>
              <a:t>Upsampling</a:t>
            </a:r>
            <a:r>
              <a:rPr lang="en-US" sz="2800" dirty="0">
                <a:latin typeface="Tahoma"/>
                <a:cs typeface="Tahoma"/>
              </a:rPr>
              <a:t> to obtain the desired size.</a:t>
            </a:r>
            <a:endParaRPr sz="2800" dirty="0">
              <a:latin typeface="Tahoma"/>
              <a:cs typeface="Tahoma"/>
            </a:endParaRPr>
          </a:p>
        </p:txBody>
      </p:sp>
      <p:pic>
        <p:nvPicPr>
          <p:cNvPr id="3" name="object 3"/>
          <p:cNvPicPr/>
          <p:nvPr/>
        </p:nvPicPr>
        <p:blipFill>
          <a:blip r:embed="rId2" cstate="print"/>
          <a:stretch>
            <a:fillRect/>
          </a:stretch>
        </p:blipFill>
        <p:spPr>
          <a:xfrm>
            <a:off x="982980" y="3209544"/>
            <a:ext cx="10459212" cy="3124199"/>
          </a:xfrm>
          <a:prstGeom prst="rect">
            <a:avLst/>
          </a:prstGeom>
        </p:spPr>
      </p:pic>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41</a:t>
            </a:fld>
            <a:endParaRPr spc="-2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80" dirty="0"/>
              <a:t>Batch</a:t>
            </a:r>
            <a:r>
              <a:rPr spc="-95" dirty="0"/>
              <a:t> </a:t>
            </a:r>
            <a:r>
              <a:rPr spc="-185" dirty="0"/>
              <a:t>normalization</a:t>
            </a:r>
          </a:p>
        </p:txBody>
      </p:sp>
      <p:pic>
        <p:nvPicPr>
          <p:cNvPr id="3" name="object 3"/>
          <p:cNvPicPr/>
          <p:nvPr/>
        </p:nvPicPr>
        <p:blipFill>
          <a:blip r:embed="rId2" cstate="print"/>
          <a:stretch>
            <a:fillRect/>
          </a:stretch>
        </p:blipFill>
        <p:spPr>
          <a:xfrm>
            <a:off x="3098292" y="941832"/>
            <a:ext cx="5931408" cy="5388864"/>
          </a:xfrm>
          <a:prstGeom prst="rect">
            <a:avLst/>
          </a:prstGeom>
        </p:spPr>
      </p:pic>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42</a:t>
            </a:fld>
            <a:endParaRPr spc="-2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90" dirty="0"/>
              <a:t>Performance</a:t>
            </a:r>
            <a:r>
              <a:rPr spc="-35" dirty="0"/>
              <a:t> </a:t>
            </a:r>
            <a:r>
              <a:rPr spc="-195" dirty="0"/>
              <a:t>metrics</a:t>
            </a:r>
            <a:r>
              <a:rPr spc="-65" dirty="0"/>
              <a:t> </a:t>
            </a:r>
            <a:r>
              <a:rPr spc="-130" dirty="0"/>
              <a:t>for</a:t>
            </a:r>
            <a:r>
              <a:rPr spc="-75" dirty="0"/>
              <a:t> </a:t>
            </a:r>
            <a:r>
              <a:rPr spc="-220" dirty="0"/>
              <a:t>semantic</a:t>
            </a:r>
            <a:r>
              <a:rPr spc="-65" dirty="0"/>
              <a:t> </a:t>
            </a:r>
            <a:r>
              <a:rPr spc="-180" dirty="0"/>
              <a:t>segmentation</a:t>
            </a:r>
          </a:p>
        </p:txBody>
      </p:sp>
      <p:grpSp>
        <p:nvGrpSpPr>
          <p:cNvPr id="3" name="object 3"/>
          <p:cNvGrpSpPr/>
          <p:nvPr/>
        </p:nvGrpSpPr>
        <p:grpSpPr>
          <a:xfrm>
            <a:off x="516636" y="903732"/>
            <a:ext cx="11158855" cy="5271135"/>
            <a:chOff x="516636" y="903732"/>
            <a:chExt cx="11158855" cy="5271135"/>
          </a:xfrm>
        </p:grpSpPr>
        <p:pic>
          <p:nvPicPr>
            <p:cNvPr id="4" name="object 4"/>
            <p:cNvPicPr/>
            <p:nvPr/>
          </p:nvPicPr>
          <p:blipFill>
            <a:blip r:embed="rId2" cstate="print"/>
            <a:stretch>
              <a:fillRect/>
            </a:stretch>
          </p:blipFill>
          <p:spPr>
            <a:xfrm>
              <a:off x="516636" y="2314956"/>
              <a:ext cx="11158728" cy="3859295"/>
            </a:xfrm>
            <a:prstGeom prst="rect">
              <a:avLst/>
            </a:prstGeom>
          </p:spPr>
        </p:pic>
        <p:pic>
          <p:nvPicPr>
            <p:cNvPr id="5" name="object 5"/>
            <p:cNvPicPr/>
            <p:nvPr/>
          </p:nvPicPr>
          <p:blipFill>
            <a:blip r:embed="rId3" cstate="print"/>
            <a:stretch>
              <a:fillRect/>
            </a:stretch>
          </p:blipFill>
          <p:spPr>
            <a:xfrm>
              <a:off x="3774947" y="903732"/>
              <a:ext cx="4324727" cy="1318260"/>
            </a:xfrm>
            <a:prstGeom prst="rect">
              <a:avLst/>
            </a:prstGeom>
          </p:spPr>
        </p:pic>
      </p:grpSp>
      <p:sp>
        <p:nvSpPr>
          <p:cNvPr id="6" name="object 6"/>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43</a:t>
            </a:fld>
            <a:endParaRPr spc="-2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90" dirty="0"/>
              <a:t>Performance</a:t>
            </a:r>
            <a:r>
              <a:rPr spc="-35" dirty="0"/>
              <a:t> </a:t>
            </a:r>
            <a:r>
              <a:rPr spc="-195" dirty="0"/>
              <a:t>metrics</a:t>
            </a:r>
            <a:r>
              <a:rPr spc="-65" dirty="0"/>
              <a:t> </a:t>
            </a:r>
            <a:r>
              <a:rPr spc="-130" dirty="0"/>
              <a:t>for</a:t>
            </a:r>
            <a:r>
              <a:rPr spc="-75" dirty="0"/>
              <a:t> </a:t>
            </a:r>
            <a:r>
              <a:rPr spc="-220" dirty="0"/>
              <a:t>semantic</a:t>
            </a:r>
            <a:r>
              <a:rPr spc="-65" dirty="0"/>
              <a:t> </a:t>
            </a:r>
            <a:r>
              <a:rPr spc="-180" dirty="0"/>
              <a:t>segmentation</a:t>
            </a:r>
          </a:p>
        </p:txBody>
      </p:sp>
      <p:grpSp>
        <p:nvGrpSpPr>
          <p:cNvPr id="3" name="object 3"/>
          <p:cNvGrpSpPr/>
          <p:nvPr/>
        </p:nvGrpSpPr>
        <p:grpSpPr>
          <a:xfrm>
            <a:off x="736091" y="903732"/>
            <a:ext cx="11033760" cy="5326380"/>
            <a:chOff x="736091" y="903732"/>
            <a:chExt cx="11033760" cy="5326380"/>
          </a:xfrm>
        </p:grpSpPr>
        <p:pic>
          <p:nvPicPr>
            <p:cNvPr id="4" name="object 4"/>
            <p:cNvPicPr/>
            <p:nvPr/>
          </p:nvPicPr>
          <p:blipFill>
            <a:blip r:embed="rId2" cstate="print"/>
            <a:stretch>
              <a:fillRect/>
            </a:stretch>
          </p:blipFill>
          <p:spPr>
            <a:xfrm>
              <a:off x="3774947" y="903732"/>
              <a:ext cx="4324727" cy="1318260"/>
            </a:xfrm>
            <a:prstGeom prst="rect">
              <a:avLst/>
            </a:prstGeom>
          </p:spPr>
        </p:pic>
        <p:pic>
          <p:nvPicPr>
            <p:cNvPr id="5" name="object 5"/>
            <p:cNvPicPr/>
            <p:nvPr/>
          </p:nvPicPr>
          <p:blipFill>
            <a:blip r:embed="rId3" cstate="print"/>
            <a:stretch>
              <a:fillRect/>
            </a:stretch>
          </p:blipFill>
          <p:spPr>
            <a:xfrm>
              <a:off x="736091" y="2221992"/>
              <a:ext cx="11033760" cy="4008120"/>
            </a:xfrm>
            <a:prstGeom prst="rect">
              <a:avLst/>
            </a:prstGeom>
          </p:spPr>
        </p:pic>
      </p:grpSp>
      <p:sp>
        <p:nvSpPr>
          <p:cNvPr id="6" name="object 6"/>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44</a:t>
            </a:fld>
            <a:endParaRPr spc="-2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90" dirty="0"/>
              <a:t>Performance</a:t>
            </a:r>
            <a:r>
              <a:rPr spc="-35" dirty="0"/>
              <a:t> </a:t>
            </a:r>
            <a:r>
              <a:rPr spc="-195" dirty="0"/>
              <a:t>metrics</a:t>
            </a:r>
            <a:r>
              <a:rPr spc="-65" dirty="0"/>
              <a:t> </a:t>
            </a:r>
            <a:r>
              <a:rPr spc="-130" dirty="0"/>
              <a:t>for</a:t>
            </a:r>
            <a:r>
              <a:rPr spc="-75" dirty="0"/>
              <a:t> </a:t>
            </a:r>
            <a:r>
              <a:rPr spc="-220" dirty="0"/>
              <a:t>semantic</a:t>
            </a:r>
            <a:r>
              <a:rPr spc="-65" dirty="0"/>
              <a:t> </a:t>
            </a:r>
            <a:r>
              <a:rPr spc="-180" dirty="0"/>
              <a:t>segmentation</a:t>
            </a:r>
          </a:p>
        </p:txBody>
      </p:sp>
      <p:grpSp>
        <p:nvGrpSpPr>
          <p:cNvPr id="3" name="object 3"/>
          <p:cNvGrpSpPr/>
          <p:nvPr/>
        </p:nvGrpSpPr>
        <p:grpSpPr>
          <a:xfrm>
            <a:off x="158495" y="932759"/>
            <a:ext cx="11870055" cy="5398135"/>
            <a:chOff x="158495" y="932759"/>
            <a:chExt cx="11870055" cy="5398135"/>
          </a:xfrm>
        </p:grpSpPr>
        <p:pic>
          <p:nvPicPr>
            <p:cNvPr id="4" name="object 4"/>
            <p:cNvPicPr/>
            <p:nvPr/>
          </p:nvPicPr>
          <p:blipFill>
            <a:blip r:embed="rId2" cstate="print"/>
            <a:stretch>
              <a:fillRect/>
            </a:stretch>
          </p:blipFill>
          <p:spPr>
            <a:xfrm>
              <a:off x="7638288" y="932759"/>
              <a:ext cx="4390263" cy="5397555"/>
            </a:xfrm>
            <a:prstGeom prst="rect">
              <a:avLst/>
            </a:prstGeom>
          </p:spPr>
        </p:pic>
        <p:pic>
          <p:nvPicPr>
            <p:cNvPr id="5" name="object 5"/>
            <p:cNvPicPr/>
            <p:nvPr/>
          </p:nvPicPr>
          <p:blipFill>
            <a:blip r:embed="rId3" cstate="print"/>
            <a:stretch>
              <a:fillRect/>
            </a:stretch>
          </p:blipFill>
          <p:spPr>
            <a:xfrm>
              <a:off x="158495" y="1066816"/>
              <a:ext cx="6984669" cy="1330435"/>
            </a:xfrm>
            <a:prstGeom prst="rect">
              <a:avLst/>
            </a:prstGeom>
          </p:spPr>
        </p:pic>
      </p:grpSp>
      <p:sp>
        <p:nvSpPr>
          <p:cNvPr id="6" name="object 6"/>
          <p:cNvSpPr txBox="1">
            <a:spLocks noGrp="1"/>
          </p:cNvSpPr>
          <p:nvPr>
            <p:ph type="body" idx="1"/>
          </p:nvPr>
        </p:nvSpPr>
        <p:spPr>
          <a:prstGeom prst="rect">
            <a:avLst/>
          </a:prstGeom>
        </p:spPr>
        <p:txBody>
          <a:bodyPr vert="horz" wrap="square" lIns="0" tIns="97790" rIns="0" bIns="0" rtlCol="0">
            <a:spAutoFit/>
          </a:bodyPr>
          <a:lstStyle/>
          <a:p>
            <a:pPr marL="240029" indent="-227329">
              <a:lnSpc>
                <a:spcPct val="100000"/>
              </a:lnSpc>
              <a:spcBef>
                <a:spcPts val="770"/>
              </a:spcBef>
              <a:buFont typeface="Arial"/>
              <a:buChar char="•"/>
              <a:tabLst>
                <a:tab pos="240029" algn="l"/>
              </a:tabLst>
            </a:pPr>
            <a:r>
              <a:rPr spc="-55" dirty="0"/>
              <a:t>TP:</a:t>
            </a:r>
            <a:r>
              <a:rPr spc="-165" dirty="0"/>
              <a:t> </a:t>
            </a:r>
            <a:r>
              <a:rPr dirty="0"/>
              <a:t>pixel</a:t>
            </a:r>
            <a:r>
              <a:rPr spc="-155" dirty="0"/>
              <a:t> </a:t>
            </a:r>
            <a:r>
              <a:rPr dirty="0"/>
              <a:t>phát</a:t>
            </a:r>
            <a:r>
              <a:rPr spc="-160" dirty="0"/>
              <a:t> </a:t>
            </a:r>
            <a:r>
              <a:rPr dirty="0"/>
              <a:t>hiện</a:t>
            </a:r>
            <a:r>
              <a:rPr spc="-160" dirty="0"/>
              <a:t> </a:t>
            </a:r>
            <a:r>
              <a:rPr dirty="0"/>
              <a:t>chính</a:t>
            </a:r>
            <a:r>
              <a:rPr spc="-155" dirty="0"/>
              <a:t> </a:t>
            </a:r>
            <a:r>
              <a:rPr dirty="0"/>
              <a:t>xác</a:t>
            </a:r>
            <a:r>
              <a:rPr spc="-160" dirty="0"/>
              <a:t> </a:t>
            </a:r>
            <a:r>
              <a:rPr dirty="0"/>
              <a:t>của</a:t>
            </a:r>
            <a:r>
              <a:rPr spc="-160" dirty="0"/>
              <a:t> </a:t>
            </a:r>
            <a:r>
              <a:rPr dirty="0"/>
              <a:t>vật</a:t>
            </a:r>
            <a:r>
              <a:rPr spc="-170" dirty="0"/>
              <a:t> </a:t>
            </a:r>
            <a:r>
              <a:rPr spc="-25" dirty="0"/>
              <a:t>thể</a:t>
            </a:r>
          </a:p>
          <a:p>
            <a:pPr marL="12700" marR="99695" indent="227329">
              <a:lnSpc>
                <a:spcPct val="119600"/>
              </a:lnSpc>
              <a:spcBef>
                <a:spcPts val="15"/>
              </a:spcBef>
              <a:buFont typeface="Arial"/>
              <a:buChar char="•"/>
              <a:tabLst>
                <a:tab pos="240029" algn="l"/>
              </a:tabLst>
            </a:pPr>
            <a:r>
              <a:rPr dirty="0"/>
              <a:t>TN:</a:t>
            </a:r>
            <a:r>
              <a:rPr spc="-145" dirty="0"/>
              <a:t> </a:t>
            </a:r>
            <a:r>
              <a:rPr dirty="0"/>
              <a:t>pixel</a:t>
            </a:r>
            <a:r>
              <a:rPr spc="-125" dirty="0"/>
              <a:t> </a:t>
            </a:r>
            <a:r>
              <a:rPr dirty="0"/>
              <a:t>phát</a:t>
            </a:r>
            <a:r>
              <a:rPr spc="-145" dirty="0"/>
              <a:t> </a:t>
            </a:r>
            <a:r>
              <a:rPr dirty="0"/>
              <a:t>hiện</a:t>
            </a:r>
            <a:r>
              <a:rPr spc="-140" dirty="0"/>
              <a:t> </a:t>
            </a:r>
            <a:r>
              <a:rPr dirty="0"/>
              <a:t>được</a:t>
            </a:r>
            <a:r>
              <a:rPr spc="-150" dirty="0"/>
              <a:t> </a:t>
            </a:r>
            <a:r>
              <a:rPr dirty="0"/>
              <a:t>chính</a:t>
            </a:r>
            <a:r>
              <a:rPr spc="-130" dirty="0"/>
              <a:t> </a:t>
            </a:r>
            <a:r>
              <a:rPr dirty="0"/>
              <a:t>xác</a:t>
            </a:r>
            <a:r>
              <a:rPr spc="-145" dirty="0"/>
              <a:t> </a:t>
            </a:r>
            <a:r>
              <a:rPr dirty="0"/>
              <a:t>của</a:t>
            </a:r>
            <a:r>
              <a:rPr spc="-140" dirty="0"/>
              <a:t> </a:t>
            </a:r>
            <a:r>
              <a:rPr spc="-25" dirty="0"/>
              <a:t>đối </a:t>
            </a:r>
            <a:r>
              <a:rPr dirty="0"/>
              <a:t>tượng</a:t>
            </a:r>
            <a:r>
              <a:rPr spc="-170" dirty="0"/>
              <a:t> </a:t>
            </a:r>
            <a:r>
              <a:rPr spc="-10" dirty="0"/>
              <a:t>không</a:t>
            </a:r>
            <a:r>
              <a:rPr spc="-140" dirty="0"/>
              <a:t> </a:t>
            </a:r>
            <a:r>
              <a:rPr dirty="0"/>
              <a:t>phải</a:t>
            </a:r>
            <a:r>
              <a:rPr spc="-145" dirty="0"/>
              <a:t> </a:t>
            </a:r>
            <a:r>
              <a:rPr dirty="0"/>
              <a:t>vật</a:t>
            </a:r>
            <a:r>
              <a:rPr spc="-160" dirty="0"/>
              <a:t> </a:t>
            </a:r>
            <a:r>
              <a:rPr spc="-25" dirty="0"/>
              <a:t>thể</a:t>
            </a:r>
          </a:p>
          <a:p>
            <a:pPr marL="240029" indent="-227329">
              <a:lnSpc>
                <a:spcPct val="100000"/>
              </a:lnSpc>
              <a:spcBef>
                <a:spcPts val="660"/>
              </a:spcBef>
              <a:buFont typeface="Arial"/>
              <a:buChar char="•"/>
              <a:tabLst>
                <a:tab pos="240029" algn="l"/>
              </a:tabLst>
            </a:pPr>
            <a:r>
              <a:rPr dirty="0"/>
              <a:t>FP:</a:t>
            </a:r>
            <a:r>
              <a:rPr spc="-165" dirty="0"/>
              <a:t> </a:t>
            </a:r>
            <a:r>
              <a:rPr dirty="0"/>
              <a:t>pixel</a:t>
            </a:r>
            <a:r>
              <a:rPr spc="-155" dirty="0"/>
              <a:t> </a:t>
            </a:r>
            <a:r>
              <a:rPr dirty="0"/>
              <a:t>phát</a:t>
            </a:r>
            <a:r>
              <a:rPr spc="-170" dirty="0"/>
              <a:t> </a:t>
            </a:r>
            <a:r>
              <a:rPr dirty="0"/>
              <a:t>hiện</a:t>
            </a:r>
            <a:r>
              <a:rPr spc="-160" dirty="0"/>
              <a:t> </a:t>
            </a:r>
            <a:r>
              <a:rPr spc="-40" dirty="0"/>
              <a:t>nhầm</a:t>
            </a:r>
            <a:r>
              <a:rPr spc="-180" dirty="0"/>
              <a:t> </a:t>
            </a:r>
            <a:r>
              <a:rPr spc="-10" dirty="0"/>
              <a:t>là</a:t>
            </a:r>
            <a:r>
              <a:rPr spc="-175" dirty="0"/>
              <a:t> </a:t>
            </a:r>
            <a:r>
              <a:rPr dirty="0"/>
              <a:t>vật</a:t>
            </a:r>
            <a:r>
              <a:rPr spc="-165" dirty="0"/>
              <a:t> </a:t>
            </a:r>
            <a:r>
              <a:rPr spc="-25" dirty="0"/>
              <a:t>thể</a:t>
            </a:r>
          </a:p>
          <a:p>
            <a:pPr marL="240029" indent="-227329">
              <a:lnSpc>
                <a:spcPct val="100000"/>
              </a:lnSpc>
              <a:spcBef>
                <a:spcPts val="675"/>
              </a:spcBef>
              <a:buFont typeface="Arial"/>
              <a:buChar char="•"/>
              <a:tabLst>
                <a:tab pos="240029" algn="l"/>
              </a:tabLst>
            </a:pPr>
            <a:r>
              <a:rPr dirty="0"/>
              <a:t>FN:</a:t>
            </a:r>
            <a:r>
              <a:rPr spc="-155" dirty="0"/>
              <a:t> </a:t>
            </a:r>
            <a:r>
              <a:rPr dirty="0"/>
              <a:t>pixel</a:t>
            </a:r>
            <a:r>
              <a:rPr spc="-125" dirty="0"/>
              <a:t> </a:t>
            </a:r>
            <a:r>
              <a:rPr dirty="0"/>
              <a:t>của</a:t>
            </a:r>
            <a:r>
              <a:rPr spc="-160" dirty="0"/>
              <a:t> </a:t>
            </a:r>
            <a:r>
              <a:rPr dirty="0"/>
              <a:t>vật</a:t>
            </a:r>
            <a:r>
              <a:rPr spc="-150" dirty="0"/>
              <a:t> </a:t>
            </a:r>
            <a:r>
              <a:rPr dirty="0"/>
              <a:t>thể</a:t>
            </a:r>
            <a:r>
              <a:rPr spc="-165" dirty="0"/>
              <a:t> </a:t>
            </a:r>
            <a:r>
              <a:rPr spc="-10" dirty="0"/>
              <a:t>không</a:t>
            </a:r>
            <a:r>
              <a:rPr spc="-150" dirty="0"/>
              <a:t> </a:t>
            </a:r>
            <a:r>
              <a:rPr dirty="0"/>
              <a:t>phát</a:t>
            </a:r>
            <a:r>
              <a:rPr spc="-150" dirty="0"/>
              <a:t> </a:t>
            </a:r>
            <a:r>
              <a:rPr dirty="0"/>
              <a:t>hiện</a:t>
            </a:r>
            <a:r>
              <a:rPr spc="-150" dirty="0"/>
              <a:t> </a:t>
            </a:r>
            <a:r>
              <a:rPr spc="-20" dirty="0"/>
              <a:t>được</a:t>
            </a:r>
          </a:p>
        </p:txBody>
      </p:sp>
      <p:sp>
        <p:nvSpPr>
          <p:cNvPr id="7" name="object 7"/>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45</a:t>
            </a:fld>
            <a:endParaRPr spc="-2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pc="-120" dirty="0"/>
              <a:t>SEMANTIC</a:t>
            </a:r>
            <a:r>
              <a:rPr spc="-114" dirty="0"/>
              <a:t> </a:t>
            </a:r>
            <a:r>
              <a:rPr spc="-75" dirty="0"/>
              <a:t>SEGMENTATION</a:t>
            </a:r>
            <a:r>
              <a:rPr spc="-85" dirty="0"/>
              <a:t> </a:t>
            </a:r>
            <a:r>
              <a:rPr spc="-65" dirty="0"/>
              <a:t>SOLUTION</a:t>
            </a:r>
          </a:p>
        </p:txBody>
      </p:sp>
      <p:sp>
        <p:nvSpPr>
          <p:cNvPr id="3" name="object 3"/>
          <p:cNvSpPr txBox="1"/>
          <p:nvPr/>
        </p:nvSpPr>
        <p:spPr>
          <a:xfrm>
            <a:off x="631647" y="850519"/>
            <a:ext cx="90551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1B1B1B"/>
                </a:solidFill>
                <a:latin typeface="Tahoma"/>
                <a:cs typeface="Tahoma"/>
              </a:rPr>
              <a:t>Cập</a:t>
            </a:r>
            <a:r>
              <a:rPr sz="2400" spc="-120" dirty="0">
                <a:solidFill>
                  <a:srgbClr val="1B1B1B"/>
                </a:solidFill>
                <a:latin typeface="Tahoma"/>
                <a:cs typeface="Tahoma"/>
              </a:rPr>
              <a:t> </a:t>
            </a:r>
            <a:r>
              <a:rPr sz="2400" dirty="0">
                <a:solidFill>
                  <a:srgbClr val="1B1B1B"/>
                </a:solidFill>
                <a:latin typeface="Tahoma"/>
                <a:cs typeface="Tahoma"/>
              </a:rPr>
              <a:t>nhật</a:t>
            </a:r>
            <a:r>
              <a:rPr sz="2400" spc="-125" dirty="0">
                <a:solidFill>
                  <a:srgbClr val="1B1B1B"/>
                </a:solidFill>
                <a:latin typeface="Tahoma"/>
                <a:cs typeface="Tahoma"/>
              </a:rPr>
              <a:t> </a:t>
            </a:r>
            <a:r>
              <a:rPr sz="2400" dirty="0">
                <a:solidFill>
                  <a:srgbClr val="1B1B1B"/>
                </a:solidFill>
                <a:latin typeface="Tahoma"/>
                <a:cs typeface="Tahoma"/>
              </a:rPr>
              <a:t>các</a:t>
            </a:r>
            <a:r>
              <a:rPr sz="2400" spc="-125" dirty="0">
                <a:solidFill>
                  <a:srgbClr val="1B1B1B"/>
                </a:solidFill>
                <a:latin typeface="Tahoma"/>
                <a:cs typeface="Tahoma"/>
              </a:rPr>
              <a:t> </a:t>
            </a:r>
            <a:r>
              <a:rPr sz="2400" spc="-25" dirty="0">
                <a:solidFill>
                  <a:srgbClr val="1B1B1B"/>
                </a:solidFill>
                <a:latin typeface="Tahoma"/>
                <a:cs typeface="Tahoma"/>
              </a:rPr>
              <a:t>giải</a:t>
            </a:r>
            <a:r>
              <a:rPr sz="2400" spc="-120" dirty="0">
                <a:solidFill>
                  <a:srgbClr val="1B1B1B"/>
                </a:solidFill>
                <a:latin typeface="Tahoma"/>
                <a:cs typeface="Tahoma"/>
              </a:rPr>
              <a:t> </a:t>
            </a:r>
            <a:r>
              <a:rPr sz="2400" dirty="0">
                <a:solidFill>
                  <a:srgbClr val="1B1B1B"/>
                </a:solidFill>
                <a:latin typeface="Tahoma"/>
                <a:cs typeface="Tahoma"/>
              </a:rPr>
              <a:t>pháp</a:t>
            </a:r>
            <a:r>
              <a:rPr sz="2400" spc="-105" dirty="0">
                <a:solidFill>
                  <a:srgbClr val="1B1B1B"/>
                </a:solidFill>
                <a:latin typeface="Tahoma"/>
                <a:cs typeface="Tahoma"/>
              </a:rPr>
              <a:t> </a:t>
            </a:r>
            <a:r>
              <a:rPr sz="2400" spc="-10" dirty="0">
                <a:solidFill>
                  <a:srgbClr val="1B1B1B"/>
                </a:solidFill>
                <a:latin typeface="Tahoma"/>
                <a:cs typeface="Tahoma"/>
              </a:rPr>
              <a:t>instance</a:t>
            </a:r>
            <a:r>
              <a:rPr sz="2400" spc="-150" dirty="0">
                <a:solidFill>
                  <a:srgbClr val="1B1B1B"/>
                </a:solidFill>
                <a:latin typeface="Tahoma"/>
                <a:cs typeface="Tahoma"/>
              </a:rPr>
              <a:t> </a:t>
            </a:r>
            <a:r>
              <a:rPr sz="2400" spc="-10" dirty="0">
                <a:solidFill>
                  <a:srgbClr val="1B1B1B"/>
                </a:solidFill>
                <a:latin typeface="Tahoma"/>
                <a:cs typeface="Tahoma"/>
              </a:rPr>
              <a:t>segmentation</a:t>
            </a:r>
            <a:r>
              <a:rPr sz="2400" spc="-135" dirty="0">
                <a:solidFill>
                  <a:srgbClr val="1B1B1B"/>
                </a:solidFill>
                <a:latin typeface="Tahoma"/>
                <a:cs typeface="Tahoma"/>
              </a:rPr>
              <a:t> </a:t>
            </a:r>
            <a:r>
              <a:rPr sz="2400" dirty="0">
                <a:solidFill>
                  <a:srgbClr val="1B1B1B"/>
                </a:solidFill>
                <a:latin typeface="Tahoma"/>
                <a:cs typeface="Tahoma"/>
              </a:rPr>
              <a:t>trên</a:t>
            </a:r>
            <a:r>
              <a:rPr sz="2400" spc="-130" dirty="0">
                <a:solidFill>
                  <a:srgbClr val="1B1B1B"/>
                </a:solidFill>
                <a:latin typeface="Tahoma"/>
                <a:cs typeface="Tahoma"/>
              </a:rPr>
              <a:t> </a:t>
            </a:r>
            <a:r>
              <a:rPr sz="2400" dirty="0">
                <a:solidFill>
                  <a:srgbClr val="1B1B1B"/>
                </a:solidFill>
                <a:latin typeface="Tahoma"/>
                <a:cs typeface="Tahoma"/>
              </a:rPr>
              <a:t>paper</a:t>
            </a:r>
            <a:r>
              <a:rPr sz="2400" spc="-110" dirty="0">
                <a:solidFill>
                  <a:srgbClr val="1B1B1B"/>
                </a:solidFill>
                <a:latin typeface="Tahoma"/>
                <a:cs typeface="Tahoma"/>
              </a:rPr>
              <a:t> </a:t>
            </a:r>
            <a:r>
              <a:rPr sz="2400" dirty="0">
                <a:solidFill>
                  <a:srgbClr val="1B1B1B"/>
                </a:solidFill>
                <a:latin typeface="Tahoma"/>
                <a:cs typeface="Tahoma"/>
              </a:rPr>
              <a:t>with</a:t>
            </a:r>
            <a:r>
              <a:rPr sz="2400" spc="-120" dirty="0">
                <a:solidFill>
                  <a:srgbClr val="1B1B1B"/>
                </a:solidFill>
                <a:latin typeface="Tahoma"/>
                <a:cs typeface="Tahoma"/>
              </a:rPr>
              <a:t> </a:t>
            </a:r>
            <a:r>
              <a:rPr sz="2400" spc="-10" dirty="0">
                <a:solidFill>
                  <a:srgbClr val="1B1B1B"/>
                </a:solidFill>
                <a:latin typeface="Tahoma"/>
                <a:cs typeface="Tahoma"/>
              </a:rPr>
              <a:t>code:</a:t>
            </a:r>
            <a:endParaRPr sz="2400">
              <a:latin typeface="Tahoma"/>
              <a:cs typeface="Tahoma"/>
            </a:endParaRPr>
          </a:p>
        </p:txBody>
      </p:sp>
      <p:pic>
        <p:nvPicPr>
          <p:cNvPr id="4" name="object 4"/>
          <p:cNvPicPr/>
          <p:nvPr/>
        </p:nvPicPr>
        <p:blipFill>
          <a:blip r:embed="rId2" cstate="print"/>
          <a:stretch>
            <a:fillRect/>
          </a:stretch>
        </p:blipFill>
        <p:spPr>
          <a:xfrm>
            <a:off x="553212" y="1274084"/>
            <a:ext cx="11409879" cy="5108911"/>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46</a:t>
            </a:fld>
            <a:endParaRPr spc="-2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pc="-30" dirty="0"/>
              <a:t>MASK</a:t>
            </a:r>
            <a:r>
              <a:rPr spc="-145" dirty="0"/>
              <a:t> </a:t>
            </a:r>
            <a:r>
              <a:rPr spc="-85" dirty="0"/>
              <a:t>RCNN</a:t>
            </a:r>
            <a:r>
              <a:rPr spc="-130" dirty="0"/>
              <a:t> </a:t>
            </a:r>
            <a:r>
              <a:rPr spc="-185" dirty="0"/>
              <a:t>–</a:t>
            </a:r>
            <a:r>
              <a:rPr spc="-140" dirty="0"/>
              <a:t> </a:t>
            </a:r>
            <a:r>
              <a:rPr spc="-130" dirty="0"/>
              <a:t>INSTANCE</a:t>
            </a:r>
            <a:r>
              <a:rPr spc="-145" dirty="0"/>
              <a:t> </a:t>
            </a:r>
            <a:r>
              <a:rPr spc="-80" dirty="0"/>
              <a:t>SEGMENTATION</a:t>
            </a:r>
            <a:r>
              <a:rPr spc="-120" dirty="0"/>
              <a:t> </a:t>
            </a:r>
            <a:r>
              <a:rPr spc="-50" dirty="0"/>
              <a:t>SOLUTION</a:t>
            </a:r>
          </a:p>
        </p:txBody>
      </p:sp>
      <p:sp>
        <p:nvSpPr>
          <p:cNvPr id="3" name="object 3"/>
          <p:cNvSpPr txBox="1"/>
          <p:nvPr/>
        </p:nvSpPr>
        <p:spPr>
          <a:xfrm>
            <a:off x="323189" y="1169365"/>
            <a:ext cx="1821180" cy="391795"/>
          </a:xfrm>
          <a:prstGeom prst="rect">
            <a:avLst/>
          </a:prstGeom>
        </p:spPr>
        <p:txBody>
          <a:bodyPr vert="horz" wrap="square" lIns="0" tIns="12700" rIns="0" bIns="0" rtlCol="0">
            <a:spAutoFit/>
          </a:bodyPr>
          <a:lstStyle/>
          <a:p>
            <a:pPr marL="12700">
              <a:lnSpc>
                <a:spcPct val="100000"/>
              </a:lnSpc>
              <a:spcBef>
                <a:spcPts val="100"/>
              </a:spcBef>
            </a:pPr>
            <a:r>
              <a:rPr sz="2400" spc="165" dirty="0">
                <a:solidFill>
                  <a:srgbClr val="1B1B1B"/>
                </a:solidFill>
                <a:latin typeface="Tahoma"/>
                <a:cs typeface="Tahoma"/>
              </a:rPr>
              <a:t>MASK</a:t>
            </a:r>
            <a:r>
              <a:rPr sz="2400" spc="-155" dirty="0">
                <a:solidFill>
                  <a:srgbClr val="1B1B1B"/>
                </a:solidFill>
                <a:latin typeface="Tahoma"/>
                <a:cs typeface="Tahoma"/>
              </a:rPr>
              <a:t> </a:t>
            </a:r>
            <a:r>
              <a:rPr sz="2400" spc="130" dirty="0">
                <a:solidFill>
                  <a:srgbClr val="1B1B1B"/>
                </a:solidFill>
                <a:latin typeface="Tahoma"/>
                <a:cs typeface="Tahoma"/>
              </a:rPr>
              <a:t>RCNN</a:t>
            </a:r>
            <a:endParaRPr sz="2400">
              <a:latin typeface="Tahoma"/>
              <a:cs typeface="Tahoma"/>
            </a:endParaRPr>
          </a:p>
        </p:txBody>
      </p:sp>
      <p:pic>
        <p:nvPicPr>
          <p:cNvPr id="4" name="object 4"/>
          <p:cNvPicPr/>
          <p:nvPr/>
        </p:nvPicPr>
        <p:blipFill>
          <a:blip r:embed="rId2" cstate="print"/>
          <a:stretch>
            <a:fillRect/>
          </a:stretch>
        </p:blipFill>
        <p:spPr>
          <a:xfrm>
            <a:off x="1888235" y="1935507"/>
            <a:ext cx="8413424" cy="4082768"/>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47</a:t>
            </a:fld>
            <a:endParaRPr spc="-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30" dirty="0"/>
              <a:t>MASK</a:t>
            </a:r>
            <a:r>
              <a:rPr spc="-145" dirty="0"/>
              <a:t> </a:t>
            </a:r>
            <a:r>
              <a:rPr spc="-85" dirty="0"/>
              <a:t>RCNN</a:t>
            </a:r>
            <a:r>
              <a:rPr spc="-130" dirty="0"/>
              <a:t> </a:t>
            </a:r>
            <a:r>
              <a:rPr spc="-185" dirty="0"/>
              <a:t>–</a:t>
            </a:r>
            <a:r>
              <a:rPr spc="-140" dirty="0"/>
              <a:t> </a:t>
            </a:r>
            <a:r>
              <a:rPr spc="-130" dirty="0"/>
              <a:t>INSTANCE</a:t>
            </a:r>
            <a:r>
              <a:rPr spc="-145" dirty="0"/>
              <a:t> </a:t>
            </a:r>
            <a:r>
              <a:rPr spc="-80" dirty="0"/>
              <a:t>SEGMENTATION</a:t>
            </a:r>
            <a:r>
              <a:rPr spc="-120" dirty="0"/>
              <a:t> </a:t>
            </a:r>
            <a:r>
              <a:rPr spc="-50" dirty="0"/>
              <a:t>SOLUTION</a:t>
            </a:r>
          </a:p>
        </p:txBody>
      </p:sp>
      <p:pic>
        <p:nvPicPr>
          <p:cNvPr id="3" name="object 3"/>
          <p:cNvPicPr/>
          <p:nvPr/>
        </p:nvPicPr>
        <p:blipFill>
          <a:blip r:embed="rId2" cstate="print"/>
          <a:stretch>
            <a:fillRect/>
          </a:stretch>
        </p:blipFill>
        <p:spPr>
          <a:xfrm>
            <a:off x="225552" y="1318260"/>
            <a:ext cx="11739062" cy="4581484"/>
          </a:xfrm>
          <a:prstGeom prst="rect">
            <a:avLst/>
          </a:prstGeom>
        </p:spPr>
      </p:pic>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48</a:t>
            </a:fld>
            <a:endParaRPr spc="-2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35" dirty="0"/>
              <a:t>YOLACT</a:t>
            </a:r>
            <a:r>
              <a:rPr spc="-140" dirty="0"/>
              <a:t> </a:t>
            </a:r>
            <a:r>
              <a:rPr spc="-185" dirty="0"/>
              <a:t>–</a:t>
            </a:r>
            <a:r>
              <a:rPr spc="-140" dirty="0"/>
              <a:t> </a:t>
            </a:r>
            <a:r>
              <a:rPr spc="-130" dirty="0"/>
              <a:t>INSTANCE</a:t>
            </a:r>
            <a:r>
              <a:rPr spc="-145" dirty="0"/>
              <a:t> </a:t>
            </a:r>
            <a:r>
              <a:rPr spc="-80" dirty="0"/>
              <a:t>SEGMENTATION</a:t>
            </a:r>
            <a:r>
              <a:rPr spc="-114" dirty="0"/>
              <a:t> </a:t>
            </a:r>
            <a:r>
              <a:rPr spc="-50" dirty="0"/>
              <a:t>SOLUTION</a:t>
            </a:r>
          </a:p>
        </p:txBody>
      </p:sp>
      <p:pic>
        <p:nvPicPr>
          <p:cNvPr id="3" name="object 3"/>
          <p:cNvPicPr/>
          <p:nvPr/>
        </p:nvPicPr>
        <p:blipFill>
          <a:blip r:embed="rId2" cstate="print"/>
          <a:stretch>
            <a:fillRect/>
          </a:stretch>
        </p:blipFill>
        <p:spPr>
          <a:xfrm>
            <a:off x="106679" y="946403"/>
            <a:ext cx="11972544" cy="5422392"/>
          </a:xfrm>
          <a:prstGeom prst="rect">
            <a:avLst/>
          </a:prstGeom>
        </p:spPr>
      </p:pic>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49</a:t>
            </a:fld>
            <a:endParaRPr spc="-2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35" dirty="0"/>
              <a:t>YOLACT</a:t>
            </a:r>
            <a:r>
              <a:rPr spc="-135" dirty="0"/>
              <a:t> </a:t>
            </a:r>
            <a:r>
              <a:rPr spc="-185" dirty="0"/>
              <a:t>–</a:t>
            </a:r>
            <a:r>
              <a:rPr spc="-130" dirty="0"/>
              <a:t> INSTANCE</a:t>
            </a:r>
            <a:r>
              <a:rPr spc="-140" dirty="0"/>
              <a:t> </a:t>
            </a:r>
            <a:r>
              <a:rPr spc="-80" dirty="0"/>
              <a:t>SEGMENTATION</a:t>
            </a:r>
            <a:r>
              <a:rPr spc="-105" dirty="0"/>
              <a:t> SOLUTION</a:t>
            </a:r>
            <a:r>
              <a:rPr spc="-100" dirty="0"/>
              <a:t> </a:t>
            </a:r>
            <a:r>
              <a:rPr spc="-185" dirty="0"/>
              <a:t>–</a:t>
            </a:r>
            <a:r>
              <a:rPr spc="-145" dirty="0"/>
              <a:t> </a:t>
            </a:r>
            <a:r>
              <a:rPr spc="-100" dirty="0"/>
              <a:t>PrototypeNet</a:t>
            </a:r>
          </a:p>
        </p:txBody>
      </p:sp>
      <p:pic>
        <p:nvPicPr>
          <p:cNvPr id="3" name="object 3"/>
          <p:cNvPicPr/>
          <p:nvPr/>
        </p:nvPicPr>
        <p:blipFill>
          <a:blip r:embed="rId2" cstate="print"/>
          <a:stretch>
            <a:fillRect/>
          </a:stretch>
        </p:blipFill>
        <p:spPr>
          <a:xfrm>
            <a:off x="1665732" y="1885188"/>
            <a:ext cx="8178790" cy="3627120"/>
          </a:xfrm>
          <a:prstGeom prst="rect">
            <a:avLst/>
          </a:prstGeom>
        </p:spPr>
      </p:pic>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50</a:t>
            </a:fld>
            <a:endParaRPr spc="-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35" dirty="0"/>
              <a:t>YOLACT</a:t>
            </a:r>
            <a:r>
              <a:rPr spc="-125" dirty="0"/>
              <a:t> </a:t>
            </a:r>
            <a:r>
              <a:rPr spc="-185" dirty="0"/>
              <a:t>–</a:t>
            </a:r>
            <a:r>
              <a:rPr spc="-120" dirty="0"/>
              <a:t> </a:t>
            </a:r>
            <a:r>
              <a:rPr spc="-130" dirty="0"/>
              <a:t>INSTANCE </a:t>
            </a:r>
            <a:r>
              <a:rPr spc="-80" dirty="0"/>
              <a:t>SEGMENTATION</a:t>
            </a:r>
            <a:r>
              <a:rPr spc="-95" dirty="0"/>
              <a:t> </a:t>
            </a:r>
            <a:r>
              <a:rPr spc="-105" dirty="0"/>
              <a:t>SOLUTION</a:t>
            </a:r>
            <a:r>
              <a:rPr spc="-90" dirty="0"/>
              <a:t> </a:t>
            </a:r>
            <a:r>
              <a:rPr spc="-185" dirty="0"/>
              <a:t>–</a:t>
            </a:r>
            <a:r>
              <a:rPr spc="-135" dirty="0"/>
              <a:t> </a:t>
            </a:r>
            <a:r>
              <a:rPr spc="-160" dirty="0"/>
              <a:t>Prediction</a:t>
            </a:r>
            <a:r>
              <a:rPr spc="-95" dirty="0"/>
              <a:t> </a:t>
            </a:r>
            <a:r>
              <a:rPr spc="-30" dirty="0"/>
              <a:t>Head</a:t>
            </a:r>
          </a:p>
        </p:txBody>
      </p:sp>
      <p:pic>
        <p:nvPicPr>
          <p:cNvPr id="3" name="object 3"/>
          <p:cNvPicPr/>
          <p:nvPr/>
        </p:nvPicPr>
        <p:blipFill>
          <a:blip r:embed="rId2" cstate="print"/>
          <a:stretch>
            <a:fillRect/>
          </a:stretch>
        </p:blipFill>
        <p:spPr>
          <a:xfrm>
            <a:off x="2290572" y="1310715"/>
            <a:ext cx="7525071" cy="4736516"/>
          </a:xfrm>
          <a:prstGeom prst="rect">
            <a:avLst/>
          </a:prstGeom>
        </p:spPr>
      </p:pic>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51</a:t>
            </a:fld>
            <a:endParaRPr spc="-2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35" dirty="0"/>
              <a:t>YOLACT</a:t>
            </a:r>
            <a:r>
              <a:rPr spc="-125" dirty="0"/>
              <a:t> </a:t>
            </a:r>
            <a:r>
              <a:rPr spc="-185" dirty="0"/>
              <a:t>–</a:t>
            </a:r>
            <a:r>
              <a:rPr spc="-120" dirty="0"/>
              <a:t> </a:t>
            </a:r>
            <a:r>
              <a:rPr spc="-130" dirty="0"/>
              <a:t>INSTANCE </a:t>
            </a:r>
            <a:r>
              <a:rPr spc="-80" dirty="0"/>
              <a:t>SEGMENTATION</a:t>
            </a:r>
            <a:r>
              <a:rPr spc="-95" dirty="0"/>
              <a:t> </a:t>
            </a:r>
            <a:r>
              <a:rPr spc="-105" dirty="0"/>
              <a:t>SOLUTION</a:t>
            </a:r>
            <a:r>
              <a:rPr spc="-90" dirty="0"/>
              <a:t> </a:t>
            </a:r>
            <a:r>
              <a:rPr spc="-185" dirty="0"/>
              <a:t>–</a:t>
            </a:r>
            <a:r>
              <a:rPr spc="-135" dirty="0"/>
              <a:t> </a:t>
            </a:r>
            <a:r>
              <a:rPr spc="-160" dirty="0"/>
              <a:t>Prediction</a:t>
            </a:r>
            <a:r>
              <a:rPr spc="-95" dirty="0"/>
              <a:t> </a:t>
            </a:r>
            <a:r>
              <a:rPr spc="-30" dirty="0"/>
              <a:t>Head</a:t>
            </a:r>
          </a:p>
        </p:txBody>
      </p:sp>
      <p:pic>
        <p:nvPicPr>
          <p:cNvPr id="3" name="object 3"/>
          <p:cNvPicPr/>
          <p:nvPr/>
        </p:nvPicPr>
        <p:blipFill>
          <a:blip r:embed="rId2" cstate="print"/>
          <a:stretch>
            <a:fillRect/>
          </a:stretch>
        </p:blipFill>
        <p:spPr>
          <a:xfrm>
            <a:off x="213359" y="1531619"/>
            <a:ext cx="11765280" cy="4018640"/>
          </a:xfrm>
          <a:prstGeom prst="rect">
            <a:avLst/>
          </a:prstGeom>
        </p:spPr>
      </p:pic>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52</a:t>
            </a:fld>
            <a:endParaRPr spc="-2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pc="-130" dirty="0"/>
              <a:t>INSTANCE</a:t>
            </a:r>
            <a:r>
              <a:rPr spc="-145" dirty="0"/>
              <a:t> </a:t>
            </a:r>
            <a:r>
              <a:rPr spc="-80" dirty="0"/>
              <a:t>SEGMENTATION</a:t>
            </a:r>
            <a:r>
              <a:rPr spc="-110" dirty="0"/>
              <a:t> </a:t>
            </a:r>
            <a:r>
              <a:rPr spc="-65" dirty="0"/>
              <a:t>SOLUTION</a:t>
            </a:r>
          </a:p>
        </p:txBody>
      </p:sp>
      <p:sp>
        <p:nvSpPr>
          <p:cNvPr id="3" name="object 3"/>
          <p:cNvSpPr txBox="1"/>
          <p:nvPr/>
        </p:nvSpPr>
        <p:spPr>
          <a:xfrm>
            <a:off x="504240" y="860501"/>
            <a:ext cx="9058910"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1B1B1B"/>
                </a:solidFill>
                <a:latin typeface="Tahoma"/>
                <a:cs typeface="Tahoma"/>
              </a:rPr>
              <a:t>Cập</a:t>
            </a:r>
            <a:r>
              <a:rPr sz="2400" spc="-120" dirty="0">
                <a:solidFill>
                  <a:srgbClr val="1B1B1B"/>
                </a:solidFill>
                <a:latin typeface="Tahoma"/>
                <a:cs typeface="Tahoma"/>
              </a:rPr>
              <a:t> </a:t>
            </a:r>
            <a:r>
              <a:rPr sz="2400" spc="-10" dirty="0">
                <a:solidFill>
                  <a:srgbClr val="1B1B1B"/>
                </a:solidFill>
                <a:latin typeface="Tahoma"/>
                <a:cs typeface="Tahoma"/>
              </a:rPr>
              <a:t>nhật</a:t>
            </a:r>
            <a:r>
              <a:rPr sz="2400" spc="-120" dirty="0">
                <a:solidFill>
                  <a:srgbClr val="1B1B1B"/>
                </a:solidFill>
                <a:latin typeface="Tahoma"/>
                <a:cs typeface="Tahoma"/>
              </a:rPr>
              <a:t> </a:t>
            </a:r>
            <a:r>
              <a:rPr sz="2400" dirty="0">
                <a:solidFill>
                  <a:srgbClr val="1B1B1B"/>
                </a:solidFill>
                <a:latin typeface="Tahoma"/>
                <a:cs typeface="Tahoma"/>
              </a:rPr>
              <a:t>các</a:t>
            </a:r>
            <a:r>
              <a:rPr sz="2400" spc="-114" dirty="0">
                <a:solidFill>
                  <a:srgbClr val="1B1B1B"/>
                </a:solidFill>
                <a:latin typeface="Tahoma"/>
                <a:cs typeface="Tahoma"/>
              </a:rPr>
              <a:t> </a:t>
            </a:r>
            <a:r>
              <a:rPr sz="2400" spc="-25" dirty="0">
                <a:solidFill>
                  <a:srgbClr val="1B1B1B"/>
                </a:solidFill>
                <a:latin typeface="Tahoma"/>
                <a:cs typeface="Tahoma"/>
              </a:rPr>
              <a:t>giải</a:t>
            </a:r>
            <a:r>
              <a:rPr sz="2400" spc="-105" dirty="0">
                <a:solidFill>
                  <a:srgbClr val="1B1B1B"/>
                </a:solidFill>
                <a:latin typeface="Tahoma"/>
                <a:cs typeface="Tahoma"/>
              </a:rPr>
              <a:t> </a:t>
            </a:r>
            <a:r>
              <a:rPr sz="2400" spc="-10" dirty="0">
                <a:solidFill>
                  <a:srgbClr val="1B1B1B"/>
                </a:solidFill>
                <a:latin typeface="Tahoma"/>
                <a:cs typeface="Tahoma"/>
              </a:rPr>
              <a:t>pháp</a:t>
            </a:r>
            <a:r>
              <a:rPr sz="2400" spc="-105" dirty="0">
                <a:solidFill>
                  <a:srgbClr val="1B1B1B"/>
                </a:solidFill>
                <a:latin typeface="Tahoma"/>
                <a:cs typeface="Tahoma"/>
              </a:rPr>
              <a:t> </a:t>
            </a:r>
            <a:r>
              <a:rPr sz="2400" dirty="0">
                <a:solidFill>
                  <a:srgbClr val="1B1B1B"/>
                </a:solidFill>
                <a:latin typeface="Tahoma"/>
                <a:cs typeface="Tahoma"/>
              </a:rPr>
              <a:t>instance</a:t>
            </a:r>
            <a:r>
              <a:rPr sz="2400" spc="-140" dirty="0">
                <a:solidFill>
                  <a:srgbClr val="1B1B1B"/>
                </a:solidFill>
                <a:latin typeface="Tahoma"/>
                <a:cs typeface="Tahoma"/>
              </a:rPr>
              <a:t> </a:t>
            </a:r>
            <a:r>
              <a:rPr sz="2400" spc="-10" dirty="0">
                <a:solidFill>
                  <a:srgbClr val="1B1B1B"/>
                </a:solidFill>
                <a:latin typeface="Tahoma"/>
                <a:cs typeface="Tahoma"/>
              </a:rPr>
              <a:t>segmentation</a:t>
            </a:r>
            <a:r>
              <a:rPr sz="2400" spc="-130" dirty="0">
                <a:solidFill>
                  <a:srgbClr val="1B1B1B"/>
                </a:solidFill>
                <a:latin typeface="Tahoma"/>
                <a:cs typeface="Tahoma"/>
              </a:rPr>
              <a:t> </a:t>
            </a:r>
            <a:r>
              <a:rPr sz="2400" dirty="0">
                <a:solidFill>
                  <a:srgbClr val="1B1B1B"/>
                </a:solidFill>
                <a:latin typeface="Tahoma"/>
                <a:cs typeface="Tahoma"/>
              </a:rPr>
              <a:t>trên</a:t>
            </a:r>
            <a:r>
              <a:rPr sz="2400" spc="-120" dirty="0">
                <a:solidFill>
                  <a:srgbClr val="1B1B1B"/>
                </a:solidFill>
                <a:latin typeface="Tahoma"/>
                <a:cs typeface="Tahoma"/>
              </a:rPr>
              <a:t> </a:t>
            </a:r>
            <a:r>
              <a:rPr sz="2400" spc="-10" dirty="0">
                <a:solidFill>
                  <a:srgbClr val="1B1B1B"/>
                </a:solidFill>
                <a:latin typeface="Tahoma"/>
                <a:cs typeface="Tahoma"/>
              </a:rPr>
              <a:t>paper</a:t>
            </a:r>
            <a:r>
              <a:rPr sz="2400" spc="-100" dirty="0">
                <a:solidFill>
                  <a:srgbClr val="1B1B1B"/>
                </a:solidFill>
                <a:latin typeface="Tahoma"/>
                <a:cs typeface="Tahoma"/>
              </a:rPr>
              <a:t> </a:t>
            </a:r>
            <a:r>
              <a:rPr sz="2400" dirty="0">
                <a:solidFill>
                  <a:srgbClr val="1B1B1B"/>
                </a:solidFill>
                <a:latin typeface="Tahoma"/>
                <a:cs typeface="Tahoma"/>
              </a:rPr>
              <a:t>with</a:t>
            </a:r>
            <a:r>
              <a:rPr sz="2400" spc="-95" dirty="0">
                <a:solidFill>
                  <a:srgbClr val="1B1B1B"/>
                </a:solidFill>
                <a:latin typeface="Tahoma"/>
                <a:cs typeface="Tahoma"/>
              </a:rPr>
              <a:t> </a:t>
            </a:r>
            <a:r>
              <a:rPr sz="2400" spc="-10" dirty="0">
                <a:solidFill>
                  <a:srgbClr val="1B1B1B"/>
                </a:solidFill>
                <a:latin typeface="Tahoma"/>
                <a:cs typeface="Tahoma"/>
              </a:rPr>
              <a:t>code:</a:t>
            </a:r>
            <a:endParaRPr sz="2400">
              <a:latin typeface="Tahoma"/>
              <a:cs typeface="Tahoma"/>
            </a:endParaRPr>
          </a:p>
        </p:txBody>
      </p:sp>
      <p:pic>
        <p:nvPicPr>
          <p:cNvPr id="4" name="object 4"/>
          <p:cNvPicPr/>
          <p:nvPr/>
        </p:nvPicPr>
        <p:blipFill>
          <a:blip r:embed="rId2" cstate="print"/>
          <a:stretch>
            <a:fillRect/>
          </a:stretch>
        </p:blipFill>
        <p:spPr>
          <a:xfrm>
            <a:off x="507491" y="1284842"/>
            <a:ext cx="11259064" cy="5307981"/>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53</a:t>
            </a:fld>
            <a:endParaRPr spc="-2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677" y="98552"/>
            <a:ext cx="1346200" cy="452120"/>
          </a:xfrm>
          <a:prstGeom prst="rect">
            <a:avLst/>
          </a:prstGeom>
        </p:spPr>
        <p:txBody>
          <a:bodyPr vert="horz" wrap="square" lIns="0" tIns="12065" rIns="0" bIns="0" rtlCol="0">
            <a:spAutoFit/>
          </a:bodyPr>
          <a:lstStyle/>
          <a:p>
            <a:pPr marL="12700">
              <a:lnSpc>
                <a:spcPct val="100000"/>
              </a:lnSpc>
              <a:spcBef>
                <a:spcPts val="95"/>
              </a:spcBef>
            </a:pPr>
            <a:r>
              <a:rPr spc="-120" dirty="0"/>
              <a:t>Kết</a:t>
            </a:r>
            <a:r>
              <a:rPr spc="-110" dirty="0"/>
              <a:t> </a:t>
            </a:r>
            <a:r>
              <a:rPr spc="-204" dirty="0"/>
              <a:t>luận</a:t>
            </a:r>
          </a:p>
        </p:txBody>
      </p:sp>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54</a:t>
            </a:fld>
            <a:endParaRPr spc="-25" dirty="0"/>
          </a:p>
        </p:txBody>
      </p:sp>
      <p:sp>
        <p:nvSpPr>
          <p:cNvPr id="3" name="object 3"/>
          <p:cNvSpPr txBox="1"/>
          <p:nvPr/>
        </p:nvSpPr>
        <p:spPr>
          <a:xfrm>
            <a:off x="416458" y="931760"/>
            <a:ext cx="11342370" cy="4247515"/>
          </a:xfrm>
          <a:prstGeom prst="rect">
            <a:avLst/>
          </a:prstGeom>
        </p:spPr>
        <p:txBody>
          <a:bodyPr vert="horz" wrap="square" lIns="0" tIns="98425" rIns="0" bIns="0" rtlCol="0">
            <a:spAutoFit/>
          </a:bodyPr>
          <a:lstStyle/>
          <a:p>
            <a:pPr marL="240029" indent="-227329">
              <a:lnSpc>
                <a:spcPct val="100000"/>
              </a:lnSpc>
              <a:spcBef>
                <a:spcPts val="775"/>
              </a:spcBef>
              <a:buFont typeface="Arial"/>
              <a:buChar char="•"/>
              <a:tabLst>
                <a:tab pos="240029" algn="l"/>
              </a:tabLst>
            </a:pPr>
            <a:r>
              <a:rPr sz="2800" spc="-10" dirty="0">
                <a:latin typeface="Tahoma"/>
                <a:cs typeface="Tahoma"/>
              </a:rPr>
              <a:t>Semantic</a:t>
            </a:r>
            <a:r>
              <a:rPr sz="2800" spc="-150" dirty="0">
                <a:latin typeface="Tahoma"/>
                <a:cs typeface="Tahoma"/>
              </a:rPr>
              <a:t> </a:t>
            </a:r>
            <a:r>
              <a:rPr sz="2800" spc="-35" dirty="0">
                <a:latin typeface="Tahoma"/>
                <a:cs typeface="Tahoma"/>
              </a:rPr>
              <a:t>Segmentation:</a:t>
            </a:r>
            <a:r>
              <a:rPr sz="2800" spc="-150" dirty="0">
                <a:latin typeface="Tahoma"/>
                <a:cs typeface="Tahoma"/>
              </a:rPr>
              <a:t> </a:t>
            </a:r>
            <a:r>
              <a:rPr sz="2800" spc="60" dirty="0">
                <a:latin typeface="Tahoma"/>
                <a:cs typeface="Tahoma"/>
              </a:rPr>
              <a:t>Unet</a:t>
            </a:r>
            <a:r>
              <a:rPr sz="2800" spc="-140" dirty="0">
                <a:latin typeface="Tahoma"/>
                <a:cs typeface="Tahoma"/>
              </a:rPr>
              <a:t> </a:t>
            </a:r>
            <a:r>
              <a:rPr sz="2800" spc="-229" dirty="0">
                <a:latin typeface="Tahoma"/>
                <a:cs typeface="Tahoma"/>
              </a:rPr>
              <a:t>,</a:t>
            </a:r>
            <a:r>
              <a:rPr sz="2800" spc="-150" dirty="0">
                <a:latin typeface="Tahoma"/>
                <a:cs typeface="Tahoma"/>
              </a:rPr>
              <a:t> </a:t>
            </a:r>
            <a:r>
              <a:rPr sz="2800" spc="70" dirty="0">
                <a:latin typeface="Tahoma"/>
                <a:cs typeface="Tahoma"/>
              </a:rPr>
              <a:t>FCN,</a:t>
            </a:r>
            <a:r>
              <a:rPr sz="2800" spc="-135" dirty="0">
                <a:latin typeface="Tahoma"/>
                <a:cs typeface="Tahoma"/>
              </a:rPr>
              <a:t> </a:t>
            </a:r>
            <a:r>
              <a:rPr sz="2800" spc="-10" dirty="0">
                <a:latin typeface="Tahoma"/>
                <a:cs typeface="Tahoma"/>
              </a:rPr>
              <a:t>DeepLab</a:t>
            </a:r>
            <a:endParaRPr sz="2800" dirty="0">
              <a:latin typeface="Tahoma"/>
              <a:cs typeface="Tahoma"/>
            </a:endParaRPr>
          </a:p>
          <a:p>
            <a:pPr marL="240029" indent="-227329">
              <a:lnSpc>
                <a:spcPts val="3190"/>
              </a:lnSpc>
              <a:spcBef>
                <a:spcPts val="675"/>
              </a:spcBef>
              <a:buFont typeface="Arial"/>
              <a:buChar char="•"/>
              <a:tabLst>
                <a:tab pos="240029" algn="l"/>
              </a:tabLst>
            </a:pPr>
            <a:r>
              <a:rPr sz="2800" spc="110" dirty="0">
                <a:latin typeface="Tahoma"/>
                <a:cs typeface="Tahoma"/>
              </a:rPr>
              <a:t>Có</a:t>
            </a:r>
            <a:r>
              <a:rPr sz="2800" spc="-110" dirty="0">
                <a:latin typeface="Tahoma"/>
                <a:cs typeface="Tahoma"/>
              </a:rPr>
              <a:t> </a:t>
            </a:r>
            <a:r>
              <a:rPr sz="2800" dirty="0">
                <a:latin typeface="Tahoma"/>
                <a:cs typeface="Tahoma"/>
              </a:rPr>
              <a:t>thể</a:t>
            </a:r>
            <a:r>
              <a:rPr sz="2800" spc="-110" dirty="0">
                <a:latin typeface="Tahoma"/>
                <a:cs typeface="Tahoma"/>
              </a:rPr>
              <a:t> </a:t>
            </a:r>
            <a:r>
              <a:rPr sz="2800" dirty="0">
                <a:latin typeface="Tahoma"/>
                <a:cs typeface="Tahoma"/>
              </a:rPr>
              <a:t>coi</a:t>
            </a:r>
            <a:r>
              <a:rPr sz="2800" spc="-110" dirty="0">
                <a:latin typeface="Tahoma"/>
                <a:cs typeface="Tahoma"/>
              </a:rPr>
              <a:t> </a:t>
            </a:r>
            <a:r>
              <a:rPr sz="2800" dirty="0">
                <a:latin typeface="Tahoma"/>
                <a:cs typeface="Tahoma"/>
              </a:rPr>
              <a:t>DeepLab</a:t>
            </a:r>
            <a:r>
              <a:rPr sz="2800" spc="-110" dirty="0">
                <a:latin typeface="Tahoma"/>
                <a:cs typeface="Tahoma"/>
              </a:rPr>
              <a:t> </a:t>
            </a:r>
            <a:r>
              <a:rPr sz="2800" spc="140" dirty="0">
                <a:latin typeface="Tahoma"/>
                <a:cs typeface="Tahoma"/>
              </a:rPr>
              <a:t>V3</a:t>
            </a:r>
            <a:r>
              <a:rPr sz="2800" spc="-105" dirty="0">
                <a:latin typeface="Tahoma"/>
                <a:cs typeface="Tahoma"/>
              </a:rPr>
              <a:t> </a:t>
            </a:r>
            <a:r>
              <a:rPr sz="2800" dirty="0">
                <a:latin typeface="Tahoma"/>
                <a:cs typeface="Tahoma"/>
              </a:rPr>
              <a:t>là</a:t>
            </a:r>
            <a:r>
              <a:rPr sz="2800" spc="-100" dirty="0">
                <a:latin typeface="Tahoma"/>
                <a:cs typeface="Tahoma"/>
              </a:rPr>
              <a:t> </a:t>
            </a:r>
            <a:r>
              <a:rPr sz="2800" spc="100" dirty="0">
                <a:latin typeface="Tahoma"/>
                <a:cs typeface="Tahoma"/>
              </a:rPr>
              <a:t>SOTA</a:t>
            </a:r>
            <a:r>
              <a:rPr sz="2800" spc="-105" dirty="0">
                <a:latin typeface="Tahoma"/>
                <a:cs typeface="Tahoma"/>
              </a:rPr>
              <a:t> </a:t>
            </a:r>
            <a:r>
              <a:rPr sz="2800" dirty="0">
                <a:latin typeface="Tahoma"/>
                <a:cs typeface="Tahoma"/>
              </a:rPr>
              <a:t>cho</a:t>
            </a:r>
            <a:r>
              <a:rPr sz="2800" spc="-95" dirty="0">
                <a:latin typeface="Tahoma"/>
                <a:cs typeface="Tahoma"/>
              </a:rPr>
              <a:t> </a:t>
            </a:r>
            <a:r>
              <a:rPr sz="2800" dirty="0">
                <a:latin typeface="Tahoma"/>
                <a:cs typeface="Tahoma"/>
              </a:rPr>
              <a:t>lĩnh</a:t>
            </a:r>
            <a:r>
              <a:rPr sz="2800" spc="-105" dirty="0">
                <a:latin typeface="Tahoma"/>
                <a:cs typeface="Tahoma"/>
              </a:rPr>
              <a:t> </a:t>
            </a:r>
            <a:r>
              <a:rPr sz="2800" dirty="0">
                <a:latin typeface="Tahoma"/>
                <a:cs typeface="Tahoma"/>
              </a:rPr>
              <a:t>vực</a:t>
            </a:r>
            <a:r>
              <a:rPr sz="2800" spc="-90" dirty="0">
                <a:latin typeface="Tahoma"/>
                <a:cs typeface="Tahoma"/>
              </a:rPr>
              <a:t> </a:t>
            </a:r>
            <a:r>
              <a:rPr sz="2800" spc="-10" dirty="0">
                <a:latin typeface="Tahoma"/>
                <a:cs typeface="Tahoma"/>
              </a:rPr>
              <a:t>Semantic</a:t>
            </a:r>
            <a:r>
              <a:rPr sz="2800" spc="-125" dirty="0">
                <a:latin typeface="Tahoma"/>
                <a:cs typeface="Tahoma"/>
              </a:rPr>
              <a:t> </a:t>
            </a:r>
            <a:r>
              <a:rPr sz="2800" spc="-10" dirty="0">
                <a:latin typeface="Tahoma"/>
                <a:cs typeface="Tahoma"/>
              </a:rPr>
              <a:t>Segmantion</a:t>
            </a:r>
            <a:endParaRPr sz="2800" dirty="0">
              <a:latin typeface="Tahoma"/>
              <a:cs typeface="Tahoma"/>
            </a:endParaRPr>
          </a:p>
          <a:p>
            <a:pPr marL="241300">
              <a:lnSpc>
                <a:spcPts val="3190"/>
              </a:lnSpc>
            </a:pPr>
            <a:r>
              <a:rPr sz="2800" dirty="0">
                <a:latin typeface="Tahoma"/>
                <a:cs typeface="Tahoma"/>
              </a:rPr>
              <a:t>hiện</a:t>
            </a:r>
            <a:r>
              <a:rPr sz="2800" spc="-145" dirty="0">
                <a:latin typeface="Tahoma"/>
                <a:cs typeface="Tahoma"/>
              </a:rPr>
              <a:t> </a:t>
            </a:r>
            <a:r>
              <a:rPr sz="2800" dirty="0">
                <a:latin typeface="Tahoma"/>
                <a:cs typeface="Tahoma"/>
              </a:rPr>
              <a:t>tại</a:t>
            </a:r>
            <a:r>
              <a:rPr sz="2800" spc="-150" dirty="0">
                <a:latin typeface="Tahoma"/>
                <a:cs typeface="Tahoma"/>
              </a:rPr>
              <a:t> </a:t>
            </a:r>
            <a:r>
              <a:rPr sz="2800" spc="60" dirty="0">
                <a:latin typeface="Tahoma"/>
                <a:cs typeface="Tahoma"/>
              </a:rPr>
              <a:t>với</a:t>
            </a:r>
            <a:r>
              <a:rPr sz="2800" spc="-145" dirty="0">
                <a:latin typeface="Tahoma"/>
                <a:cs typeface="Tahoma"/>
              </a:rPr>
              <a:t> </a:t>
            </a:r>
            <a:r>
              <a:rPr sz="2800" spc="80" dirty="0">
                <a:latin typeface="Tahoma"/>
                <a:cs typeface="Tahoma"/>
              </a:rPr>
              <a:t>Mean</a:t>
            </a:r>
            <a:r>
              <a:rPr sz="2800" spc="-145" dirty="0">
                <a:latin typeface="Tahoma"/>
                <a:cs typeface="Tahoma"/>
              </a:rPr>
              <a:t> </a:t>
            </a:r>
            <a:r>
              <a:rPr sz="2800" dirty="0">
                <a:latin typeface="Tahoma"/>
                <a:cs typeface="Tahoma"/>
              </a:rPr>
              <a:t>IoU</a:t>
            </a:r>
            <a:r>
              <a:rPr sz="2800" spc="-145" dirty="0">
                <a:latin typeface="Tahoma"/>
                <a:cs typeface="Tahoma"/>
              </a:rPr>
              <a:t> </a:t>
            </a:r>
            <a:r>
              <a:rPr sz="2800" dirty="0">
                <a:latin typeface="Tahoma"/>
                <a:cs typeface="Tahoma"/>
              </a:rPr>
              <a:t>trên</a:t>
            </a:r>
            <a:r>
              <a:rPr sz="2800" spc="-150" dirty="0">
                <a:latin typeface="Tahoma"/>
                <a:cs typeface="Tahoma"/>
              </a:rPr>
              <a:t> </a:t>
            </a:r>
            <a:r>
              <a:rPr sz="2800" spc="114" dirty="0">
                <a:latin typeface="Tahoma"/>
                <a:cs typeface="Tahoma"/>
              </a:rPr>
              <a:t>PASCAL</a:t>
            </a:r>
            <a:r>
              <a:rPr sz="2800" spc="-110" dirty="0">
                <a:latin typeface="Tahoma"/>
                <a:cs typeface="Tahoma"/>
              </a:rPr>
              <a:t> </a:t>
            </a:r>
            <a:r>
              <a:rPr sz="2800" spc="215" dirty="0">
                <a:latin typeface="Tahoma"/>
                <a:cs typeface="Tahoma"/>
              </a:rPr>
              <a:t>VOC</a:t>
            </a:r>
            <a:r>
              <a:rPr sz="2800" spc="-150" dirty="0">
                <a:latin typeface="Tahoma"/>
                <a:cs typeface="Tahoma"/>
              </a:rPr>
              <a:t> </a:t>
            </a:r>
            <a:r>
              <a:rPr sz="2800" spc="90" dirty="0">
                <a:latin typeface="Tahoma"/>
                <a:cs typeface="Tahoma"/>
              </a:rPr>
              <a:t>2012</a:t>
            </a:r>
            <a:r>
              <a:rPr sz="2800" spc="-130" dirty="0">
                <a:latin typeface="Tahoma"/>
                <a:cs typeface="Tahoma"/>
              </a:rPr>
              <a:t> </a:t>
            </a:r>
            <a:r>
              <a:rPr sz="2800" dirty="0">
                <a:latin typeface="Tahoma"/>
                <a:cs typeface="Tahoma"/>
              </a:rPr>
              <a:t>test</a:t>
            </a:r>
            <a:r>
              <a:rPr sz="2800" spc="-185" dirty="0">
                <a:latin typeface="Tahoma"/>
                <a:cs typeface="Tahoma"/>
              </a:rPr>
              <a:t> </a:t>
            </a:r>
            <a:r>
              <a:rPr sz="2800" spc="-10" dirty="0">
                <a:latin typeface="Tahoma"/>
                <a:cs typeface="Tahoma"/>
              </a:rPr>
              <a:t>là</a:t>
            </a:r>
            <a:r>
              <a:rPr sz="2800" spc="-155" dirty="0">
                <a:latin typeface="Tahoma"/>
                <a:cs typeface="Tahoma"/>
              </a:rPr>
              <a:t> </a:t>
            </a:r>
            <a:r>
              <a:rPr sz="2800" spc="-25" dirty="0">
                <a:latin typeface="Tahoma"/>
                <a:cs typeface="Tahoma"/>
              </a:rPr>
              <a:t>89%</a:t>
            </a:r>
            <a:endParaRPr sz="2800" dirty="0">
              <a:latin typeface="Tahoma"/>
              <a:cs typeface="Tahoma"/>
            </a:endParaRPr>
          </a:p>
          <a:p>
            <a:pPr>
              <a:lnSpc>
                <a:spcPct val="100000"/>
              </a:lnSpc>
              <a:spcBef>
                <a:spcPts val="1305"/>
              </a:spcBef>
            </a:pPr>
            <a:endParaRPr sz="2800" dirty="0">
              <a:latin typeface="Tahoma"/>
              <a:cs typeface="Tahoma"/>
            </a:endParaRPr>
          </a:p>
          <a:p>
            <a:pPr marL="240029" indent="-227329">
              <a:lnSpc>
                <a:spcPct val="100000"/>
              </a:lnSpc>
              <a:buFont typeface="Arial"/>
              <a:buChar char="•"/>
              <a:tabLst>
                <a:tab pos="240029" algn="l"/>
              </a:tabLst>
            </a:pPr>
            <a:r>
              <a:rPr sz="2800" spc="-40" dirty="0">
                <a:latin typeface="Tahoma"/>
                <a:cs typeface="Tahoma"/>
              </a:rPr>
              <a:t>Instance</a:t>
            </a:r>
            <a:r>
              <a:rPr sz="2800" spc="-125" dirty="0">
                <a:latin typeface="Tahoma"/>
                <a:cs typeface="Tahoma"/>
              </a:rPr>
              <a:t> </a:t>
            </a:r>
            <a:r>
              <a:rPr sz="2800" spc="-20" dirty="0">
                <a:latin typeface="Tahoma"/>
                <a:cs typeface="Tahoma"/>
              </a:rPr>
              <a:t>Segmentation</a:t>
            </a:r>
            <a:r>
              <a:rPr sz="2800" spc="-125" dirty="0">
                <a:latin typeface="Tahoma"/>
                <a:cs typeface="Tahoma"/>
              </a:rPr>
              <a:t> </a:t>
            </a:r>
            <a:r>
              <a:rPr sz="2800" spc="-430" dirty="0">
                <a:latin typeface="Tahoma"/>
                <a:cs typeface="Tahoma"/>
              </a:rPr>
              <a:t>=</a:t>
            </a:r>
            <a:r>
              <a:rPr sz="2800" spc="-140" dirty="0">
                <a:latin typeface="Tahoma"/>
                <a:cs typeface="Tahoma"/>
              </a:rPr>
              <a:t> </a:t>
            </a:r>
            <a:r>
              <a:rPr sz="2800" dirty="0">
                <a:latin typeface="Tahoma"/>
                <a:cs typeface="Tahoma"/>
              </a:rPr>
              <a:t>Object</a:t>
            </a:r>
            <a:r>
              <a:rPr sz="2800" spc="-125" dirty="0">
                <a:latin typeface="Tahoma"/>
                <a:cs typeface="Tahoma"/>
              </a:rPr>
              <a:t> </a:t>
            </a:r>
            <a:r>
              <a:rPr sz="2800" spc="50" dirty="0">
                <a:latin typeface="Tahoma"/>
                <a:cs typeface="Tahoma"/>
              </a:rPr>
              <a:t>Detection</a:t>
            </a:r>
            <a:r>
              <a:rPr sz="2800" spc="-140" dirty="0">
                <a:latin typeface="Tahoma"/>
                <a:cs typeface="Tahoma"/>
              </a:rPr>
              <a:t> </a:t>
            </a:r>
            <a:r>
              <a:rPr sz="2800" spc="-430" dirty="0">
                <a:latin typeface="Tahoma"/>
                <a:cs typeface="Tahoma"/>
              </a:rPr>
              <a:t>+</a:t>
            </a:r>
            <a:r>
              <a:rPr sz="2800" spc="-120" dirty="0">
                <a:latin typeface="Tahoma"/>
                <a:cs typeface="Tahoma"/>
              </a:rPr>
              <a:t> </a:t>
            </a:r>
            <a:r>
              <a:rPr sz="2800" spc="-10" dirty="0">
                <a:latin typeface="Tahoma"/>
                <a:cs typeface="Tahoma"/>
              </a:rPr>
              <a:t>Semantic</a:t>
            </a:r>
            <a:r>
              <a:rPr sz="2800" spc="-125" dirty="0">
                <a:latin typeface="Tahoma"/>
                <a:cs typeface="Tahoma"/>
              </a:rPr>
              <a:t> </a:t>
            </a:r>
            <a:r>
              <a:rPr sz="2800" spc="-10" dirty="0">
                <a:latin typeface="Tahoma"/>
                <a:cs typeface="Tahoma"/>
              </a:rPr>
              <a:t>Segmentation</a:t>
            </a:r>
            <a:endParaRPr sz="2800" dirty="0">
              <a:latin typeface="Tahoma"/>
              <a:cs typeface="Tahoma"/>
            </a:endParaRPr>
          </a:p>
          <a:p>
            <a:pPr marL="240029" marR="5080" indent="-227329">
              <a:lnSpc>
                <a:spcPts val="3020"/>
              </a:lnSpc>
              <a:spcBef>
                <a:spcPts val="1055"/>
              </a:spcBef>
              <a:buFont typeface="Arial"/>
              <a:buChar char="•"/>
              <a:tabLst>
                <a:tab pos="241300" algn="l"/>
              </a:tabLst>
            </a:pPr>
            <a:r>
              <a:rPr sz="2800" dirty="0">
                <a:latin typeface="Tahoma"/>
                <a:cs typeface="Tahoma"/>
              </a:rPr>
              <a:t>Phương</a:t>
            </a:r>
            <a:r>
              <a:rPr sz="2800" spc="-130" dirty="0">
                <a:latin typeface="Tahoma"/>
                <a:cs typeface="Tahoma"/>
              </a:rPr>
              <a:t> </a:t>
            </a:r>
            <a:r>
              <a:rPr sz="2800" dirty="0">
                <a:latin typeface="Tahoma"/>
                <a:cs typeface="Tahoma"/>
              </a:rPr>
              <a:t>pháp</a:t>
            </a:r>
            <a:r>
              <a:rPr sz="2800" spc="-125" dirty="0">
                <a:latin typeface="Tahoma"/>
                <a:cs typeface="Tahoma"/>
              </a:rPr>
              <a:t> </a:t>
            </a:r>
            <a:r>
              <a:rPr sz="2800" dirty="0">
                <a:latin typeface="Tahoma"/>
                <a:cs typeface="Tahoma"/>
              </a:rPr>
              <a:t>được</a:t>
            </a:r>
            <a:r>
              <a:rPr sz="2800" spc="-140" dirty="0">
                <a:latin typeface="Tahoma"/>
                <a:cs typeface="Tahoma"/>
              </a:rPr>
              <a:t> </a:t>
            </a:r>
            <a:r>
              <a:rPr sz="2800" dirty="0">
                <a:latin typeface="Tahoma"/>
                <a:cs typeface="Tahoma"/>
              </a:rPr>
              <a:t>biết</a:t>
            </a:r>
            <a:r>
              <a:rPr sz="2800" spc="-155" dirty="0">
                <a:latin typeface="Tahoma"/>
                <a:cs typeface="Tahoma"/>
              </a:rPr>
              <a:t> </a:t>
            </a:r>
            <a:r>
              <a:rPr sz="2800" dirty="0">
                <a:latin typeface="Tahoma"/>
                <a:cs typeface="Tahoma"/>
              </a:rPr>
              <a:t>đến</a:t>
            </a:r>
            <a:r>
              <a:rPr sz="2800" spc="-125" dirty="0">
                <a:latin typeface="Tahoma"/>
                <a:cs typeface="Tahoma"/>
              </a:rPr>
              <a:t> </a:t>
            </a:r>
            <a:r>
              <a:rPr sz="2800" dirty="0">
                <a:latin typeface="Tahoma"/>
                <a:cs typeface="Tahoma"/>
              </a:rPr>
              <a:t>rộng</a:t>
            </a:r>
            <a:r>
              <a:rPr sz="2800" spc="-140" dirty="0">
                <a:latin typeface="Tahoma"/>
                <a:cs typeface="Tahoma"/>
              </a:rPr>
              <a:t> </a:t>
            </a:r>
            <a:r>
              <a:rPr sz="2800" dirty="0">
                <a:latin typeface="Tahoma"/>
                <a:cs typeface="Tahoma"/>
              </a:rPr>
              <a:t>rãi</a:t>
            </a:r>
            <a:r>
              <a:rPr sz="2800" spc="-135" dirty="0">
                <a:latin typeface="Tahoma"/>
                <a:cs typeface="Tahoma"/>
              </a:rPr>
              <a:t> </a:t>
            </a:r>
            <a:r>
              <a:rPr sz="2800" spc="-10" dirty="0">
                <a:latin typeface="Tahoma"/>
                <a:cs typeface="Tahoma"/>
              </a:rPr>
              <a:t>nhất</a:t>
            </a:r>
            <a:r>
              <a:rPr sz="2800" spc="-140" dirty="0">
                <a:latin typeface="Tahoma"/>
                <a:cs typeface="Tahoma"/>
              </a:rPr>
              <a:t> </a:t>
            </a:r>
            <a:r>
              <a:rPr sz="2800" dirty="0">
                <a:latin typeface="Tahoma"/>
                <a:cs typeface="Tahoma"/>
              </a:rPr>
              <a:t>của</a:t>
            </a:r>
            <a:r>
              <a:rPr sz="2800" spc="-145" dirty="0">
                <a:latin typeface="Tahoma"/>
                <a:cs typeface="Tahoma"/>
              </a:rPr>
              <a:t> </a:t>
            </a:r>
            <a:r>
              <a:rPr sz="2800" spc="-40" dirty="0">
                <a:latin typeface="Tahoma"/>
                <a:cs typeface="Tahoma"/>
              </a:rPr>
              <a:t>Instance</a:t>
            </a:r>
            <a:r>
              <a:rPr sz="2800" spc="-140" dirty="0">
                <a:latin typeface="Tahoma"/>
                <a:cs typeface="Tahoma"/>
              </a:rPr>
              <a:t> </a:t>
            </a:r>
            <a:r>
              <a:rPr sz="2800" spc="-20" dirty="0">
                <a:latin typeface="Tahoma"/>
                <a:cs typeface="Tahoma"/>
              </a:rPr>
              <a:t>Segmentation</a:t>
            </a:r>
            <a:r>
              <a:rPr sz="2800" spc="-145" dirty="0">
                <a:latin typeface="Tahoma"/>
                <a:cs typeface="Tahoma"/>
              </a:rPr>
              <a:t> </a:t>
            </a:r>
            <a:r>
              <a:rPr sz="2800" spc="-25" dirty="0">
                <a:latin typeface="Tahoma"/>
                <a:cs typeface="Tahoma"/>
              </a:rPr>
              <a:t>là 	</a:t>
            </a:r>
            <a:r>
              <a:rPr sz="2800" spc="75" dirty="0">
                <a:latin typeface="Tahoma"/>
                <a:cs typeface="Tahoma"/>
              </a:rPr>
              <a:t>Mask</a:t>
            </a:r>
            <a:r>
              <a:rPr sz="2800" spc="-165" dirty="0">
                <a:latin typeface="Tahoma"/>
                <a:cs typeface="Tahoma"/>
              </a:rPr>
              <a:t> </a:t>
            </a:r>
            <a:r>
              <a:rPr sz="2800" dirty="0">
                <a:latin typeface="Tahoma"/>
                <a:cs typeface="Tahoma"/>
              </a:rPr>
              <a:t>R-</a:t>
            </a:r>
            <a:r>
              <a:rPr sz="2800" spc="215" dirty="0">
                <a:latin typeface="Tahoma"/>
                <a:cs typeface="Tahoma"/>
              </a:rPr>
              <a:t>CNN</a:t>
            </a:r>
            <a:r>
              <a:rPr sz="2800" spc="-160" dirty="0">
                <a:latin typeface="Tahoma"/>
                <a:cs typeface="Tahoma"/>
              </a:rPr>
              <a:t> </a:t>
            </a:r>
            <a:r>
              <a:rPr sz="2800" dirty="0">
                <a:latin typeface="Tahoma"/>
                <a:cs typeface="Tahoma"/>
              </a:rPr>
              <a:t>(mAP</a:t>
            </a:r>
            <a:r>
              <a:rPr sz="2800" spc="-160" dirty="0">
                <a:latin typeface="Tahoma"/>
                <a:cs typeface="Tahoma"/>
              </a:rPr>
              <a:t> </a:t>
            </a:r>
            <a:r>
              <a:rPr sz="2800" spc="220" dirty="0">
                <a:latin typeface="Tahoma"/>
                <a:cs typeface="Tahoma"/>
              </a:rPr>
              <a:t>COCO</a:t>
            </a:r>
            <a:r>
              <a:rPr sz="2800" spc="-155" dirty="0">
                <a:latin typeface="Tahoma"/>
                <a:cs typeface="Tahoma"/>
              </a:rPr>
              <a:t> </a:t>
            </a:r>
            <a:r>
              <a:rPr sz="2800" spc="-430" dirty="0">
                <a:latin typeface="Tahoma"/>
                <a:cs typeface="Tahoma"/>
              </a:rPr>
              <a:t>=</a:t>
            </a:r>
            <a:r>
              <a:rPr sz="2800" spc="-170" dirty="0">
                <a:latin typeface="Tahoma"/>
                <a:cs typeface="Tahoma"/>
              </a:rPr>
              <a:t> </a:t>
            </a:r>
            <a:r>
              <a:rPr sz="2800" spc="-10" dirty="0">
                <a:latin typeface="Tahoma"/>
                <a:cs typeface="Tahoma"/>
              </a:rPr>
              <a:t>46.1)</a:t>
            </a:r>
            <a:endParaRPr sz="2800" dirty="0">
              <a:latin typeface="Tahoma"/>
              <a:cs typeface="Tahoma"/>
            </a:endParaRPr>
          </a:p>
          <a:p>
            <a:pPr marL="240029" marR="2129790" indent="-227329">
              <a:lnSpc>
                <a:spcPts val="3020"/>
              </a:lnSpc>
              <a:spcBef>
                <a:spcPts val="1005"/>
              </a:spcBef>
              <a:buFont typeface="Arial"/>
              <a:buChar char="•"/>
              <a:tabLst>
                <a:tab pos="241300" algn="l"/>
              </a:tabLst>
            </a:pPr>
            <a:r>
              <a:rPr sz="2800" b="1" spc="-130" dirty="0">
                <a:latin typeface="Tahoma"/>
                <a:cs typeface="Tahoma"/>
              </a:rPr>
              <a:t>Code</a:t>
            </a:r>
            <a:r>
              <a:rPr sz="2800" b="1" spc="-114" dirty="0">
                <a:latin typeface="Tahoma"/>
                <a:cs typeface="Tahoma"/>
              </a:rPr>
              <a:t> </a:t>
            </a:r>
            <a:r>
              <a:rPr sz="2800" b="1" spc="-130" dirty="0">
                <a:latin typeface="Tahoma"/>
                <a:cs typeface="Tahoma"/>
              </a:rPr>
              <a:t>for</a:t>
            </a:r>
            <a:r>
              <a:rPr sz="2800" b="1" spc="-105" dirty="0">
                <a:latin typeface="Tahoma"/>
                <a:cs typeface="Tahoma"/>
              </a:rPr>
              <a:t> </a:t>
            </a:r>
            <a:r>
              <a:rPr sz="2800" b="1" spc="-254" dirty="0">
                <a:latin typeface="Tahoma"/>
                <a:cs typeface="Tahoma"/>
              </a:rPr>
              <a:t>image</a:t>
            </a:r>
            <a:r>
              <a:rPr sz="2800" b="1" spc="-95" dirty="0">
                <a:latin typeface="Tahoma"/>
                <a:cs typeface="Tahoma"/>
              </a:rPr>
              <a:t> </a:t>
            </a:r>
            <a:r>
              <a:rPr sz="2800" b="1" spc="-210" dirty="0">
                <a:latin typeface="Tahoma"/>
                <a:cs typeface="Tahoma"/>
              </a:rPr>
              <a:t>segmentation</a:t>
            </a:r>
            <a:r>
              <a:rPr sz="2800" b="1" spc="-60" dirty="0">
                <a:latin typeface="Tahoma"/>
                <a:cs typeface="Tahoma"/>
              </a:rPr>
              <a:t> </a:t>
            </a:r>
            <a:r>
              <a:rPr sz="2800" spc="-300" dirty="0">
                <a:latin typeface="Tahoma"/>
                <a:cs typeface="Tahoma"/>
              </a:rPr>
              <a:t>:</a:t>
            </a:r>
            <a:r>
              <a:rPr sz="2800" spc="-145" dirty="0">
                <a:latin typeface="Tahoma"/>
                <a:cs typeface="Tahoma"/>
              </a:rPr>
              <a:t> </a:t>
            </a:r>
            <a:r>
              <a:rPr sz="2800" spc="-10" dirty="0">
                <a:latin typeface="Tahoma"/>
                <a:cs typeface="Tahoma"/>
              </a:rPr>
              <a:t>https://github.com/open- 	mmlab/mmdetection</a:t>
            </a:r>
            <a:endParaRPr sz="2800" dirty="0">
              <a:latin typeface="Tahoma"/>
              <a:cs typeface="Tahom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6458" y="98552"/>
            <a:ext cx="11050905" cy="4816062"/>
          </a:xfrm>
          <a:prstGeom prst="rect">
            <a:avLst/>
          </a:prstGeom>
        </p:spPr>
        <p:txBody>
          <a:bodyPr vert="horz" wrap="square" lIns="0" tIns="12065" rIns="0" bIns="0" rtlCol="0">
            <a:spAutoFit/>
          </a:bodyPr>
          <a:lstStyle/>
          <a:p>
            <a:pPr marL="13335">
              <a:lnSpc>
                <a:spcPct val="100000"/>
              </a:lnSpc>
              <a:spcBef>
                <a:spcPts val="95"/>
              </a:spcBef>
            </a:pPr>
            <a:r>
              <a:rPr lang="en-US" sz="2800" b="1" spc="-160" dirty="0">
                <a:solidFill>
                  <a:srgbClr val="FFFFFF"/>
                </a:solidFill>
                <a:latin typeface="Tahoma"/>
                <a:cs typeface="Tahoma"/>
              </a:rPr>
              <a:t>Application of image segmentation</a:t>
            </a:r>
            <a:endParaRPr sz="2800" dirty="0">
              <a:latin typeface="Tahoma"/>
              <a:cs typeface="Tahoma"/>
            </a:endParaRPr>
          </a:p>
          <a:p>
            <a:pPr>
              <a:lnSpc>
                <a:spcPct val="100000"/>
              </a:lnSpc>
              <a:spcBef>
                <a:spcPts val="500"/>
              </a:spcBef>
            </a:pPr>
            <a:endParaRPr sz="2800" dirty="0">
              <a:latin typeface="Tahoma"/>
              <a:cs typeface="Tahoma"/>
            </a:endParaRPr>
          </a:p>
          <a:p>
            <a:pPr marL="240029" indent="-227329">
              <a:lnSpc>
                <a:spcPct val="100000"/>
              </a:lnSpc>
              <a:spcBef>
                <a:spcPts val="5"/>
              </a:spcBef>
              <a:buFont typeface="Arial"/>
              <a:buChar char="•"/>
              <a:tabLst>
                <a:tab pos="240029" algn="l"/>
              </a:tabLst>
            </a:pPr>
            <a:r>
              <a:rPr lang="en-US" sz="2800" dirty="0">
                <a:latin typeface="Tahoma"/>
                <a:cs typeface="Tahoma"/>
              </a:rPr>
              <a:t>Content-based image retrieval</a:t>
            </a:r>
          </a:p>
          <a:p>
            <a:pPr marL="240029" indent="-227329">
              <a:lnSpc>
                <a:spcPct val="100000"/>
              </a:lnSpc>
              <a:spcBef>
                <a:spcPts val="5"/>
              </a:spcBef>
              <a:buFont typeface="Arial"/>
              <a:buChar char="•"/>
              <a:tabLst>
                <a:tab pos="240029" algn="l"/>
              </a:tabLst>
            </a:pPr>
            <a:r>
              <a:rPr lang="en-US" sz="2800" dirty="0">
                <a:latin typeface="Tahoma"/>
                <a:cs typeface="Tahoma"/>
              </a:rPr>
              <a:t>Machine vision</a:t>
            </a:r>
          </a:p>
          <a:p>
            <a:pPr marL="240029" indent="-227329">
              <a:lnSpc>
                <a:spcPct val="100000"/>
              </a:lnSpc>
              <a:spcBef>
                <a:spcPts val="5"/>
              </a:spcBef>
              <a:buFont typeface="Arial"/>
              <a:buChar char="•"/>
              <a:tabLst>
                <a:tab pos="240029" algn="l"/>
              </a:tabLst>
            </a:pPr>
            <a:r>
              <a:rPr lang="en-US" sz="2800" dirty="0">
                <a:latin typeface="Tahoma"/>
                <a:cs typeface="Tahoma"/>
              </a:rPr>
              <a:t>Medical imaging (wide range of applications)</a:t>
            </a:r>
          </a:p>
          <a:p>
            <a:pPr marL="240029" indent="-227329">
              <a:lnSpc>
                <a:spcPct val="100000"/>
              </a:lnSpc>
              <a:spcBef>
                <a:spcPts val="5"/>
              </a:spcBef>
              <a:buFont typeface="Arial"/>
              <a:buChar char="•"/>
              <a:tabLst>
                <a:tab pos="240029" algn="l"/>
              </a:tabLst>
            </a:pPr>
            <a:r>
              <a:rPr lang="en-US" sz="2800" dirty="0">
                <a:latin typeface="Tahoma"/>
                <a:cs typeface="Tahoma"/>
              </a:rPr>
              <a:t>Object detection</a:t>
            </a:r>
          </a:p>
          <a:p>
            <a:pPr marL="240029" indent="-227329">
              <a:lnSpc>
                <a:spcPct val="100000"/>
              </a:lnSpc>
              <a:spcBef>
                <a:spcPts val="5"/>
              </a:spcBef>
              <a:buFont typeface="Arial"/>
              <a:buChar char="•"/>
              <a:tabLst>
                <a:tab pos="240029" algn="l"/>
              </a:tabLst>
            </a:pPr>
            <a:r>
              <a:rPr lang="en-US" sz="2800" dirty="0">
                <a:latin typeface="Tahoma"/>
                <a:cs typeface="Tahoma"/>
              </a:rPr>
              <a:t>Recognition tasks</a:t>
            </a:r>
          </a:p>
          <a:p>
            <a:pPr marL="240029" indent="-227329">
              <a:lnSpc>
                <a:spcPct val="100000"/>
              </a:lnSpc>
              <a:spcBef>
                <a:spcPts val="5"/>
              </a:spcBef>
              <a:buFont typeface="Arial"/>
              <a:buChar char="•"/>
              <a:tabLst>
                <a:tab pos="240029" algn="l"/>
              </a:tabLst>
            </a:pPr>
            <a:r>
              <a:rPr lang="en-US" sz="2800" dirty="0">
                <a:latin typeface="Tahoma"/>
                <a:cs typeface="Tahoma"/>
              </a:rPr>
              <a:t>Autonomous driving systems for autonomous vehicles</a:t>
            </a:r>
          </a:p>
          <a:p>
            <a:pPr marL="240029" indent="-227329">
              <a:lnSpc>
                <a:spcPct val="100000"/>
              </a:lnSpc>
              <a:spcBef>
                <a:spcPts val="5"/>
              </a:spcBef>
              <a:buFont typeface="Arial"/>
              <a:buChar char="•"/>
              <a:tabLst>
                <a:tab pos="240029" algn="l"/>
              </a:tabLst>
            </a:pPr>
            <a:r>
              <a:rPr lang="en-US" sz="2800" dirty="0">
                <a:latin typeface="Tahoma"/>
                <a:cs typeface="Tahoma"/>
              </a:rPr>
              <a:t>Security surveillance</a:t>
            </a:r>
          </a:p>
          <a:p>
            <a:pPr marL="240029" indent="-227329">
              <a:lnSpc>
                <a:spcPct val="100000"/>
              </a:lnSpc>
              <a:spcBef>
                <a:spcPts val="5"/>
              </a:spcBef>
              <a:buFont typeface="Arial"/>
              <a:buChar char="•"/>
              <a:tabLst>
                <a:tab pos="240029" algn="l"/>
              </a:tabLst>
            </a:pPr>
            <a:r>
              <a:rPr lang="en-US" sz="2800" dirty="0">
                <a:latin typeface="Tahoma"/>
                <a:cs typeface="Tahoma"/>
              </a:rPr>
              <a:t>Agriculture</a:t>
            </a:r>
          </a:p>
          <a:p>
            <a:pPr marL="240029" indent="-227329">
              <a:lnSpc>
                <a:spcPct val="100000"/>
              </a:lnSpc>
              <a:spcBef>
                <a:spcPts val="5"/>
              </a:spcBef>
              <a:buFont typeface="Arial"/>
              <a:buChar char="•"/>
              <a:tabLst>
                <a:tab pos="240029" algn="l"/>
              </a:tabLst>
            </a:pPr>
            <a:r>
              <a:rPr lang="en-US" sz="2800" dirty="0">
                <a:latin typeface="Tahoma"/>
                <a:cs typeface="Tahoma"/>
              </a:rPr>
              <a:t>Satellite image processing</a:t>
            </a:r>
            <a:endParaRPr sz="2800" dirty="0">
              <a:latin typeface="Tahoma"/>
              <a:cs typeface="Tahoma"/>
            </a:endParaRPr>
          </a:p>
        </p:txBody>
      </p:sp>
      <p:sp>
        <p:nvSpPr>
          <p:cNvPr id="3" name="object 3"/>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55</a:t>
            </a:fld>
            <a:endParaRPr spc="-2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677" y="98552"/>
            <a:ext cx="7399655" cy="452120"/>
          </a:xfrm>
          <a:prstGeom prst="rect">
            <a:avLst/>
          </a:prstGeom>
        </p:spPr>
        <p:txBody>
          <a:bodyPr vert="horz" wrap="square" lIns="0" tIns="12065" rIns="0" bIns="0" rtlCol="0">
            <a:spAutoFit/>
          </a:bodyPr>
          <a:lstStyle/>
          <a:p>
            <a:pPr marL="13335">
              <a:lnSpc>
                <a:spcPct val="100000"/>
              </a:lnSpc>
              <a:spcBef>
                <a:spcPts val="95"/>
              </a:spcBef>
            </a:pPr>
            <a:r>
              <a:rPr lang="en-US" sz="2800" b="1" spc="-160" dirty="0">
                <a:solidFill>
                  <a:srgbClr val="FFFFFF"/>
                </a:solidFill>
                <a:latin typeface="Tahoma"/>
                <a:cs typeface="Tahoma"/>
              </a:rPr>
              <a:t>Application of image segmentation</a:t>
            </a:r>
            <a:endParaRPr lang="en-US" sz="2800" dirty="0">
              <a:latin typeface="Tahoma"/>
              <a:cs typeface="Tahoma"/>
            </a:endParaRPr>
          </a:p>
        </p:txBody>
      </p:sp>
      <p:pic>
        <p:nvPicPr>
          <p:cNvPr id="3" name="object 3"/>
          <p:cNvPicPr/>
          <p:nvPr/>
        </p:nvPicPr>
        <p:blipFill>
          <a:blip r:embed="rId2" cstate="print"/>
          <a:stretch>
            <a:fillRect/>
          </a:stretch>
        </p:blipFill>
        <p:spPr>
          <a:xfrm>
            <a:off x="1964435" y="1028710"/>
            <a:ext cx="8433816" cy="5372089"/>
          </a:xfrm>
          <a:prstGeom prst="rect">
            <a:avLst/>
          </a:prstGeom>
        </p:spPr>
      </p:pic>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56</a:t>
            </a:fld>
            <a:endParaRPr spc="-2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677" y="98552"/>
            <a:ext cx="7399655" cy="452120"/>
          </a:xfrm>
          <a:prstGeom prst="rect">
            <a:avLst/>
          </a:prstGeom>
        </p:spPr>
        <p:txBody>
          <a:bodyPr vert="horz" wrap="square" lIns="0" tIns="12065" rIns="0" bIns="0" rtlCol="0">
            <a:spAutoFit/>
          </a:bodyPr>
          <a:lstStyle/>
          <a:p>
            <a:pPr marL="13335">
              <a:lnSpc>
                <a:spcPct val="100000"/>
              </a:lnSpc>
              <a:spcBef>
                <a:spcPts val="95"/>
              </a:spcBef>
            </a:pPr>
            <a:r>
              <a:rPr lang="en-US" sz="2800" b="1" spc="-160" dirty="0">
                <a:solidFill>
                  <a:srgbClr val="FFFFFF"/>
                </a:solidFill>
                <a:latin typeface="Tahoma"/>
                <a:cs typeface="Tahoma"/>
              </a:rPr>
              <a:t>Application of image segmentation</a:t>
            </a:r>
            <a:endParaRPr lang="en-US" sz="2800" dirty="0">
              <a:latin typeface="Tahoma"/>
              <a:cs typeface="Tahoma"/>
            </a:endParaRPr>
          </a:p>
        </p:txBody>
      </p:sp>
      <p:sp>
        <p:nvSpPr>
          <p:cNvPr id="3" name="object 3"/>
          <p:cNvSpPr txBox="1"/>
          <p:nvPr/>
        </p:nvSpPr>
        <p:spPr>
          <a:xfrm>
            <a:off x="416458" y="1018108"/>
            <a:ext cx="7934959" cy="452120"/>
          </a:xfrm>
          <a:prstGeom prst="rect">
            <a:avLst/>
          </a:prstGeom>
        </p:spPr>
        <p:txBody>
          <a:bodyPr vert="horz" wrap="square" lIns="0" tIns="12065" rIns="0" bIns="0" rtlCol="0">
            <a:spAutoFit/>
          </a:bodyPr>
          <a:lstStyle/>
          <a:p>
            <a:pPr marL="240029" indent="-227329">
              <a:lnSpc>
                <a:spcPct val="100000"/>
              </a:lnSpc>
              <a:spcBef>
                <a:spcPts val="95"/>
              </a:spcBef>
              <a:buFont typeface="Arial"/>
              <a:buChar char="•"/>
              <a:tabLst>
                <a:tab pos="240029" algn="l"/>
              </a:tabLst>
            </a:pPr>
            <a:r>
              <a:rPr sz="2800" spc="114" dirty="0">
                <a:latin typeface="Tahoma"/>
                <a:cs typeface="Tahoma"/>
              </a:rPr>
              <a:t>Xử</a:t>
            </a:r>
            <a:r>
              <a:rPr sz="2800" spc="-135" dirty="0">
                <a:latin typeface="Tahoma"/>
                <a:cs typeface="Tahoma"/>
              </a:rPr>
              <a:t> </a:t>
            </a:r>
            <a:r>
              <a:rPr sz="2800" dirty="0">
                <a:latin typeface="Tahoma"/>
                <a:cs typeface="Tahoma"/>
              </a:rPr>
              <a:t>lý</a:t>
            </a:r>
            <a:r>
              <a:rPr sz="2800" spc="-114" dirty="0">
                <a:latin typeface="Tahoma"/>
                <a:cs typeface="Tahoma"/>
              </a:rPr>
              <a:t> </a:t>
            </a:r>
            <a:r>
              <a:rPr sz="2800" spc="-30" dirty="0">
                <a:latin typeface="Tahoma"/>
                <a:cs typeface="Tahoma"/>
              </a:rPr>
              <a:t>ảnh</a:t>
            </a:r>
            <a:r>
              <a:rPr sz="2800" spc="-135" dirty="0">
                <a:latin typeface="Tahoma"/>
                <a:cs typeface="Tahoma"/>
              </a:rPr>
              <a:t> </a:t>
            </a:r>
            <a:r>
              <a:rPr sz="2800" dirty="0">
                <a:latin typeface="Tahoma"/>
                <a:cs typeface="Tahoma"/>
              </a:rPr>
              <a:t>y</a:t>
            </a:r>
            <a:r>
              <a:rPr sz="2800" spc="-130" dirty="0">
                <a:latin typeface="Tahoma"/>
                <a:cs typeface="Tahoma"/>
              </a:rPr>
              <a:t> </a:t>
            </a:r>
            <a:r>
              <a:rPr sz="2800" dirty="0">
                <a:latin typeface="Tahoma"/>
                <a:cs typeface="Tahoma"/>
              </a:rPr>
              <a:t>tế</a:t>
            </a:r>
            <a:r>
              <a:rPr sz="2800" spc="-120" dirty="0">
                <a:latin typeface="Tahoma"/>
                <a:cs typeface="Tahoma"/>
              </a:rPr>
              <a:t> </a:t>
            </a:r>
            <a:r>
              <a:rPr sz="2800" dirty="0">
                <a:latin typeface="Tahoma"/>
                <a:cs typeface="Tahoma"/>
              </a:rPr>
              <a:t>(Medical</a:t>
            </a:r>
            <a:r>
              <a:rPr sz="2800" spc="-100" dirty="0">
                <a:latin typeface="Tahoma"/>
                <a:cs typeface="Tahoma"/>
              </a:rPr>
              <a:t> </a:t>
            </a:r>
            <a:r>
              <a:rPr sz="2800" spc="-90" dirty="0">
                <a:latin typeface="Tahoma"/>
                <a:cs typeface="Tahoma"/>
              </a:rPr>
              <a:t>imaging)</a:t>
            </a:r>
            <a:r>
              <a:rPr sz="2800" spc="-125" dirty="0">
                <a:latin typeface="Tahoma"/>
                <a:cs typeface="Tahoma"/>
              </a:rPr>
              <a:t> </a:t>
            </a:r>
            <a:r>
              <a:rPr sz="2800" spc="-105" dirty="0">
                <a:latin typeface="Tahoma"/>
                <a:cs typeface="Tahoma"/>
              </a:rPr>
              <a:t>(ứng</a:t>
            </a:r>
            <a:r>
              <a:rPr sz="2800" spc="-120" dirty="0">
                <a:latin typeface="Tahoma"/>
                <a:cs typeface="Tahoma"/>
              </a:rPr>
              <a:t> </a:t>
            </a:r>
            <a:r>
              <a:rPr sz="2800" spc="-40" dirty="0">
                <a:latin typeface="Tahoma"/>
                <a:cs typeface="Tahoma"/>
              </a:rPr>
              <a:t>dụng</a:t>
            </a:r>
            <a:r>
              <a:rPr sz="2800" spc="-135" dirty="0">
                <a:latin typeface="Tahoma"/>
                <a:cs typeface="Tahoma"/>
              </a:rPr>
              <a:t> </a:t>
            </a:r>
            <a:r>
              <a:rPr sz="2800" spc="-10" dirty="0">
                <a:latin typeface="Tahoma"/>
                <a:cs typeface="Tahoma"/>
              </a:rPr>
              <a:t>nhiều)</a:t>
            </a:r>
            <a:endParaRPr sz="2800">
              <a:latin typeface="Tahoma"/>
              <a:cs typeface="Tahoma"/>
            </a:endParaRPr>
          </a:p>
        </p:txBody>
      </p:sp>
      <p:pic>
        <p:nvPicPr>
          <p:cNvPr id="4" name="object 4"/>
          <p:cNvPicPr/>
          <p:nvPr/>
        </p:nvPicPr>
        <p:blipFill>
          <a:blip r:embed="rId2" cstate="print"/>
          <a:stretch>
            <a:fillRect/>
          </a:stretch>
        </p:blipFill>
        <p:spPr>
          <a:xfrm>
            <a:off x="1732788" y="1773935"/>
            <a:ext cx="9569196" cy="4293108"/>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57</a:t>
            </a:fld>
            <a:endParaRPr spc="-2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677" y="98552"/>
            <a:ext cx="7399655" cy="452120"/>
          </a:xfrm>
          <a:prstGeom prst="rect">
            <a:avLst/>
          </a:prstGeom>
        </p:spPr>
        <p:txBody>
          <a:bodyPr vert="horz" wrap="square" lIns="0" tIns="12065" rIns="0" bIns="0" rtlCol="0">
            <a:spAutoFit/>
          </a:bodyPr>
          <a:lstStyle/>
          <a:p>
            <a:pPr marL="13335">
              <a:lnSpc>
                <a:spcPct val="100000"/>
              </a:lnSpc>
              <a:spcBef>
                <a:spcPts val="95"/>
              </a:spcBef>
            </a:pPr>
            <a:r>
              <a:rPr lang="en-US" sz="2800" b="1" spc="-160" dirty="0">
                <a:solidFill>
                  <a:srgbClr val="FFFFFF"/>
                </a:solidFill>
                <a:latin typeface="Tahoma"/>
                <a:cs typeface="Tahoma"/>
              </a:rPr>
              <a:t>Application of image segmentation</a:t>
            </a:r>
            <a:endParaRPr lang="en-US" sz="2800" dirty="0">
              <a:latin typeface="Tahoma"/>
              <a:cs typeface="Tahoma"/>
            </a:endParaRPr>
          </a:p>
        </p:txBody>
      </p:sp>
      <p:sp>
        <p:nvSpPr>
          <p:cNvPr id="3" name="object 3"/>
          <p:cNvSpPr txBox="1"/>
          <p:nvPr/>
        </p:nvSpPr>
        <p:spPr>
          <a:xfrm>
            <a:off x="416458" y="1018108"/>
            <a:ext cx="6605270" cy="452120"/>
          </a:xfrm>
          <a:prstGeom prst="rect">
            <a:avLst/>
          </a:prstGeom>
        </p:spPr>
        <p:txBody>
          <a:bodyPr vert="horz" wrap="square" lIns="0" tIns="12065" rIns="0" bIns="0" rtlCol="0">
            <a:spAutoFit/>
          </a:bodyPr>
          <a:lstStyle/>
          <a:p>
            <a:pPr marL="240029" indent="-227329">
              <a:lnSpc>
                <a:spcPct val="100000"/>
              </a:lnSpc>
              <a:spcBef>
                <a:spcPts val="95"/>
              </a:spcBef>
              <a:buFont typeface="Arial"/>
              <a:buChar char="•"/>
              <a:tabLst>
                <a:tab pos="240029" algn="l"/>
              </a:tabLst>
            </a:pPr>
            <a:r>
              <a:rPr sz="2800" spc="114" dirty="0">
                <a:latin typeface="Tahoma"/>
                <a:cs typeface="Tahoma"/>
              </a:rPr>
              <a:t>Xử</a:t>
            </a:r>
            <a:r>
              <a:rPr sz="2800" spc="-165" dirty="0">
                <a:latin typeface="Tahoma"/>
                <a:cs typeface="Tahoma"/>
              </a:rPr>
              <a:t> </a:t>
            </a:r>
            <a:r>
              <a:rPr sz="2800" dirty="0">
                <a:latin typeface="Tahoma"/>
                <a:cs typeface="Tahoma"/>
              </a:rPr>
              <a:t>lý</a:t>
            </a:r>
            <a:r>
              <a:rPr sz="2800" spc="-135" dirty="0">
                <a:latin typeface="Tahoma"/>
                <a:cs typeface="Tahoma"/>
              </a:rPr>
              <a:t> </a:t>
            </a:r>
            <a:r>
              <a:rPr sz="2800" spc="-30" dirty="0">
                <a:latin typeface="Tahoma"/>
                <a:cs typeface="Tahoma"/>
              </a:rPr>
              <a:t>ảnh</a:t>
            </a:r>
            <a:r>
              <a:rPr sz="2800" spc="-160" dirty="0">
                <a:latin typeface="Tahoma"/>
                <a:cs typeface="Tahoma"/>
              </a:rPr>
              <a:t> </a:t>
            </a:r>
            <a:r>
              <a:rPr sz="2800" dirty="0">
                <a:latin typeface="Tahoma"/>
                <a:cs typeface="Tahoma"/>
              </a:rPr>
              <a:t>y</a:t>
            </a:r>
            <a:r>
              <a:rPr sz="2800" spc="-150" dirty="0">
                <a:latin typeface="Tahoma"/>
                <a:cs typeface="Tahoma"/>
              </a:rPr>
              <a:t> </a:t>
            </a:r>
            <a:r>
              <a:rPr sz="2800" spc="-90" dirty="0">
                <a:latin typeface="Tahoma"/>
                <a:cs typeface="Tahoma"/>
              </a:rPr>
              <a:t>tế:</a:t>
            </a:r>
            <a:r>
              <a:rPr sz="2800" spc="-170" dirty="0">
                <a:latin typeface="Tahoma"/>
                <a:cs typeface="Tahoma"/>
              </a:rPr>
              <a:t> </a:t>
            </a:r>
            <a:r>
              <a:rPr sz="2800" spc="-20" dirty="0">
                <a:latin typeface="Tahoma"/>
                <a:cs typeface="Tahoma"/>
              </a:rPr>
              <a:t>phân</a:t>
            </a:r>
            <a:r>
              <a:rPr sz="2800" spc="-145" dirty="0">
                <a:latin typeface="Tahoma"/>
                <a:cs typeface="Tahoma"/>
              </a:rPr>
              <a:t> </a:t>
            </a:r>
            <a:r>
              <a:rPr sz="2800" spc="-10" dirty="0">
                <a:latin typeface="Tahoma"/>
                <a:cs typeface="Tahoma"/>
              </a:rPr>
              <a:t>vùng</a:t>
            </a:r>
            <a:r>
              <a:rPr sz="2800" spc="-155" dirty="0">
                <a:latin typeface="Tahoma"/>
                <a:cs typeface="Tahoma"/>
              </a:rPr>
              <a:t> </a:t>
            </a:r>
            <a:r>
              <a:rPr sz="2800" dirty="0">
                <a:latin typeface="Tahoma"/>
                <a:cs typeface="Tahoma"/>
              </a:rPr>
              <a:t>tế</a:t>
            </a:r>
            <a:r>
              <a:rPr sz="2800" spc="-160" dirty="0">
                <a:latin typeface="Tahoma"/>
                <a:cs typeface="Tahoma"/>
              </a:rPr>
              <a:t> </a:t>
            </a:r>
            <a:r>
              <a:rPr sz="2800" dirty="0">
                <a:latin typeface="Tahoma"/>
                <a:cs typeface="Tahoma"/>
              </a:rPr>
              <a:t>bào</a:t>
            </a:r>
            <a:r>
              <a:rPr sz="2800" spc="-155" dirty="0">
                <a:latin typeface="Tahoma"/>
                <a:cs typeface="Tahoma"/>
              </a:rPr>
              <a:t> </a:t>
            </a:r>
            <a:r>
              <a:rPr sz="2800" spc="-60" dirty="0">
                <a:latin typeface="Tahoma"/>
                <a:cs typeface="Tahoma"/>
              </a:rPr>
              <a:t>ung</a:t>
            </a:r>
            <a:r>
              <a:rPr sz="2800" spc="-160" dirty="0">
                <a:latin typeface="Tahoma"/>
                <a:cs typeface="Tahoma"/>
              </a:rPr>
              <a:t> </a:t>
            </a:r>
            <a:r>
              <a:rPr sz="2800" spc="-25" dirty="0">
                <a:latin typeface="Tahoma"/>
                <a:cs typeface="Tahoma"/>
              </a:rPr>
              <a:t>thư</a:t>
            </a:r>
            <a:endParaRPr sz="2800">
              <a:latin typeface="Tahoma"/>
              <a:cs typeface="Tahoma"/>
            </a:endParaRPr>
          </a:p>
        </p:txBody>
      </p:sp>
      <p:pic>
        <p:nvPicPr>
          <p:cNvPr id="4" name="object 4"/>
          <p:cNvPicPr/>
          <p:nvPr/>
        </p:nvPicPr>
        <p:blipFill>
          <a:blip r:embed="rId2" cstate="print"/>
          <a:stretch>
            <a:fillRect/>
          </a:stretch>
        </p:blipFill>
        <p:spPr>
          <a:xfrm>
            <a:off x="428244" y="1950720"/>
            <a:ext cx="10802112" cy="3666744"/>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58</a:t>
            </a:fld>
            <a:endParaRPr spc="-2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677" y="98552"/>
            <a:ext cx="7399655" cy="452120"/>
          </a:xfrm>
          <a:prstGeom prst="rect">
            <a:avLst/>
          </a:prstGeom>
        </p:spPr>
        <p:txBody>
          <a:bodyPr vert="horz" wrap="square" lIns="0" tIns="12065" rIns="0" bIns="0" rtlCol="0">
            <a:spAutoFit/>
          </a:bodyPr>
          <a:lstStyle/>
          <a:p>
            <a:pPr marL="13335">
              <a:lnSpc>
                <a:spcPct val="100000"/>
              </a:lnSpc>
              <a:spcBef>
                <a:spcPts val="95"/>
              </a:spcBef>
            </a:pPr>
            <a:r>
              <a:rPr lang="en-US" sz="2800" b="1" spc="-160" dirty="0">
                <a:solidFill>
                  <a:srgbClr val="FFFFFF"/>
                </a:solidFill>
                <a:latin typeface="Tahoma"/>
                <a:cs typeface="Tahoma"/>
              </a:rPr>
              <a:t>Application of image segmentation</a:t>
            </a:r>
            <a:endParaRPr lang="en-US" sz="2800" dirty="0">
              <a:latin typeface="Tahoma"/>
              <a:cs typeface="Tahoma"/>
            </a:endParaRPr>
          </a:p>
        </p:txBody>
      </p:sp>
      <p:sp>
        <p:nvSpPr>
          <p:cNvPr id="3" name="object 3"/>
          <p:cNvSpPr txBox="1"/>
          <p:nvPr/>
        </p:nvSpPr>
        <p:spPr>
          <a:xfrm>
            <a:off x="78739" y="1018108"/>
            <a:ext cx="1977389" cy="452120"/>
          </a:xfrm>
          <a:prstGeom prst="rect">
            <a:avLst/>
          </a:prstGeom>
        </p:spPr>
        <p:txBody>
          <a:bodyPr vert="horz" wrap="square" lIns="0" tIns="12065" rIns="0" bIns="0" rtlCol="0">
            <a:spAutoFit/>
          </a:bodyPr>
          <a:lstStyle/>
          <a:p>
            <a:pPr marL="240029" indent="-227329">
              <a:lnSpc>
                <a:spcPct val="100000"/>
              </a:lnSpc>
              <a:spcBef>
                <a:spcPts val="95"/>
              </a:spcBef>
              <a:buFont typeface="Arial"/>
              <a:buChar char="•"/>
              <a:tabLst>
                <a:tab pos="240029" algn="l"/>
              </a:tabLst>
            </a:pPr>
            <a:r>
              <a:rPr sz="2800" spc="90" dirty="0">
                <a:latin typeface="Tahoma"/>
                <a:cs typeface="Tahoma"/>
              </a:rPr>
              <a:t>Xe</a:t>
            </a:r>
            <a:r>
              <a:rPr sz="2800" spc="-175" dirty="0">
                <a:latin typeface="Tahoma"/>
                <a:cs typeface="Tahoma"/>
              </a:rPr>
              <a:t> </a:t>
            </a:r>
            <a:r>
              <a:rPr sz="2800" spc="65" dirty="0">
                <a:latin typeface="Tahoma"/>
                <a:cs typeface="Tahoma"/>
              </a:rPr>
              <a:t>tự</a:t>
            </a:r>
            <a:r>
              <a:rPr sz="2800" spc="-160" dirty="0">
                <a:latin typeface="Tahoma"/>
                <a:cs typeface="Tahoma"/>
              </a:rPr>
              <a:t> </a:t>
            </a:r>
            <a:r>
              <a:rPr sz="2800" spc="-20" dirty="0">
                <a:latin typeface="Tahoma"/>
                <a:cs typeface="Tahoma"/>
              </a:rPr>
              <a:t>hành</a:t>
            </a:r>
            <a:endParaRPr sz="2800">
              <a:latin typeface="Tahoma"/>
              <a:cs typeface="Tahoma"/>
            </a:endParaRPr>
          </a:p>
        </p:txBody>
      </p:sp>
      <p:pic>
        <p:nvPicPr>
          <p:cNvPr id="4" name="object 4"/>
          <p:cNvPicPr/>
          <p:nvPr/>
        </p:nvPicPr>
        <p:blipFill>
          <a:blip r:embed="rId2" cstate="print"/>
          <a:stretch>
            <a:fillRect/>
          </a:stretch>
        </p:blipFill>
        <p:spPr>
          <a:xfrm>
            <a:off x="2346960" y="886967"/>
            <a:ext cx="9753600" cy="5486400"/>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59</a:t>
            </a:fld>
            <a:endParaRPr spc="-2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677" y="98552"/>
            <a:ext cx="7399655" cy="452120"/>
          </a:xfrm>
          <a:prstGeom prst="rect">
            <a:avLst/>
          </a:prstGeom>
        </p:spPr>
        <p:txBody>
          <a:bodyPr vert="horz" wrap="square" lIns="0" tIns="12065" rIns="0" bIns="0" rtlCol="0">
            <a:spAutoFit/>
          </a:bodyPr>
          <a:lstStyle/>
          <a:p>
            <a:pPr marL="13335">
              <a:lnSpc>
                <a:spcPct val="100000"/>
              </a:lnSpc>
              <a:spcBef>
                <a:spcPts val="95"/>
              </a:spcBef>
            </a:pPr>
            <a:r>
              <a:rPr lang="en-US" sz="2800" b="1" spc="-160" dirty="0">
                <a:solidFill>
                  <a:srgbClr val="FFFFFF"/>
                </a:solidFill>
                <a:latin typeface="Tahoma"/>
                <a:cs typeface="Tahoma"/>
              </a:rPr>
              <a:t>Application of image segmentation</a:t>
            </a:r>
            <a:endParaRPr lang="en-US" sz="2800" dirty="0">
              <a:latin typeface="Tahoma"/>
              <a:cs typeface="Tahoma"/>
            </a:endParaRPr>
          </a:p>
        </p:txBody>
      </p:sp>
      <p:sp>
        <p:nvSpPr>
          <p:cNvPr id="3" name="object 3"/>
          <p:cNvSpPr txBox="1"/>
          <p:nvPr/>
        </p:nvSpPr>
        <p:spPr>
          <a:xfrm>
            <a:off x="78739" y="1018108"/>
            <a:ext cx="2851785" cy="452120"/>
          </a:xfrm>
          <a:prstGeom prst="rect">
            <a:avLst/>
          </a:prstGeom>
        </p:spPr>
        <p:txBody>
          <a:bodyPr vert="horz" wrap="square" lIns="0" tIns="12065" rIns="0" bIns="0" rtlCol="0">
            <a:spAutoFit/>
          </a:bodyPr>
          <a:lstStyle/>
          <a:p>
            <a:pPr marL="240029" indent="-227329">
              <a:lnSpc>
                <a:spcPct val="100000"/>
              </a:lnSpc>
              <a:spcBef>
                <a:spcPts val="95"/>
              </a:spcBef>
              <a:buFont typeface="Arial"/>
              <a:buChar char="•"/>
              <a:tabLst>
                <a:tab pos="240029" algn="l"/>
              </a:tabLst>
            </a:pPr>
            <a:r>
              <a:rPr sz="2800" dirty="0">
                <a:latin typeface="Tahoma"/>
                <a:cs typeface="Tahoma"/>
              </a:rPr>
              <a:t>Giám</a:t>
            </a:r>
            <a:r>
              <a:rPr sz="2800" spc="-145" dirty="0">
                <a:latin typeface="Tahoma"/>
                <a:cs typeface="Tahoma"/>
              </a:rPr>
              <a:t> </a:t>
            </a:r>
            <a:r>
              <a:rPr sz="2800" spc="-20" dirty="0">
                <a:latin typeface="Tahoma"/>
                <a:cs typeface="Tahoma"/>
              </a:rPr>
              <a:t>sát</a:t>
            </a:r>
            <a:r>
              <a:rPr sz="2800" spc="-160" dirty="0">
                <a:latin typeface="Tahoma"/>
                <a:cs typeface="Tahoma"/>
              </a:rPr>
              <a:t> </a:t>
            </a:r>
            <a:r>
              <a:rPr sz="2800" spc="-50" dirty="0">
                <a:latin typeface="Tahoma"/>
                <a:cs typeface="Tahoma"/>
              </a:rPr>
              <a:t>an</a:t>
            </a:r>
            <a:r>
              <a:rPr sz="2800" spc="-150" dirty="0">
                <a:latin typeface="Tahoma"/>
                <a:cs typeface="Tahoma"/>
              </a:rPr>
              <a:t> </a:t>
            </a:r>
            <a:r>
              <a:rPr sz="2800" spc="-20" dirty="0">
                <a:latin typeface="Tahoma"/>
                <a:cs typeface="Tahoma"/>
              </a:rPr>
              <a:t>ninh</a:t>
            </a:r>
            <a:endParaRPr sz="2800">
              <a:latin typeface="Tahoma"/>
              <a:cs typeface="Tahoma"/>
            </a:endParaRPr>
          </a:p>
        </p:txBody>
      </p:sp>
      <p:pic>
        <p:nvPicPr>
          <p:cNvPr id="4" name="object 4"/>
          <p:cNvPicPr/>
          <p:nvPr/>
        </p:nvPicPr>
        <p:blipFill>
          <a:blip r:embed="rId2" cstate="print"/>
          <a:stretch>
            <a:fillRect/>
          </a:stretch>
        </p:blipFill>
        <p:spPr>
          <a:xfrm>
            <a:off x="3389375" y="886965"/>
            <a:ext cx="5794720" cy="5471162"/>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60</a:t>
            </a:fld>
            <a:endParaRPr spc="-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677" y="98552"/>
            <a:ext cx="7399655" cy="452120"/>
          </a:xfrm>
          <a:prstGeom prst="rect">
            <a:avLst/>
          </a:prstGeom>
        </p:spPr>
        <p:txBody>
          <a:bodyPr vert="horz" wrap="square" lIns="0" tIns="12065" rIns="0" bIns="0" rtlCol="0">
            <a:spAutoFit/>
          </a:bodyPr>
          <a:lstStyle/>
          <a:p>
            <a:pPr marL="13335">
              <a:lnSpc>
                <a:spcPct val="100000"/>
              </a:lnSpc>
              <a:spcBef>
                <a:spcPts val="95"/>
              </a:spcBef>
            </a:pPr>
            <a:r>
              <a:rPr lang="en-US" sz="2800" b="1" spc="-160" dirty="0">
                <a:solidFill>
                  <a:srgbClr val="FFFFFF"/>
                </a:solidFill>
                <a:latin typeface="Tahoma"/>
                <a:cs typeface="Tahoma"/>
              </a:rPr>
              <a:t>Application of image segmentation</a:t>
            </a:r>
            <a:endParaRPr lang="en-US" sz="2800" dirty="0">
              <a:latin typeface="Tahoma"/>
              <a:cs typeface="Tahoma"/>
            </a:endParaRPr>
          </a:p>
        </p:txBody>
      </p:sp>
      <p:sp>
        <p:nvSpPr>
          <p:cNvPr id="3" name="object 3"/>
          <p:cNvSpPr txBox="1"/>
          <p:nvPr/>
        </p:nvSpPr>
        <p:spPr>
          <a:xfrm>
            <a:off x="78739" y="1018108"/>
            <a:ext cx="2255520" cy="452120"/>
          </a:xfrm>
          <a:prstGeom prst="rect">
            <a:avLst/>
          </a:prstGeom>
        </p:spPr>
        <p:txBody>
          <a:bodyPr vert="horz" wrap="square" lIns="0" tIns="12065" rIns="0" bIns="0" rtlCol="0">
            <a:spAutoFit/>
          </a:bodyPr>
          <a:lstStyle/>
          <a:p>
            <a:pPr marL="240029" indent="-227329">
              <a:lnSpc>
                <a:spcPct val="100000"/>
              </a:lnSpc>
              <a:spcBef>
                <a:spcPts val="95"/>
              </a:spcBef>
              <a:buFont typeface="Arial"/>
              <a:buChar char="•"/>
              <a:tabLst>
                <a:tab pos="240029" algn="l"/>
              </a:tabLst>
            </a:pPr>
            <a:r>
              <a:rPr sz="2800" dirty="0">
                <a:latin typeface="Tahoma"/>
                <a:cs typeface="Tahoma"/>
              </a:rPr>
              <a:t>Nông</a:t>
            </a:r>
            <a:r>
              <a:rPr sz="2800" spc="25" dirty="0">
                <a:latin typeface="Tahoma"/>
                <a:cs typeface="Tahoma"/>
              </a:rPr>
              <a:t> </a:t>
            </a:r>
            <a:r>
              <a:rPr sz="2800" spc="-10" dirty="0">
                <a:latin typeface="Tahoma"/>
                <a:cs typeface="Tahoma"/>
              </a:rPr>
              <a:t>nghiệp</a:t>
            </a:r>
            <a:endParaRPr sz="2800">
              <a:latin typeface="Tahoma"/>
              <a:cs typeface="Tahoma"/>
            </a:endParaRPr>
          </a:p>
        </p:txBody>
      </p:sp>
      <p:pic>
        <p:nvPicPr>
          <p:cNvPr id="4" name="object 4"/>
          <p:cNvPicPr/>
          <p:nvPr/>
        </p:nvPicPr>
        <p:blipFill>
          <a:blip r:embed="rId2" cstate="print"/>
          <a:stretch>
            <a:fillRect/>
          </a:stretch>
        </p:blipFill>
        <p:spPr>
          <a:xfrm>
            <a:off x="2145791" y="1641384"/>
            <a:ext cx="8866398" cy="4588727"/>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61</a:t>
            </a:fld>
            <a:endParaRPr spc="-2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7677" y="98552"/>
            <a:ext cx="7399655" cy="452120"/>
          </a:xfrm>
          <a:prstGeom prst="rect">
            <a:avLst/>
          </a:prstGeom>
        </p:spPr>
        <p:txBody>
          <a:bodyPr vert="horz" wrap="square" lIns="0" tIns="12065" rIns="0" bIns="0" rtlCol="0">
            <a:spAutoFit/>
          </a:bodyPr>
          <a:lstStyle/>
          <a:p>
            <a:pPr marL="13335">
              <a:lnSpc>
                <a:spcPct val="100000"/>
              </a:lnSpc>
              <a:spcBef>
                <a:spcPts val="95"/>
              </a:spcBef>
            </a:pPr>
            <a:r>
              <a:rPr lang="en-US" sz="2800" b="1" spc="-160" dirty="0">
                <a:solidFill>
                  <a:srgbClr val="FFFFFF"/>
                </a:solidFill>
                <a:latin typeface="Tahoma"/>
                <a:cs typeface="Tahoma"/>
              </a:rPr>
              <a:t>Application of image segmentation</a:t>
            </a:r>
            <a:endParaRPr lang="en-US" sz="2800" dirty="0">
              <a:latin typeface="Tahoma"/>
              <a:cs typeface="Tahoma"/>
            </a:endParaRPr>
          </a:p>
        </p:txBody>
      </p:sp>
      <p:sp>
        <p:nvSpPr>
          <p:cNvPr id="3" name="object 3"/>
          <p:cNvSpPr txBox="1"/>
          <p:nvPr/>
        </p:nvSpPr>
        <p:spPr>
          <a:xfrm>
            <a:off x="78739" y="1018108"/>
            <a:ext cx="2892425" cy="452120"/>
          </a:xfrm>
          <a:prstGeom prst="rect">
            <a:avLst/>
          </a:prstGeom>
        </p:spPr>
        <p:txBody>
          <a:bodyPr vert="horz" wrap="square" lIns="0" tIns="12065" rIns="0" bIns="0" rtlCol="0">
            <a:spAutoFit/>
          </a:bodyPr>
          <a:lstStyle/>
          <a:p>
            <a:pPr marL="240029" indent="-227329">
              <a:lnSpc>
                <a:spcPct val="100000"/>
              </a:lnSpc>
              <a:spcBef>
                <a:spcPts val="95"/>
              </a:spcBef>
              <a:buFont typeface="Arial"/>
              <a:buChar char="•"/>
              <a:tabLst>
                <a:tab pos="240029" algn="l"/>
              </a:tabLst>
            </a:pPr>
            <a:r>
              <a:rPr sz="2800" spc="110" dirty="0">
                <a:latin typeface="Tahoma"/>
                <a:cs typeface="Tahoma"/>
              </a:rPr>
              <a:t>Xử</a:t>
            </a:r>
            <a:r>
              <a:rPr sz="2800" spc="-150" dirty="0">
                <a:latin typeface="Tahoma"/>
                <a:cs typeface="Tahoma"/>
              </a:rPr>
              <a:t> </a:t>
            </a:r>
            <a:r>
              <a:rPr sz="2800" dirty="0">
                <a:latin typeface="Tahoma"/>
                <a:cs typeface="Tahoma"/>
              </a:rPr>
              <a:t>lý</a:t>
            </a:r>
            <a:r>
              <a:rPr sz="2800" spc="-135" dirty="0">
                <a:latin typeface="Tahoma"/>
                <a:cs typeface="Tahoma"/>
              </a:rPr>
              <a:t> </a:t>
            </a:r>
            <a:r>
              <a:rPr sz="2800" spc="-30" dirty="0">
                <a:latin typeface="Tahoma"/>
                <a:cs typeface="Tahoma"/>
              </a:rPr>
              <a:t>ảnh</a:t>
            </a:r>
            <a:r>
              <a:rPr sz="2800" spc="-150" dirty="0">
                <a:latin typeface="Tahoma"/>
                <a:cs typeface="Tahoma"/>
              </a:rPr>
              <a:t> </a:t>
            </a:r>
            <a:r>
              <a:rPr sz="2800" dirty="0">
                <a:latin typeface="Tahoma"/>
                <a:cs typeface="Tahoma"/>
              </a:rPr>
              <a:t>vệ</a:t>
            </a:r>
            <a:r>
              <a:rPr sz="2800" spc="-135" dirty="0">
                <a:latin typeface="Tahoma"/>
                <a:cs typeface="Tahoma"/>
              </a:rPr>
              <a:t> </a:t>
            </a:r>
            <a:r>
              <a:rPr sz="2800" spc="-20" dirty="0">
                <a:latin typeface="Tahoma"/>
                <a:cs typeface="Tahoma"/>
              </a:rPr>
              <a:t>tinh</a:t>
            </a:r>
            <a:endParaRPr sz="2800">
              <a:latin typeface="Tahoma"/>
              <a:cs typeface="Tahoma"/>
            </a:endParaRPr>
          </a:p>
        </p:txBody>
      </p:sp>
      <p:pic>
        <p:nvPicPr>
          <p:cNvPr id="4" name="object 4"/>
          <p:cNvPicPr/>
          <p:nvPr/>
        </p:nvPicPr>
        <p:blipFill>
          <a:blip r:embed="rId2" cstate="print"/>
          <a:stretch>
            <a:fillRect/>
          </a:stretch>
        </p:blipFill>
        <p:spPr>
          <a:xfrm>
            <a:off x="1699260" y="1807464"/>
            <a:ext cx="9528047" cy="4550664"/>
          </a:xfrm>
          <a:prstGeom prst="rect">
            <a:avLst/>
          </a:prstGeom>
        </p:spPr>
      </p:pic>
      <p:sp>
        <p:nvSpPr>
          <p:cNvPr id="5" name="object 5"/>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62</a:t>
            </a:fld>
            <a:endParaRPr spc="-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4442246" cy="6857998"/>
          </a:xfrm>
          <a:prstGeom prst="rect">
            <a:avLst/>
          </a:prstGeom>
        </p:spPr>
      </p:pic>
      <p:sp>
        <p:nvSpPr>
          <p:cNvPr id="3" name="object 3"/>
          <p:cNvSpPr txBox="1">
            <a:spLocks noGrp="1"/>
          </p:cNvSpPr>
          <p:nvPr>
            <p:ph type="title"/>
          </p:nvPr>
        </p:nvSpPr>
        <p:spPr>
          <a:xfrm>
            <a:off x="5685282" y="2802763"/>
            <a:ext cx="4968875" cy="939800"/>
          </a:xfrm>
          <a:prstGeom prst="rect">
            <a:avLst/>
          </a:prstGeom>
        </p:spPr>
        <p:txBody>
          <a:bodyPr vert="horz" wrap="square" lIns="0" tIns="12700" rIns="0" bIns="0" rtlCol="0">
            <a:spAutoFit/>
          </a:bodyPr>
          <a:lstStyle/>
          <a:p>
            <a:pPr marL="12700">
              <a:lnSpc>
                <a:spcPct val="100000"/>
              </a:lnSpc>
              <a:spcBef>
                <a:spcPts val="100"/>
              </a:spcBef>
            </a:pPr>
            <a:r>
              <a:rPr sz="6000" dirty="0">
                <a:solidFill>
                  <a:srgbClr val="C00000"/>
                </a:solidFill>
              </a:rPr>
              <a:t>THANK</a:t>
            </a:r>
            <a:r>
              <a:rPr sz="6000" spc="-350" dirty="0">
                <a:solidFill>
                  <a:srgbClr val="C00000"/>
                </a:solidFill>
              </a:rPr>
              <a:t> </a:t>
            </a:r>
            <a:r>
              <a:rPr sz="6000" dirty="0">
                <a:solidFill>
                  <a:srgbClr val="C00000"/>
                </a:solidFill>
              </a:rPr>
              <a:t>YOU</a:t>
            </a:r>
            <a:r>
              <a:rPr sz="6000" spc="-350" dirty="0">
                <a:solidFill>
                  <a:srgbClr val="C00000"/>
                </a:solidFill>
              </a:rPr>
              <a:t> </a:t>
            </a:r>
            <a:r>
              <a:rPr sz="6000" spc="-445" dirty="0">
                <a:solidFill>
                  <a:srgbClr val="C00000"/>
                </a:solidFill>
              </a:rPr>
              <a:t>!</a:t>
            </a:r>
            <a:endParaRPr sz="6000"/>
          </a:p>
        </p:txBody>
      </p:sp>
      <p:sp>
        <p:nvSpPr>
          <p:cNvPr id="4" name="object 4"/>
          <p:cNvSpPr txBox="1">
            <a:spLocks noGrp="1"/>
          </p:cNvSpPr>
          <p:nvPr>
            <p:ph type="sldNum" sz="quarter" idx="7"/>
          </p:nvPr>
        </p:nvSpPr>
        <p:spPr>
          <a:prstGeom prst="rect">
            <a:avLst/>
          </a:prstGeom>
        </p:spPr>
        <p:txBody>
          <a:bodyPr vert="horz" wrap="square" lIns="0" tIns="10795" rIns="0" bIns="0" rtlCol="0">
            <a:spAutoFit/>
          </a:bodyPr>
          <a:lstStyle/>
          <a:p>
            <a:pPr marL="12700">
              <a:lnSpc>
                <a:spcPct val="100000"/>
              </a:lnSpc>
              <a:spcBef>
                <a:spcPts val="85"/>
              </a:spcBef>
            </a:pPr>
            <a:fld id="{81D60167-4931-47E6-BA6A-407CBD079E47}" type="slidenum">
              <a:rPr spc="-25" dirty="0"/>
              <a:t>63</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TotalTime>
  <Words>2118</Words>
  <Application>Microsoft Office PowerPoint</Application>
  <PresentationFormat>Widescreen</PresentationFormat>
  <Paragraphs>256</Paragraphs>
  <Slides>63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Tahoma</vt:lpstr>
      <vt:lpstr>Office Theme</vt:lpstr>
      <vt:lpstr>PowerPoint Presentation</vt:lpstr>
      <vt:lpstr>IMAGE SEGMENTATION</vt:lpstr>
      <vt:lpstr>PowerPoint Presentation</vt:lpstr>
      <vt:lpstr>History of Development</vt:lpstr>
      <vt:lpstr>Threshold Based Segmentation</vt:lpstr>
      <vt:lpstr>Threshold Based Segmentation</vt:lpstr>
      <vt:lpstr>Threshold Based Segmentation</vt:lpstr>
      <vt:lpstr>Threshold Based Segmentation</vt:lpstr>
      <vt:lpstr>PowerPoint Presentation</vt:lpstr>
      <vt:lpstr>PowerPoint Presentation</vt:lpstr>
      <vt:lpstr>Region-Based Segmentation</vt:lpstr>
      <vt:lpstr>Region growing method</vt:lpstr>
      <vt:lpstr>Region splitting and merging method</vt:lpstr>
      <vt:lpstr>PowerPoint Presentation</vt:lpstr>
      <vt:lpstr>Clustering Based Segmentation</vt:lpstr>
      <vt:lpstr>PowerPoint Presentation</vt:lpstr>
      <vt:lpstr>TYPES OF IMAGE SEGMENTATION</vt:lpstr>
      <vt:lpstr>OUTPUT OF SEGMENTATION MODEL</vt:lpstr>
      <vt:lpstr>OUTPUT OF SEGMENTATION MODEL</vt:lpstr>
      <vt:lpstr>UNET – SEMANTIC SEGMENTATION SOLUTION</vt:lpstr>
      <vt:lpstr>UNET – SEMANTIC SEGMENTATION SOLUTION</vt:lpstr>
      <vt:lpstr>UNET – SEMANTIC SEGMENTATION SOLUTION</vt:lpstr>
      <vt:lpstr>UNET – SEMANTIC SEGMENTATION SOLUTION</vt:lpstr>
      <vt:lpstr>PowerPoint Presentation</vt:lpstr>
      <vt:lpstr>UNET – SEMANTIC SEGMENTATION SOLUTION</vt:lpstr>
      <vt:lpstr>PowerPoint Presentation</vt:lpstr>
      <vt:lpstr>DeepLap V1+V2</vt:lpstr>
      <vt:lpstr>DeepLab V1+V2</vt:lpstr>
      <vt:lpstr>DeepLab V1 + V2 - Atrous Convolution</vt:lpstr>
      <vt:lpstr>DeepLab V1 + V2 - Atrous Convolution</vt:lpstr>
      <vt:lpstr>DeepLab V1 + V2 - Atrous Spatial Pyramid Pooling (ASPP)</vt:lpstr>
      <vt:lpstr>PowerPoint Presentation</vt:lpstr>
      <vt:lpstr>DeepLap V1+V2 – CRF – Bi-linear interpolation</vt:lpstr>
      <vt:lpstr>DeepLap V1+V2 – CRF – Bi-linear interpolation</vt:lpstr>
      <vt:lpstr>PowerPoint Presentation</vt:lpstr>
      <vt:lpstr>DeepLap V1+V2 – CRF – Conditional Random Field</vt:lpstr>
      <vt:lpstr>DeepLab V3</vt:lpstr>
      <vt:lpstr>DeepLab V3</vt:lpstr>
      <vt:lpstr>DeepLab V3</vt:lpstr>
      <vt:lpstr>DeepLab V3 - MultiGrid</vt:lpstr>
      <vt:lpstr>PowerPoint Presentation</vt:lpstr>
      <vt:lpstr>Batch normalization</vt:lpstr>
      <vt:lpstr>Performance metrics for semantic segmentation</vt:lpstr>
      <vt:lpstr>Performance metrics for semantic segmentation</vt:lpstr>
      <vt:lpstr>Performance metrics for semantic segmentation</vt:lpstr>
      <vt:lpstr>SEMANTIC SEGMENTATION SOLUTION</vt:lpstr>
      <vt:lpstr>MASK RCNN – INSTANCE SEGMENTATION SOLUTION</vt:lpstr>
      <vt:lpstr>MASK RCNN – INSTANCE SEGMENTATION SOLUTION</vt:lpstr>
      <vt:lpstr>YOLACT – INSTANCE SEGMENTATION SOLUTION</vt:lpstr>
      <vt:lpstr>YOLACT – INSTANCE SEGMENTATION SOLUTION – PrototypeNet</vt:lpstr>
      <vt:lpstr>YOLACT – INSTANCE SEGMENTATION SOLUTION – Prediction Head</vt:lpstr>
      <vt:lpstr>YOLACT – INSTANCE SEGMENTATION SOLUTION – Prediction Head</vt:lpstr>
      <vt:lpstr>INSTANCE SEGMENTATION SOLUTION</vt:lpstr>
      <vt:lpstr>Kết luận</vt:lpstr>
      <vt:lpstr>PowerPoint Presentation</vt:lpstr>
      <vt:lpstr>Application of image segmentation</vt:lpstr>
      <vt:lpstr>Application of image segmentation</vt:lpstr>
      <vt:lpstr>Application of image segmentation</vt:lpstr>
      <vt:lpstr>Application of image segmentation</vt:lpstr>
      <vt:lpstr>Application of image segmentation</vt:lpstr>
      <vt:lpstr>Application of image segmentation</vt:lpstr>
      <vt:lpstr>Application of image segmentation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Nguyễn Huy Hoàng</cp:lastModifiedBy>
  <cp:revision>1</cp:revision>
  <dcterms:created xsi:type="dcterms:W3CDTF">2026-06-05T10:50:02Z</dcterms:created>
  <dcterms:modified xsi:type="dcterms:W3CDTF">2026-06-05T11:21:38Z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2023-03-22T00:00:00Z</vt:filetime>
  </property>
  <property fmtid="{D5CDD505-2E9C-101B-9397-08002B2CF9AE}" pid="3" name="Creator">
    <vt:lpwstr>Microsoft® PowerPoint® for Microsoft 365</vt:lpwstr>
  </property>
  <property fmtid="{D5CDD505-2E9C-101B-9397-08002B2CF9AE}" pid="4" name="LastSaved">
    <vt:filetime>2026-06-05T00:00:00Z</vt:filetime>
  </property>
  <property fmtid="{D5CDD505-2E9C-101B-9397-08002B2CF9AE}" pid="5" name="Producer">
    <vt:lpwstr>3-Heights(TM) PDF Security Shell 4.8.25.2 (http://www.pdf-tools.com)</vt:lpwstr>
  </property>
</Properties>
</file>